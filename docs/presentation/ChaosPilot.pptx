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12972df78fc4589" /><Relationship Type="http://schemas.openxmlformats.org/officeDocument/2006/relationships/extended-properties" Target="/docProps/app.xml" Id="R4c7d5039038b433b" /><Relationship Type="http://schemas.openxmlformats.org/officeDocument/2006/relationships/officeDocument" Target="/ppt/presentation.xml" Id="Raff2139516d448d7" /></Relationships>
</file>

<file path=ppt/presentation.xml><?xml version="1.0" encoding="utf-8"?>
<p:presentation xmlns:p="http://schemas.openxmlformats.org/presentationml/2006/main">
  <p:sldMasterIdLst>
    <p:sldMasterId xmlns:r="http://schemas.openxmlformats.org/officeDocument/2006/relationships" id="2147483648" r:id="R11ad2510d59a4868"/>
  </p:sldMasterIdLst>
  <p:notesMasterIdLst>
    <p:notesMasterId xmlns:r="http://schemas.openxmlformats.org/officeDocument/2006/relationships" r:id="Rd0e7caace82d44b0"/>
  </p:notesMasterIdLst>
  <p:sldIdLst>
    <p:sldId xmlns:r="http://schemas.openxmlformats.org/officeDocument/2006/relationships" id="256" r:id="R02e868d83474416d"/>
    <p:sldId xmlns:r="http://schemas.openxmlformats.org/officeDocument/2006/relationships" id="257" r:id="R358e25761be44fca"/>
    <p:sldId xmlns:r="http://schemas.openxmlformats.org/officeDocument/2006/relationships" id="258" r:id="R1ff2e05ffd794e11"/>
    <p:sldId xmlns:r="http://schemas.openxmlformats.org/officeDocument/2006/relationships" id="259" r:id="R4ed915fa43e54563"/>
    <p:sldId xmlns:r="http://schemas.openxmlformats.org/officeDocument/2006/relationships" id="260" r:id="R4cea473b23274df1"/>
    <p:sldId xmlns:r="http://schemas.openxmlformats.org/officeDocument/2006/relationships" id="261" r:id="Ra4fc69511e584155"/>
    <p:sldId xmlns:r="http://schemas.openxmlformats.org/officeDocument/2006/relationships" id="262" r:id="R4ee8f44c62c74f9b"/>
    <p:sldId xmlns:r="http://schemas.openxmlformats.org/officeDocument/2006/relationships" id="263" r:id="R1f85c1b080dc4c74"/>
    <p:sldId xmlns:r="http://schemas.openxmlformats.org/officeDocument/2006/relationships" id="264" r:id="R94b15ef282ac4b78"/>
    <p:sldId xmlns:r="http://schemas.openxmlformats.org/officeDocument/2006/relationships" id="265" r:id="R2545d9cd86854ca9"/>
    <p:sldId xmlns:r="http://schemas.openxmlformats.org/officeDocument/2006/relationships" id="266" r:id="R60f7244c040f469d"/>
    <p:sldId xmlns:r="http://schemas.openxmlformats.org/officeDocument/2006/relationships" id="267" r:id="R6aa76d9eff164ba8"/>
    <p:sldId xmlns:r="http://schemas.openxmlformats.org/officeDocument/2006/relationships" id="268" r:id="R0be296ea550d42fe"/>
    <p:sldId xmlns:r="http://schemas.openxmlformats.org/officeDocument/2006/relationships" id="269" r:id="R6864f0f75b6e4325"/>
    <p:sldId xmlns:r="http://schemas.openxmlformats.org/officeDocument/2006/relationships" id="270" r:id="R1a9689dbe7d84f15"/>
    <p:sldId xmlns:r="http://schemas.openxmlformats.org/officeDocument/2006/relationships" id="271" r:id="R0b7829631af441c6"/>
    <p:sldId xmlns:r="http://schemas.openxmlformats.org/officeDocument/2006/relationships" id="272" r:id="Rccee2de47749419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85c1ccaa7241a2" /><Relationship Type="http://schemas.openxmlformats.org/officeDocument/2006/relationships/slideMaster" Target="/ppt/slideMasters/slideMaster1.xml" Id="R11ad2510d59a4868" /><Relationship Type="http://schemas.openxmlformats.org/officeDocument/2006/relationships/notesMaster" Target="/ppt/notesMasters/notesMaster1.xml" Id="Rd0e7caace82d44b0" /><Relationship Type="http://schemas.openxmlformats.org/officeDocument/2006/relationships/presProps" Target="/ppt/presProps.xml" Id="R8fc48a3745804093" /><Relationship Type="http://schemas.openxmlformats.org/officeDocument/2006/relationships/tableStyles" Target="/ppt/tableStyles.xml" Id="R06aa9c061b7f41d7" /><Relationship Type="http://schemas.openxmlformats.org/officeDocument/2006/relationships/slide" Target="/ppt/slides/slide1.xml" Id="R02e868d83474416d" /><Relationship Type="http://schemas.openxmlformats.org/officeDocument/2006/relationships/slide" Target="/ppt/slides/slide2.xml" Id="R358e25761be44fca" /><Relationship Type="http://schemas.openxmlformats.org/officeDocument/2006/relationships/slide" Target="/ppt/slides/slide3.xml" Id="R1ff2e05ffd794e11" /><Relationship Type="http://schemas.openxmlformats.org/officeDocument/2006/relationships/slide" Target="/ppt/slides/slide4.xml" Id="R4ed915fa43e54563" /><Relationship Type="http://schemas.openxmlformats.org/officeDocument/2006/relationships/slide" Target="/ppt/slides/slide5.xml" Id="R4cea473b23274df1" /><Relationship Type="http://schemas.openxmlformats.org/officeDocument/2006/relationships/slide" Target="/ppt/slides/slide6.xml" Id="Ra4fc69511e584155" /><Relationship Type="http://schemas.openxmlformats.org/officeDocument/2006/relationships/slide" Target="/ppt/slides/slide7.xml" Id="R4ee8f44c62c74f9b" /><Relationship Type="http://schemas.openxmlformats.org/officeDocument/2006/relationships/slide" Target="/ppt/slides/slide8.xml" Id="R1f85c1b080dc4c74" /><Relationship Type="http://schemas.openxmlformats.org/officeDocument/2006/relationships/slide" Target="/ppt/slides/slide9.xml" Id="R94b15ef282ac4b78" /><Relationship Type="http://schemas.openxmlformats.org/officeDocument/2006/relationships/slide" Target="/ppt/slides/slide10.xml" Id="R2545d9cd86854ca9" /><Relationship Type="http://schemas.openxmlformats.org/officeDocument/2006/relationships/slide" Target="/ppt/slides/slide11.xml" Id="R60f7244c040f469d" /><Relationship Type="http://schemas.openxmlformats.org/officeDocument/2006/relationships/slide" Target="/ppt/slides/slide12.xml" Id="R6aa76d9eff164ba8" /><Relationship Type="http://schemas.openxmlformats.org/officeDocument/2006/relationships/slide" Target="/ppt/slides/slide13.xml" Id="R0be296ea550d42fe" /><Relationship Type="http://schemas.openxmlformats.org/officeDocument/2006/relationships/slide" Target="/ppt/slides/slide14.xml" Id="R6864f0f75b6e4325" /><Relationship Type="http://schemas.openxmlformats.org/officeDocument/2006/relationships/slide" Target="/ppt/slides/slide15.xml" Id="R1a9689dbe7d84f15" /><Relationship Type="http://schemas.openxmlformats.org/officeDocument/2006/relationships/slide" Target="/ppt/slides/slide16.xml" Id="R0b7829631af441c6" /><Relationship Type="http://schemas.openxmlformats.org/officeDocument/2006/relationships/slide" Target="/ppt/slides/slide17.xml" Id="Rccee2de4774941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d5939c4dc04d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161f128e444d30" /><Relationship Type="http://schemas.openxmlformats.org/officeDocument/2006/relationships/notesMaster" Target="/ppt/notesMasters/notesMaster1.xml" Id="R17ce66a3a95e4f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c81a0774234e09" /><Relationship Type="http://schemas.openxmlformats.org/officeDocument/2006/relationships/notesMaster" Target="/ppt/notesMasters/notesMaster1.xml" Id="R0bd3dbedf5fd4f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1bcdcc8b21430b" /><Relationship Type="http://schemas.openxmlformats.org/officeDocument/2006/relationships/notesMaster" Target="/ppt/notesMasters/notesMaster1.xml" Id="R8f2ee9d7ece74b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6e0bd726a14d2b" /><Relationship Type="http://schemas.openxmlformats.org/officeDocument/2006/relationships/notesMaster" Target="/ppt/notesMasters/notesMaster1.xml" Id="R830f3d0a1c8b4a4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bc8b3459f94b2a" /><Relationship Type="http://schemas.openxmlformats.org/officeDocument/2006/relationships/notesMaster" Target="/ppt/notesMasters/notesMaster1.xml" Id="R96dc0ecaccf043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0dfc84a327496d" /><Relationship Type="http://schemas.openxmlformats.org/officeDocument/2006/relationships/notesMaster" Target="/ppt/notesMasters/notesMaster1.xml" Id="R911cd98b519747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b7e910e1724958" /><Relationship Type="http://schemas.openxmlformats.org/officeDocument/2006/relationships/notesMaster" Target="/ppt/notesMasters/notesMaster1.xml" Id="R917d65a91f6243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00456a90574405" /><Relationship Type="http://schemas.openxmlformats.org/officeDocument/2006/relationships/notesMaster" Target="/ppt/notesMasters/notesMaster1.xml" Id="R85cc6c1c0a6d4bc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412e9a9d264384" /><Relationship Type="http://schemas.openxmlformats.org/officeDocument/2006/relationships/notesMaster" Target="/ppt/notesMasters/notesMaster1.xml" Id="R16f9efc16e4b423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765f4af7c0e40d9" /><Relationship Type="http://schemas.openxmlformats.org/officeDocument/2006/relationships/notesMaster" Target="/ppt/notesMasters/notesMaster1.xml" Id="Rad2a0f5b85b448c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505b1ab3854dc8" /><Relationship Type="http://schemas.openxmlformats.org/officeDocument/2006/relationships/notesMaster" Target="/ppt/notesMasters/notesMaster1.xml" Id="R14146d5da62644a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28ec969d22e49dd" /><Relationship Type="http://schemas.openxmlformats.org/officeDocument/2006/relationships/notesMaster" Target="/ppt/notesMasters/notesMaster1.xml" Id="R82e32b1f994f410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8ab082017294ef2" /><Relationship Type="http://schemas.openxmlformats.org/officeDocument/2006/relationships/notesMaster" Target="/ppt/notesMasters/notesMaster1.xml" Id="R2ba0828438e34b4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8e92c2724864b51" /><Relationship Type="http://schemas.openxmlformats.org/officeDocument/2006/relationships/notesMaster" Target="/ppt/notesMasters/notesMaster1.xml" Id="Rc9e038eba12f47c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dd91016bacc4a2a" /><Relationship Type="http://schemas.openxmlformats.org/officeDocument/2006/relationships/notesMaster" Target="/ppt/notesMasters/notesMaster1.xml" Id="Ref00703649c5460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1ffec92cece401f" /><Relationship Type="http://schemas.openxmlformats.org/officeDocument/2006/relationships/notesMaster" Target="/ppt/notesMasters/notesMaster1.xml" Id="R7fffa54e6c67412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17ce80e41684053" /><Relationship Type="http://schemas.openxmlformats.org/officeDocument/2006/relationships/notesMaster" Target="/ppt/notesMasters/notesMaster1.xml" Id="R493b2a96d8d644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am Harsh, presenting ChaosPilot for the Bosch hackathon. The system measures how a local cloud-native application behaves under controlled failures, then reports evidence and recommended fixes. This talk uses saved measured runs, with the completed campaign and later safety checks labelled separately.</a:t>
            </a:r>
          </a:p>
          <a:p xmlns:a="http://schemas.openxmlformats.org/drawingml/2006/main">
            <a:r>
              <a:t/>
            </a:r>
          </a:p>
          <a:p xmlns:a="http://schemas.openxmlformats.org/drawingml/2006/main">
            <a:r>
              <a:t>Sources: AGENTS.md; chaos-ai/README.md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dependency failure can break customer journeys even when other containers remain running. ChaosPilot maps the app and measures actual request behavior before and during controlled faults. The goal is a safe, reproducible report of impact, recovery and recommended fixes.</a:t>
            </a:r>
          </a:p>
          <a:p xmlns:a="http://schemas.openxmlformats.org/drawingml/2006/main">
            <a:r>
              <a:t/>
            </a:r>
          </a:p>
          <a:p xmlns:a="http://schemas.openxmlformats.org/drawingml/2006/main">
            <a:r>
              <a:t>Sources: BUILD_PLAN.md §3; chaos-ai/docs/architecture.md; chaos-ai/README.md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target is the public MIT ecommerce-microservices checkout, pinned in the project documentation. It has a Next.js frontend, four Express services and five infrastructure/tool containers on local Docker Compose. Measurements use an owned auth image with a bounded demo limiter, while the original target source remains unchanged. Stripe, Cloudinary and Resend are external and never injectable.</a:t>
            </a:r>
          </a:p>
          <a:p xmlns:a="http://schemas.openxmlformats.org/drawingml/2006/main">
            <a:r>
              <a:t/>
            </a:r>
          </a:p>
          <a:p xmlns:a="http://schemas.openxmlformats.org/drawingml/2006/main">
            <a:r>
              <a:t>Sources: chaos-ai/docs/target-notes.md §1; chaos-ai/README.md; chaos-ai/examples/sample-run/provenance.json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 delegates to a deterministic runner, which coordinates mapping, baseline measurement, experiments and reporting. Planner and analyzer calls return validated data and each has a deterministic fallback. The policy gate, injector, journal and watchdog own the Docker safety boundary. This diagram follows BUILD_PLAN section 3 and the frozen implementation contracts.</a:t>
            </a:r>
          </a:p>
          <a:p xmlns:a="http://schemas.openxmlformats.org/drawingml/2006/main">
            <a:r>
              <a:t/>
            </a:r>
          </a:p>
          <a:p xmlns:a="http://schemas.openxmlformats.org/drawingml/2006/main">
            <a:r>
              <a:t>Sources: BUILD_PLAN.md §3; chaos-ai/docs/architecture.md; chaos-ai/README.md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Mapping and baseline establish the input to the plan. Each selected experiment passes approval and readiness checks before injection, and the runner measures impact before undo and HTTP recovery. The next experiment starts only after recovery and cooldown, and analysis/reporting follow safety cleanup.</a:t>
            </a:r>
          </a:p>
          <a:p xmlns:a="http://schemas.openxmlformats.org/drawingml/2006/main">
            <a:r>
              <a:t/>
            </a:r>
          </a:p>
          <a:p xmlns:a="http://schemas.openxmlformats.org/drawingml/2006/main">
            <a:r>
              <a:t>Sources: BUILD_PLAN.md §3; chaos-ai/docs/architecture.md; chaos-ai/README.md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graph comes from Compose declarations and explicit overrides, with evidence attached to each dependency. This reconstruction preserves all dependency nodes and edges in docs/graph.mmd, and external services plus the isolated MailHog tool remain excluded from injection. Browse, checkout and login flows are touch-sets rather than ordered call chains. Unknown criticality is a declaration limit, not a measured health verdict.</a:t>
            </a:r>
          </a:p>
          <a:p xmlns:a="http://schemas.openxmlformats.org/drawingml/2006/main">
            <a:r>
              <a:t/>
            </a:r>
          </a:p>
          <a:p xmlns:a="http://schemas.openxmlformats.org/drawingml/2006/main">
            <a:r>
              <a:t>Sources: chaos-ai/docs/graph.mmd; chaos-ai/docs/architecture.md; chaos-ai/docs/target-notes.md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saved 120-second baseline is stable and every measured journey has zero request errors. Each displayed latency is rounded from baseline.json, and the limits derive as max(multiplier × baseline p95, baseline p95 + absolute floor). Hypothesis uses 2× and +100ms, while the default watchdog uses 10× and +750ms, with error-rate limits of 2% and 50%. Readiness/recovery instead use max(1.5× p95, p95 + 100ms), and experiment overrides can tighten abort limits.</a:t>
            </a:r>
          </a:p>
          <a:p xmlns:a="http://schemas.openxmlformats.org/drawingml/2006/main">
            <a:r>
              <a:t/>
            </a:r>
          </a:p>
          <a:p xmlns:a="http://schemas.openxmlformats.org/drawingml/2006/main">
            <a:r>
              <a:t>Sources: chaos-ai/.chaosai/baseline.json; chaos-ai/examples/sample-run/report.md; chaos-ai/README.md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campaign applied kill, traffic spike, pause and stop, while the latest measured safety run stopped Redis. CPU limiting remains conditional on exact restoration, and unsupported quota metadata causes refusal rather than a claimed experiment. Network/netem remains deferred, and full disk is intentionally skipped because it can harm the host laptop.</a:t>
            </a:r>
          </a:p>
          <a:p xmlns:a="http://schemas.openxmlformats.org/drawingml/2006/main">
            <a:r>
              <a:t/>
            </a:r>
          </a:p>
          <a:p xmlns:a="http://schemas.openxmlformats.org/drawingml/2006/main">
            <a:r>
              <a:t>Sources: BUILD_PLAN.md §6 and D14; chaos-ai/README.md; chaos-ai/runs/20261011-035048/plan.json; chaos-ai/runs/20261011-041633/report.md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planner receives quoted graph, baseline, catalogue and curated target facts, then proposes ranked experiments with short reasons. Policy validation retains requested/final specs and every correction in decisions.json, including grounded reason changes. The completed campaign used heuristic fallback after Gemini transport failure, so these displayed ranks are the executed campaign plan rather than a claim of live AI success. A separate successful Gemini plan is recorded in progress.md, and neither planner path can call Docker.</a:t>
            </a:r>
          </a:p>
          <a:p xmlns:a="http://schemas.openxmlformats.org/drawingml/2006/main">
            <a:r>
              <a:t/>
            </a:r>
          </a:p>
          <a:p xmlns:a="http://schemas.openxmlformats.org/drawingml/2006/main">
            <a:r>
              <a:t>Sources: BUILD_PLAN.md §8; chaos-ai/docs/architecture.md; chaos-ai/examples/sample-run/decisions.json; chaos-ai/examples/sample-run/README.md; chaos-ai/docs/progress.md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checks require both graph eligibility and the exact Compose project label, while policy limits and human approval constrain every experiment. The fsynced undo journal precedes mutation, and independent watchdog, timer and KILL paths trigger deterministic rollback. The watchdog evaluates every second, KILL is polled every half-second, and HTTP recovery needs three healthy nonempty windows across all journeys. The LLM never touches Docker, controls cleanup, or decides safety.</a:t>
            </a:r>
          </a:p>
          <a:p xmlns:a="http://schemas.openxmlformats.org/drawingml/2006/main">
            <a:r>
              <a:t/>
            </a:r>
          </a:p>
          <a:p xmlns:a="http://schemas.openxmlformats.org/drawingml/2006/main">
            <a:r>
              <a:t>Sources: BUILD_PLAN.md §5; chaos-ai/docs/architecture.md; chaos-ai/README.md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analyzer explains bounded, quoted evidence and validates citations, with a templated fallback for failed calls. Deterministic score is clamp(100−E−L−R−B−A,0,100), where E=40×min(1,max(0,worst error delta)/0.5), L=20×min(1,max(0,worst p95 ratio−1)/4), R=0 for recovery within 10s or 25 if unproven or 25×min(1,recovery/60), B=10×impacted/total baseline journeys excluding all, and A=5 only for a watchdog abort. Overall averages scored experiments, skips lack scores, and critical severity means score below 30 or aborted with at least two impacted journeys, followed by high below 60, medium below 80 and low otherwise. Confirmed scores at least 80 appear under What held up, while sparse/inconclusive scores remain descriptive and AI cannot change scores or severity.</a:t>
            </a:r>
          </a:p>
          <a:p xmlns:a="http://schemas.openxmlformats.org/drawingml/2006/main">
            <a:r>
              <a:t/>
            </a:r>
          </a:p>
          <a:p xmlns:a="http://schemas.openxmlformats.org/drawingml/2006/main">
            <a:r>
              <a:t>Sources: BUILD_PLAN.md §7; chaos-ai/README.md; chaos-ai/examples/sample-run/report.md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measured campaign applied four fault types, verified every undo, established HTTP recovery in 10, 6, 10 and 14 seconds, and passed final smoke. Its scores are 49, 99, 28 and 44, with a recorded mean of 55/100 weak, and the browse spike confirmed its hypothesis while the other three experiments watchdog-aborted. The latest run is a separate Redis stop interrupted by a signal, scored 52 with successful rollback but unproven HTTP recovery and sparse evidence. The recorded engineering checks are 657 unit tests and three live integration tests in progress.md, distinct from application measurements.</a:t>
            </a:r>
          </a:p>
          <a:p xmlns:a="http://schemas.openxmlformats.org/drawingml/2006/main">
            <a:r>
              <a:t/>
            </a:r>
          </a:p>
          <a:p xmlns:a="http://schemas.openxmlformats.org/drawingml/2006/main">
            <a:r>
              <a:t>Sources: chaos-ai/runs/20261011-035048/scores.json; chaos-ai/examples/sample-run/report.md; chaos-ai/runs/20261011-041633/report.md; chaos-ai/docs/progress.md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Postgres pause and stop are critical recorded findings, with deadline/circuit-breaker and bounded-backoff fixes respectively. Auth kill is high severity with healthcheck/redundancy recommendations, and the latest interrupted Redis stop has a high-severity cache deadline/database fallback recommendation. These are report recommendations rather than implemented fixes, and the reports retain unproven causality and sparse-statistic limits.</a:t>
            </a:r>
          </a:p>
          <a:p xmlns:a="http://schemas.openxmlformats.org/drawingml/2006/main">
            <a:r>
              <a:t/>
            </a:r>
          </a:p>
          <a:p xmlns:a="http://schemas.openxmlformats.org/drawingml/2006/main">
            <a:r>
              <a:t>Sources: chaos-ai/runs/20261011-035048/findings.json; chaos-ai/runs/20261011-041633/findings.json; chaos-ai/examples/sample-run/report.md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real approval prompt with the target, fault, duration, hypothesis and abort limits before accepting an experiment. Then show the saved auth-kill UNDO event where login error rate exceeded 0.5, and the completed campaign report with its score and findings. The two report images are captures of saved HTML, while the approval panel explicitly marks the missing screenshot. Rehearse the live sequence separately because saved screenshots do not demonstrate a new live injection.</a:t>
            </a:r>
          </a:p>
          <a:p xmlns:a="http://schemas.openxmlformats.org/drawingml/2006/main">
            <a:r>
              <a:t/>
            </a:r>
          </a:p>
          <a:p xmlns:a="http://schemas.openxmlformats.org/drawingml/2006/main">
            <a:r>
              <a:t>Sources: chaos-ai/examples/sample-run/report.html; chaos-ai/runs/20261011-035048/report.md; chaos-ai/README.md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Progress records 657 unit tests passing after the final severity regression and three live integration tests passing in the authorized follow-up. Offline fixture mode makes no target or model calls, and cache-only replay regenerates analysis without transport. The clean-run script validates setup, measured experiment completion, restoration, recovery and final smoke, while model discovery/probing, validated JSON and deterministic fallbacks keep model failure separate from safety. The original BUILD_PLAN checkpoint contains older counts, so the newer progress record is cited explicitly.</a:t>
            </a:r>
          </a:p>
          <a:p xmlns:a="http://schemas.openxmlformats.org/drawingml/2006/main">
            <a:r>
              <a:t/>
            </a:r>
          </a:p>
          <a:p xmlns:a="http://schemas.openxmlformats.org/drawingml/2006/main">
            <a:r>
              <a:t>Sources: chaos-ai/docs/progress.md final follow-up; BUILD_PLAN.md Phase 10; chaos-ai/README.md; chaos-ai/docs/architecture.md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runs assess one owned local Compose sandbox and cannot establish exhaustive application or production resilience. Sparse observations remain descriptive, queue telemetry can be intermittent, and some CPU configurations cannot be restored exactly. Next steps are to validate report-recommended fixes, broaden measured coverage and consider the optional netem and replanning work listed in BUILD_PLAN. Full-disk injection remains intentionally excluded for host safety.</a:t>
            </a:r>
          </a:p>
          <a:p xmlns:a="http://schemas.openxmlformats.org/drawingml/2006/main">
            <a:r>
              <a:t/>
            </a:r>
          </a:p>
          <a:p xmlns:a="http://schemas.openxmlformats.org/drawingml/2006/main">
            <a:r>
              <a:t>Sources: chaos-ai/README.md; chaos-ai/docs/architecture.md; BUILD_PLAN.md Phase 11; chaos-ai/examples/sample-run/README.md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the judges and engineers for their time. The GitHub repository contains the project, deployment steps, safety documentation and the measured sample report. Invite questions about the deterministic safety boundary and the evidence behind the findings.</a:t>
            </a:r>
          </a:p>
          <a:p xmlns:a="http://schemas.openxmlformats.org/drawingml/2006/main">
            <a:r>
              <a:t/>
            </a:r>
          </a:p>
          <a:p xmlns:a="http://schemas.openxmlformats.org/drawingml/2006/main">
            <a:r>
              <a:t>Sources: chaos-ai git remote origin; chaos-ai/README.md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f167763776473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2669645b1db48a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3e09e272aa640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42fbf030aad418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6c6755de0a241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416ccb158824b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888A65-4BFA-4861-A276-84A924AB5F3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D69CFB6-0798-48C0-A325-36B3E3805DE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8B2E51E-0D04-4633-8647-97D75A381B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AB25B6-3B86-4C4F-8EC0-FBCC497117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085862E-8324-464A-AA94-21E1ECA15B2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520804A-C6AC-4BDC-8AF1-CAEF077BEF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8D8116B-DB24-4F3C-BD6B-063608B852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D2BDE2A-E978-492B-8E19-2C407AA1EE1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539679-3453-4481-A965-E35ADD35F0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3B43B70-1952-430E-8DF9-52DB182A987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02e3448c19496b" /><Relationship Type="http://schemas.openxmlformats.org/officeDocument/2006/relationships/slideLayout" Target="/ppt/slideLayouts/slideLayout1.xml" Id="R76c8ce472ebb4a68" /><Relationship Type="http://schemas.openxmlformats.org/officeDocument/2006/relationships/slideLayout" Target="/ppt/slideLayouts/slideLayout2.xml" Id="R414d8d0e42164c48" /><Relationship Type="http://schemas.openxmlformats.org/officeDocument/2006/relationships/slideLayout" Target="/ppt/slideLayouts/slideLayout3.xml" Id="R5a6f5b72e1004ca2" /><Relationship Type="http://schemas.openxmlformats.org/officeDocument/2006/relationships/slideLayout" Target="/ppt/slideLayouts/slideLayout4.xml" Id="R27a895d808734e6f" /><Relationship Type="http://schemas.openxmlformats.org/officeDocument/2006/relationships/slideLayout" Target="/ppt/slideLayouts/slideLayout5.xml" Id="R102d1b57b8484df0" /><Relationship Type="http://schemas.openxmlformats.org/officeDocument/2006/relationships/slideLayout" Target="/ppt/slideLayouts/slideLayout6.xml" Id="R236398b0a8ea40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c8ce472ebb4a68"/>
    <p:sldLayoutId xmlns:r="http://schemas.openxmlformats.org/officeDocument/2006/relationships" id="2147483650" r:id="R414d8d0e42164c48"/>
    <p:sldLayoutId xmlns:r="http://schemas.openxmlformats.org/officeDocument/2006/relationships" id="2147483651" r:id="R5a6f5b72e1004ca2"/>
    <p:sldLayoutId xmlns:r="http://schemas.openxmlformats.org/officeDocument/2006/relationships" id="2147483652" r:id="R27a895d808734e6f"/>
    <p:sldLayoutId xmlns:r="http://schemas.openxmlformats.org/officeDocument/2006/relationships" id="2147483653" r:id="R102d1b57b8484df0"/>
    <p:sldLayoutId xmlns:r="http://schemas.openxmlformats.org/officeDocument/2006/relationships" id="2147483654" r:id="R236398b0a8ea40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0af334b32fe4085" /><Relationship Type="http://schemas.openxmlformats.org/officeDocument/2006/relationships/notesSlide" Target="/ppt/notesSlides/notesSlide1.xml" Id="R70efe708d5f549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96a718956cc4191" /><Relationship Type="http://schemas.openxmlformats.org/officeDocument/2006/relationships/notesSlide" Target="/ppt/notesSlides/notesSlide2.xml" Id="Re9ba32ed59984b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c2a488592824950" /><Relationship Type="http://schemas.openxmlformats.org/officeDocument/2006/relationships/notesSlide" Target="/ppt/notesSlides/notesSlide3.xml" Id="R48123a68dc4746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f0757a0717542e3" /><Relationship Type="http://schemas.openxmlformats.org/officeDocument/2006/relationships/notesSlide" Target="/ppt/notesSlides/notesSlide4.xml" Id="R42e25ac0d8a948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b5c5574a961486f" /><Relationship Type="http://schemas.openxmlformats.org/officeDocument/2006/relationships/notesSlide" Target="/ppt/notesSlides/notesSlide5.xml" Id="R438281c822e046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f3279e37968468a" /><Relationship Type="http://schemas.openxmlformats.org/officeDocument/2006/relationships/notesSlide" Target="/ppt/notesSlides/notesSlide6.xml" Id="R25e4e345447d47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8569ea7ca3d43b4" /><Relationship Type="http://schemas.openxmlformats.org/officeDocument/2006/relationships/notesSlide" Target="/ppt/notesSlides/notesSlide7.xml" Id="Rbc64627aff5f40f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fac9bfb42bb481e" /><Relationship Type="http://schemas.openxmlformats.org/officeDocument/2006/relationships/notesSlide" Target="/ppt/notesSlides/notesSlide8.xml" Id="Rbe75bfb2cf8348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e7883cdafc94499" /><Relationship Type="http://schemas.openxmlformats.org/officeDocument/2006/relationships/notesSlide" Target="/ppt/notesSlides/notesSlide9.xml" Id="Rc47eb6d6f8174e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929c0bbc2f74988" /><Relationship Type="http://schemas.openxmlformats.org/officeDocument/2006/relationships/notesSlide" Target="/ppt/notesSlides/notesSlide10.xml" Id="R2976b1b9cb1648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20225e1679742b8" /><Relationship Type="http://schemas.openxmlformats.org/officeDocument/2006/relationships/notesSlide" Target="/ppt/notesSlides/notesSlide11.xml" Id="R5dcce855dd5e4f5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26030bff112416c" /><Relationship Type="http://schemas.openxmlformats.org/officeDocument/2006/relationships/chart" Target="/ppt/slides/charts/chart1.xml" Id="R132ffebd43d24b89" /><Relationship Type="http://schemas.openxmlformats.org/officeDocument/2006/relationships/notesSlide" Target="/ppt/notesSlides/notesSlide12.xml" Id="R356657f282ee4fd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22212b356734079" /><Relationship Type="http://schemas.openxmlformats.org/officeDocument/2006/relationships/notesSlide" Target="/ppt/notesSlides/notesSlide13.xml" Id="R576e1b71128942d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9ac7f562280418d" /><Relationship Type="http://schemas.openxmlformats.org/officeDocument/2006/relationships/image" Target="/ppt/media/image.png" Id="R4f79b7b06f2a4941" /><Relationship Type="http://schemas.openxmlformats.org/officeDocument/2006/relationships/image" Target="/ppt/media/image2.png" Id="R40992d5b4d324095" /><Relationship Type="http://schemas.openxmlformats.org/officeDocument/2006/relationships/notesSlide" Target="/ppt/notesSlides/notesSlide14.xml" Id="Refe0a771e9924a0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37a93a9da8c439c" /><Relationship Type="http://schemas.openxmlformats.org/officeDocument/2006/relationships/notesSlide" Target="/ppt/notesSlides/notesSlide15.xml" Id="Rc282a691ca594a3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cbc189f030b470e" /><Relationship Type="http://schemas.openxmlformats.org/officeDocument/2006/relationships/notesSlide" Target="/ppt/notesSlides/notesSlide16.xml" Id="R23fbb22bb01f412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02bb56ab1e84a56" /><Relationship Type="http://schemas.openxmlformats.org/officeDocument/2006/relationships/hyperlink" Target="https://github.com/harshgmrn04-byte/chaos-ai" TargetMode="External" Id="R4fdd49f3b162405f" /><Relationship Type="http://schemas.openxmlformats.org/officeDocument/2006/relationships/notesSlide" Target="/ppt/notesSlides/notesSlide17.xml" Id="Rf6cc5baac8374b0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Experiment score</c:v>
          </c:tx>
          <c:spPr>
            <a:solidFill xmlns:a="http://schemas.openxmlformats.org/drawingml/2006/main">
              <a:srgbClr val="087D82"/>
            </a:solidFill>
          </c:spPr>
          <c:invertIfNegative val="0"/>
          <c:cat>
            <c:strRef>
              <c:f>'Chart Data'!$A$2:$A$5</c:f>
              <c:strCache>
                <c:ptCount val="4"/>
                <c:pt idx="0">
                  <c:v>Auth kill
Aborted, 10s</c:v>
                </c:pt>
                <c:pt idx="1">
                  <c:v>Browse spike
Confirmed, 6s</c:v>
                </c:pt>
                <c:pt idx="2">
                  <c:v>DB pause
Aborted, 10s</c:v>
                </c:pt>
                <c:pt idx="3">
                  <c:v>DB stop
Aborted, 14s</c:v>
                </c:pt>
              </c:strCache>
            </c:strRef>
          </c:cat>
          <c:val>
            <c:numRef>
              <c:f>'Chart Data'!$B$2:$B$5</c:f>
              <c:numCache>
                <c:formatCode>General</c:formatCode>
                <c:ptCount val="4"/>
                <c:pt idx="0">
                  <c:v>49</c:v>
                </c:pt>
                <c:pt idx="1">
                  <c:v>99</c:v>
                </c:pt>
                <c:pt idx="2">
                  <c:v>28</c:v>
                </c:pt>
                <c:pt idx="3">
                  <c:v>44</c:v>
                </c:pt>
              </c:numCache>
            </c:numRef>
          </c:val>
        </c:ser>
        <c:dLbls>
          <c:txPr>
            <a:bodyPr xmlns:a="http://schemas.openxmlformats.org/drawingml/2006/main" anchorCtr="1"/>
            <a:lstStyle xmlns:a="http://schemas.openxmlformats.org/drawingml/2006/main"/>
            <a:p xmlns:a="http://schemas.openxmlformats.org/drawingml/2006/main">
              <a:pPr>
                <a:defRPr sz="2100">
                  <a:solidFill>
                    <a:srgbClr val="17313D"/>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7313D"/>
                </a:solidFill>
                <a:latin typeface="Helvetica Neue"/>
                <a:ea typeface="Helvetica Neue"/>
                <a:cs typeface="Helvetica Neue"/>
              </a:defRPr>
            </a:pPr>
          </a:p>
        </c:txPr>
        <c:crossAx val="48672768"/>
      </c:catAx>
      <c:valAx>
        <c:axId val="48672768"/>
        <c:scaling>
          <c:orientation val="minMax"/>
          <c:max val="100"/>
          <c:min val="0"/>
        </c:scaling>
        <c:delete val="0"/>
        <c:axPos val="l"/>
        <c:majorGridlines>
          <c:spPr>
            <a:ln xmlns:a="http://schemas.openxmlformats.org/drawingml/2006/main" w="9525">
              <a:solidFill>
                <a:srgbClr val="B8CCD1"/>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36A73"/>
                </a:solidFill>
                <a:latin typeface="Helvetica Neue"/>
                <a:ea typeface="Helvetica Neue"/>
                <a:cs typeface="Helvetica Neue"/>
              </a:defRPr>
            </a:pPr>
          </a:p>
        </c:txPr>
        <c:crossAx val="48650112"/>
        <c:crossBetween val="between"/>
        <c:majorUnit val="25"/>
      </c:valAx>
      <c:spPr>
        <a:noFill xmlns:a="http://schemas.openxmlformats.org/drawingml/2006/mai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A35"/>
        </a:solidFill>
      </p:bgPr>
    </p:bg>
    <p:spTree>
      <p:nvGrpSpPr>
        <p:cNvPr id="1" name=""/>
        <p:cNvGrpSpPr/>
        <p:nvPr/>
      </p:nvGrpSpPr>
      <p:grpSpPr>
        <a:xfrm xmlns:a="http://schemas.openxmlformats.org/drawingml/2006/main"/>
      </p:grpSpPr>
      <p:sp>
        <p:nvSpPr>
          <p:cNvPr id="5" name="page-number">
            <a:extLst xmlns:a="http://schemas.openxmlformats.org/drawingml/2006/main">
              <a:ext uri="{FF2B5EF4-FFF2-40B4-BE49-F238E27FC236}">
                <a16:creationId xmlns:a16="http://schemas.microsoft.com/office/drawing/2014/main" id="{432757EA-6B80-4C72-B965-A42BAB7463BF}"/>
              </a:ext>
            </a:extLst>
          </p:cNvPr>
          <p:cNvSpPr>
            <a:spLocks xmlns:a="http://schemas.openxmlformats.org/drawingml/2006/main" noGrp="1"/>
          </p:cNvSpPr>
          <p:nvPr/>
        </p:nvSpPr>
        <p:spPr>
          <a:xfrm xmlns:a="http://schemas.openxmlformats.org/drawingml/2006/main">
            <a:off x="11049000" y="61341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C2D8DD"/>
                </a:solidFill>
                <a:latin typeface="Helvetica Neue"/>
                <a:ea typeface="Helvetica Neue"/>
                <a:cs typeface="Helvetica Neue"/>
              </a:defRPr>
            </a:defPPr>
          </a:lstStyle>
          <a:p xmlns:a="http://schemas.openxmlformats.org/drawingml/2006/main">
            <a:pPr algn="r">
              <a:defRPr sz="1350" b="0">
                <a:solidFill>
                  <a:srgbClr val="C2D8DD"/>
                </a:solidFill>
                <a:latin typeface="Helvetica Neue"/>
                <a:ea typeface="Helvetica Neue"/>
                <a:cs typeface="Helvetica Neue"/>
              </a:defRPr>
            </a:pPr>
            <a:r>
              <a:rPr sz="1350" b="0">
                <a:solidFill>
                  <a:srgbClr val="C2D8DD"/>
                </a:solidFill>
                <a:latin typeface="Helvetica Neue"/>
                <a:ea typeface="Helvetica Neue"/>
                <a:cs typeface="Helvetica Neue"/>
              </a:rPr>
              <a:t>01</a:t>
            </a:r>
          </a:p>
        </p:txBody>
      </p:sp>
      <p:sp>
        <p:nvSpPr>
          <p:cNvPr id="2" name="ChaosPilot">
            <a:extLst xmlns:a="http://schemas.openxmlformats.org/drawingml/2006/main">
              <a:ext uri="{FF2B5EF4-FFF2-40B4-BE49-F238E27FC236}">
                <a16:creationId xmlns:a16="http://schemas.microsoft.com/office/drawing/2014/main" id="{D0E9FAFD-EE9A-45DE-8C9A-78F2038FB308}"/>
              </a:ext>
            </a:extLst>
          </p:cNvPr>
          <p:cNvSpPr>
            <a:spLocks xmlns:a="http://schemas.openxmlformats.org/drawingml/2006/main" noGrp="1"/>
          </p:cNvSpPr>
          <p:nvPr/>
        </p:nvSpPr>
        <p:spPr>
          <a:xfrm xmlns:a="http://schemas.openxmlformats.org/drawingml/2006/main">
            <a:off x="571500" y="171450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6150" b="1">
                <a:solidFill>
                  <a:srgbClr val="FFFFFF"/>
                </a:solidFill>
                <a:latin typeface="Helvetica Neue"/>
                <a:ea typeface="Helvetica Neue"/>
                <a:cs typeface="Helvetica Neue"/>
              </a:defRPr>
            </a:defPPr>
          </a:lstStyle>
          <a:p xmlns:a="http://schemas.openxmlformats.org/drawingml/2006/main">
            <a:pPr algn="l">
              <a:defRPr sz="6150" b="1">
                <a:solidFill>
                  <a:srgbClr val="FFFFFF"/>
                </a:solidFill>
                <a:latin typeface="Helvetica Neue"/>
                <a:ea typeface="Helvetica Neue"/>
                <a:cs typeface="Helvetica Neue"/>
              </a:defRPr>
            </a:pPr>
            <a:r>
              <a:rPr sz="6150" b="1">
                <a:solidFill>
                  <a:srgbClr val="FFFFFF"/>
                </a:solidFill>
                <a:latin typeface="Helvetica Neue"/>
                <a:ea typeface="Helvetica Neue"/>
                <a:cs typeface="Helvetica Neue"/>
              </a:rPr>
              <a:t>ChaosPilot</a:t>
            </a:r>
          </a:p>
        </p:txBody>
      </p:sp>
      <p:sp>
        <p:nvSpPr>
          <p:cNvPr id="3" name="AI-Driven Chaos Engineering&#10;for Cloud-Native Res">
            <a:extLst xmlns:a="http://schemas.openxmlformats.org/drawingml/2006/main">
              <a:ext uri="{FF2B5EF4-FFF2-40B4-BE49-F238E27FC236}">
                <a16:creationId xmlns:a16="http://schemas.microsoft.com/office/drawing/2014/main" id="{5FAE52DC-C4DA-4D13-8516-A20391AB78FF}"/>
              </a:ext>
            </a:extLst>
          </p:cNvPr>
          <p:cNvSpPr>
            <a:spLocks xmlns:a="http://schemas.openxmlformats.org/drawingml/2006/main" noGrp="1"/>
          </p:cNvSpPr>
          <p:nvPr/>
        </p:nvSpPr>
        <p:spPr>
          <a:xfrm xmlns:a="http://schemas.openxmlformats.org/drawingml/2006/main">
            <a:off x="609600" y="3143250"/>
            <a:ext cx="1038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0">
                <a:solidFill>
                  <a:srgbClr val="C8E5E5"/>
                </a:solidFill>
                <a:latin typeface="Helvetica Neue"/>
                <a:ea typeface="Helvetica Neue"/>
                <a:cs typeface="Helvetica Neue"/>
              </a:defRPr>
            </a:defPPr>
          </a:lstStyle>
          <a:p xmlns:a="http://schemas.openxmlformats.org/drawingml/2006/main">
            <a:pPr algn="l">
              <a:defRPr sz="3000" b="0">
                <a:solidFill>
                  <a:srgbClr val="C8E5E5"/>
                </a:solidFill>
                <a:latin typeface="Helvetica Neue"/>
                <a:ea typeface="Helvetica Neue"/>
                <a:cs typeface="Helvetica Neue"/>
              </a:defRPr>
            </a:pPr>
            <a:r>
              <a:rPr sz="3000" b="0">
                <a:solidFill>
                  <a:srgbClr val="C8E5E5"/>
                </a:solidFill>
                <a:latin typeface="Helvetica Neue"/>
                <a:ea typeface="Helvetica Neue"/>
                <a:cs typeface="Helvetica Neue"/>
              </a:rPr>
              <a:t>AI-Driven Chaos Engineering</a:t>
            </a:r>
          </a:p>
          <a:p xmlns:a="http://schemas.openxmlformats.org/drawingml/2006/main">
            <a:pPr algn="l">
              <a:defRPr sz="3000" b="0">
                <a:solidFill>
                  <a:srgbClr val="C8E5E5"/>
                </a:solidFill>
                <a:latin typeface="Helvetica Neue"/>
                <a:ea typeface="Helvetica Neue"/>
                <a:cs typeface="Helvetica Neue"/>
              </a:defRPr>
            </a:pPr>
            <a:r>
              <a:rPr sz="3000" b="0">
                <a:solidFill>
                  <a:srgbClr val="C8E5E5"/>
                </a:solidFill>
                <a:latin typeface="Helvetica Neue"/>
                <a:ea typeface="Helvetica Neue"/>
                <a:cs typeface="Helvetica Neue"/>
              </a:rPr>
              <a:t>for Cloud-Native Resilience</a:t>
            </a:r>
          </a:p>
        </p:txBody>
      </p:sp>
      <p:sp>
        <p:nvSpPr>
          <p:cNvPr id="4" name="Bosch hackathon   /   Harsh">
            <a:extLst xmlns:a="http://schemas.openxmlformats.org/drawingml/2006/main">
              <a:ext uri="{FF2B5EF4-FFF2-40B4-BE49-F238E27FC236}">
                <a16:creationId xmlns:a16="http://schemas.microsoft.com/office/drawing/2014/main" id="{F846FF42-3CCD-42D4-B122-4A88EACC2C6E}"/>
              </a:ext>
            </a:extLst>
          </p:cNvPr>
          <p:cNvSpPr>
            <a:spLocks xmlns:a="http://schemas.openxmlformats.org/drawingml/2006/main" noGrp="1"/>
          </p:cNvSpPr>
          <p:nvPr/>
        </p:nvSpPr>
        <p:spPr>
          <a:xfrm xmlns:a="http://schemas.openxmlformats.org/drawingml/2006/main">
            <a:off x="609600" y="5381625"/>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FFFFFF"/>
                </a:solidFill>
                <a:latin typeface="Helvetica Neue"/>
                <a:ea typeface="Helvetica Neue"/>
                <a:cs typeface="Helvetica Neue"/>
              </a:defRPr>
            </a:defPPr>
          </a:lstStyle>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Bosch hackathon   /   Harsh</a:t>
            </a:r>
          </a:p>
        </p:txBody>
      </p:sp>
    </p:spTree>
    <p:extLst>
      <p:ext uri="{BB962C8B-B14F-4D97-AF65-F5344CB8AC3E}">
        <p14:creationId xmlns:p14="http://schemas.microsoft.com/office/powerpoint/2010/main" val="1084167037"/>
      </p:ext>
    </p:extLst>
  </p:cSld>
</p:sld>
</file>

<file path=ppt/slides/slide2.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0BDCCD03-B839-4382-8AE8-7BE6BF717869}"/>
              </a:ext>
            </a:extLst>
          </p:cNvPr>
          <p:cNvSpPr>
            <a:spLocks xmlns:a="http://schemas.openxmlformats.org/drawingml/2006/main" noGrp="1"/>
          </p:cNvSpPr>
          <p:nvPr/>
        </p:nvSpPr>
        <p:spPr>
          <a:xfrm xmlns:a="http://schemas.openxmlformats.org/drawingml/2006/main">
            <a:off x="571500" y="4572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313D"/>
                </a:solidFill>
                <a:latin typeface="Helvetica Neue"/>
                <a:ea typeface="Helvetica Neue"/>
                <a:cs typeface="Helvetica Neue"/>
              </a:defRPr>
            </a:defPPr>
          </a:lstStyle>
          <a:p xmlns:a="http://schemas.openxmlformats.org/drawingml/2006/main">
            <a:pPr algn="l">
              <a:defRPr sz="3300" b="1">
                <a:solidFill>
                  <a:srgbClr val="17313D"/>
                </a:solidFill>
                <a:latin typeface="Helvetica Neue"/>
                <a:ea typeface="Helvetica Neue"/>
                <a:cs typeface="Helvetica Neue"/>
              </a:defRPr>
            </a:pPr>
            <a:r>
              <a:rPr sz="3300" b="1">
                <a:solidFill>
                  <a:srgbClr val="17313D"/>
                </a:solidFill>
                <a:latin typeface="Helvetica Neue"/>
                <a:ea typeface="Helvetica Neue"/>
                <a:cs typeface="Helvetica Neue"/>
              </a:rPr>
              <a:t>Problem and goal</a:t>
            </a:r>
          </a:p>
        </p:txBody>
      </p:sp>
      <p:sp>
        <p:nvSpPr>
          <p:cNvPr id="2" name="page-number">
            <a:extLst xmlns:a="http://schemas.openxmlformats.org/drawingml/2006/main">
              <a:ext uri="{FF2B5EF4-FFF2-40B4-BE49-F238E27FC236}">
                <a16:creationId xmlns:a16="http://schemas.microsoft.com/office/drawing/2014/main" id="{757BB62D-A0AC-452A-9197-39B75868C676}"/>
              </a:ext>
            </a:extLst>
          </p:cNvPr>
          <p:cNvSpPr>
            <a:spLocks xmlns:a="http://schemas.openxmlformats.org/drawingml/2006/main" noGrp="1"/>
          </p:cNvSpPr>
          <p:nvPr/>
        </p:nvSpPr>
        <p:spPr>
          <a:xfrm xmlns:a="http://schemas.openxmlformats.org/drawingml/2006/main">
            <a:off x="11049000" y="61341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36A73"/>
                </a:solidFill>
                <a:latin typeface="Helvetica Neue"/>
                <a:ea typeface="Helvetica Neue"/>
                <a:cs typeface="Helvetica Neue"/>
              </a:defRPr>
            </a:defPPr>
          </a:lstStyle>
          <a:p xmlns:a="http://schemas.openxmlformats.org/drawingml/2006/main">
            <a:pPr algn="r">
              <a:defRPr sz="1350" b="0">
                <a:solidFill>
                  <a:srgbClr val="536A73"/>
                </a:solidFill>
                <a:latin typeface="Helvetica Neue"/>
                <a:ea typeface="Helvetica Neue"/>
                <a:cs typeface="Helvetica Neue"/>
              </a:defRPr>
            </a:pPr>
            <a:r>
              <a:rPr sz="1350" b="0">
                <a:solidFill>
                  <a:srgbClr val="536A73"/>
                </a:solidFill>
                <a:latin typeface="Helvetica Neue"/>
                <a:ea typeface="Helvetica Neue"/>
                <a:cs typeface="Helvetica Neue"/>
              </a:rPr>
              <a:t>02</a:t>
            </a:r>
          </a:p>
        </p:txBody>
      </p:sp>
      <p:sp>
        <p:nvSpPr>
          <p:cNvPr id="3" name="Problem">
            <a:extLst xmlns:a="http://schemas.openxmlformats.org/drawingml/2006/main">
              <a:ext uri="{FF2B5EF4-FFF2-40B4-BE49-F238E27FC236}">
                <a16:creationId xmlns:a16="http://schemas.microsoft.com/office/drawing/2014/main" id="{CA98080A-A8F4-4FF9-963B-43CAF708845F}"/>
              </a:ext>
            </a:extLst>
          </p:cNvPr>
          <p:cNvSpPr>
            <a:spLocks xmlns:a="http://schemas.openxmlformats.org/drawingml/2006/main" noGrp="1"/>
          </p:cNvSpPr>
          <p:nvPr/>
        </p:nvSpPr>
        <p:spPr>
          <a:xfrm xmlns:a="http://schemas.openxmlformats.org/drawingml/2006/main">
            <a:off x="571500" y="1809750"/>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1">
                <a:solidFill>
                  <a:srgbClr val="AF3347"/>
                </a:solidFill>
                <a:latin typeface="Helvetica Neue"/>
                <a:ea typeface="Helvetica Neue"/>
                <a:cs typeface="Helvetica Neue"/>
              </a:defRPr>
            </a:defPPr>
          </a:lstStyle>
          <a:p xmlns:a="http://schemas.openxmlformats.org/drawingml/2006/main">
            <a:pPr algn="l">
              <a:defRPr sz="2550" b="1">
                <a:solidFill>
                  <a:srgbClr val="AF3347"/>
                </a:solidFill>
                <a:latin typeface="Helvetica Neue"/>
                <a:ea typeface="Helvetica Neue"/>
                <a:cs typeface="Helvetica Neue"/>
              </a:defRPr>
            </a:pPr>
            <a:r>
              <a:rPr sz="2550" b="1">
                <a:solidFill>
                  <a:srgbClr val="AF3347"/>
                </a:solidFill>
                <a:latin typeface="Helvetica Neue"/>
                <a:ea typeface="Helvetica Neue"/>
                <a:cs typeface="Helvetica Neue"/>
              </a:rPr>
              <a:t>Problem</a:t>
            </a:r>
          </a:p>
        </p:txBody>
      </p:sp>
      <p:sp>
        <p:nvSpPr>
          <p:cNvPr id="4" name="Dependency failures break&#10;customer journeys">
            <a:extLst xmlns:a="http://schemas.openxmlformats.org/drawingml/2006/main">
              <a:ext uri="{FF2B5EF4-FFF2-40B4-BE49-F238E27FC236}">
                <a16:creationId xmlns:a16="http://schemas.microsoft.com/office/drawing/2014/main" id="{FBBFF5D6-02B3-48E7-9DC6-DAE3184EABE2}"/>
              </a:ext>
            </a:extLst>
          </p:cNvPr>
          <p:cNvSpPr>
            <a:spLocks xmlns:a="http://schemas.openxmlformats.org/drawingml/2006/main" noGrp="1"/>
          </p:cNvSpPr>
          <p:nvPr/>
        </p:nvSpPr>
        <p:spPr>
          <a:xfrm xmlns:a="http://schemas.openxmlformats.org/drawingml/2006/main">
            <a:off x="571500" y="2714625"/>
            <a:ext cx="5143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450" b="1">
                <a:solidFill>
                  <a:srgbClr val="17313D"/>
                </a:solidFill>
                <a:latin typeface="Helvetica Neue"/>
                <a:ea typeface="Helvetica Neue"/>
                <a:cs typeface="Helvetica Neue"/>
              </a:defRPr>
            </a:defPPr>
          </a:lstStyle>
          <a:p xmlns:a="http://schemas.openxmlformats.org/drawingml/2006/main">
            <a:pPr algn="l">
              <a:defRPr sz="3450" b="1">
                <a:solidFill>
                  <a:srgbClr val="17313D"/>
                </a:solidFill>
                <a:latin typeface="Helvetica Neue"/>
                <a:ea typeface="Helvetica Neue"/>
                <a:cs typeface="Helvetica Neue"/>
              </a:defRPr>
            </a:pPr>
            <a:r>
              <a:rPr sz="3450" b="1">
                <a:solidFill>
                  <a:srgbClr val="17313D"/>
                </a:solidFill>
                <a:latin typeface="Helvetica Neue"/>
                <a:ea typeface="Helvetica Neue"/>
                <a:cs typeface="Helvetica Neue"/>
              </a:rPr>
              <a:t>Dependency failures break</a:t>
            </a:r>
          </a:p>
          <a:p xmlns:a="http://schemas.openxmlformats.org/drawingml/2006/main">
            <a:pPr algn="l">
              <a:defRPr sz="3450" b="1">
                <a:solidFill>
                  <a:srgbClr val="17313D"/>
                </a:solidFill>
                <a:latin typeface="Helvetica Neue"/>
                <a:ea typeface="Helvetica Neue"/>
                <a:cs typeface="Helvetica Neue"/>
              </a:defRPr>
            </a:pPr>
            <a:r>
              <a:rPr sz="3450" b="1">
                <a:solidFill>
                  <a:srgbClr val="17313D"/>
                </a:solidFill>
                <a:latin typeface="Helvetica Neue"/>
                <a:ea typeface="Helvetica Neue"/>
                <a:cs typeface="Helvetica Neue"/>
              </a:rPr>
              <a:t>customer journeys</a:t>
            </a:r>
          </a:p>
        </p:txBody>
      </p:sp>
      <p:sp>
        <p:nvSpPr>
          <p:cNvPr id="5" name="Goal">
            <a:extLst xmlns:a="http://schemas.openxmlformats.org/drawingml/2006/main">
              <a:ext uri="{FF2B5EF4-FFF2-40B4-BE49-F238E27FC236}">
                <a16:creationId xmlns:a16="http://schemas.microsoft.com/office/drawing/2014/main" id="{24FF1CE3-2503-490E-B497-9BC1D6D35C25}"/>
              </a:ext>
            </a:extLst>
          </p:cNvPr>
          <p:cNvSpPr>
            <a:spLocks xmlns:a="http://schemas.openxmlformats.org/drawingml/2006/main" noGrp="1"/>
          </p:cNvSpPr>
          <p:nvPr/>
        </p:nvSpPr>
        <p:spPr>
          <a:xfrm xmlns:a="http://schemas.openxmlformats.org/drawingml/2006/main">
            <a:off x="6715125" y="1809750"/>
            <a:ext cx="4810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1">
                <a:solidFill>
                  <a:srgbClr val="087D82"/>
                </a:solidFill>
                <a:latin typeface="Helvetica Neue"/>
                <a:ea typeface="Helvetica Neue"/>
                <a:cs typeface="Helvetica Neue"/>
              </a:defRPr>
            </a:defPPr>
          </a:lstStyle>
          <a:p xmlns:a="http://schemas.openxmlformats.org/drawingml/2006/main">
            <a:pPr algn="l">
              <a:defRPr sz="2550" b="1">
                <a:solidFill>
                  <a:srgbClr val="087D82"/>
                </a:solidFill>
                <a:latin typeface="Helvetica Neue"/>
                <a:ea typeface="Helvetica Neue"/>
                <a:cs typeface="Helvetica Neue"/>
              </a:defRPr>
            </a:pPr>
            <a:r>
              <a:rPr sz="2550" b="1">
                <a:solidFill>
                  <a:srgbClr val="087D82"/>
                </a:solidFill>
                <a:latin typeface="Helvetica Neue"/>
                <a:ea typeface="Helvetica Neue"/>
                <a:cs typeface="Helvetica Neue"/>
              </a:rPr>
              <a:t>Goal</a:t>
            </a:r>
          </a:p>
        </p:txBody>
      </p:sp>
      <p:sp>
        <p:nvSpPr>
          <p:cNvPr id="6" name="Measure faults safely.&#10;Prove recovery.&#10;Explain w">
            <a:extLst xmlns:a="http://schemas.openxmlformats.org/drawingml/2006/main">
              <a:ext uri="{FF2B5EF4-FFF2-40B4-BE49-F238E27FC236}">
                <a16:creationId xmlns:a16="http://schemas.microsoft.com/office/drawing/2014/main" id="{D679C13B-5B05-4F18-A466-8842651E9408}"/>
              </a:ext>
            </a:extLst>
          </p:cNvPr>
          <p:cNvSpPr>
            <a:spLocks xmlns:a="http://schemas.openxmlformats.org/drawingml/2006/main" noGrp="1"/>
          </p:cNvSpPr>
          <p:nvPr/>
        </p:nvSpPr>
        <p:spPr>
          <a:xfrm xmlns:a="http://schemas.openxmlformats.org/drawingml/2006/main">
            <a:off x="6715125" y="2714625"/>
            <a:ext cx="48101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0">
                <a:solidFill>
                  <a:srgbClr val="17313D"/>
                </a:solidFill>
                <a:latin typeface="Helvetica Neue"/>
                <a:ea typeface="Helvetica Neue"/>
                <a:cs typeface="Helvetica Neue"/>
              </a:defRPr>
            </a:defPPr>
          </a:lstStyle>
          <a:p xmlns:a="http://schemas.openxmlformats.org/drawingml/2006/main">
            <a:pPr algn="l">
              <a:defRPr sz="3000" b="0">
                <a:solidFill>
                  <a:srgbClr val="17313D"/>
                </a:solidFill>
                <a:latin typeface="Helvetica Neue"/>
                <a:ea typeface="Helvetica Neue"/>
                <a:cs typeface="Helvetica Neue"/>
              </a:defRPr>
            </a:pPr>
            <a:r>
              <a:rPr sz="3000" b="0">
                <a:solidFill>
                  <a:srgbClr val="17313D"/>
                </a:solidFill>
                <a:latin typeface="Helvetica Neue"/>
                <a:ea typeface="Helvetica Neue"/>
                <a:cs typeface="Helvetica Neue"/>
              </a:rPr>
              <a:t>Measure faults safely.</a:t>
            </a:r>
          </a:p>
          <a:p xmlns:a="http://schemas.openxmlformats.org/drawingml/2006/main">
            <a:pPr algn="l">
              <a:defRPr sz="3000" b="0">
                <a:solidFill>
                  <a:srgbClr val="17313D"/>
                </a:solidFill>
                <a:latin typeface="Helvetica Neue"/>
                <a:ea typeface="Helvetica Neue"/>
                <a:cs typeface="Helvetica Neue"/>
              </a:defRPr>
            </a:pPr>
            <a:r>
              <a:rPr sz="3000" b="0">
                <a:solidFill>
                  <a:srgbClr val="17313D"/>
                </a:solidFill>
                <a:latin typeface="Helvetica Neue"/>
                <a:ea typeface="Helvetica Neue"/>
                <a:cs typeface="Helvetica Neue"/>
              </a:rPr>
              <a:t>Prove recovery.</a:t>
            </a:r>
          </a:p>
          <a:p xmlns:a="http://schemas.openxmlformats.org/drawingml/2006/main">
            <a:pPr algn="l">
              <a:defRPr sz="3000" b="0">
                <a:solidFill>
                  <a:srgbClr val="17313D"/>
                </a:solidFill>
                <a:latin typeface="Helvetica Neue"/>
                <a:ea typeface="Helvetica Neue"/>
                <a:cs typeface="Helvetica Neue"/>
              </a:defRPr>
            </a:pPr>
            <a:r>
              <a:rPr sz="3000" b="0">
                <a:solidFill>
                  <a:srgbClr val="17313D"/>
                </a:solidFill>
                <a:latin typeface="Helvetica Neue"/>
                <a:ea typeface="Helvetica Neue"/>
                <a:cs typeface="Helvetica Neue"/>
              </a:rPr>
              <a:t>Explain weaknesses.</a:t>
            </a:r>
          </a:p>
        </p:txBody>
      </p:sp>
    </p:spTree>
    <p:extLst>
      <p:ext uri="{BB962C8B-B14F-4D97-AF65-F5344CB8AC3E}">
        <p14:creationId xmlns:p14="http://schemas.microsoft.com/office/powerpoint/2010/main" val="750139331"/>
      </p:ext>
    </p:extLst>
  </p:cSld>
</p:sld>
</file>

<file path=ppt/slides/slide3.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3389E6DD-5864-4F47-8C87-5C201C251397}"/>
              </a:ext>
            </a:extLst>
          </p:cNvPr>
          <p:cNvCxnSpPr>
            <a:stCxn xmlns:a="http://schemas.openxmlformats.org/drawingml/2006/main" id="3" idx="2"/>
            <a:endCxn xmlns:a="http://schemas.openxmlformats.org/drawingml/2006/main" id="6" idx="0"/>
          </p:cNvCxnSpPr>
          <p:nvPr/>
        </p:nvCxnSpPr>
        <p:spPr>
          <a:xfrm xmlns:a="http://schemas.openxmlformats.org/drawingml/2006/main">
            <a:off x="6096000" y="2286000"/>
            <a:ext cx="1400175" cy="619125"/>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F281F9B2-6256-4DF9-A920-C70710BBDE36}"/>
              </a:ext>
            </a:extLst>
          </p:cNvPr>
          <p:cNvCxnSpPr>
            <a:stCxn xmlns:a="http://schemas.openxmlformats.org/drawingml/2006/main" id="3" idx="2"/>
            <a:endCxn xmlns:a="http://schemas.openxmlformats.org/drawingml/2006/main" id="5" idx="0"/>
          </p:cNvCxnSpPr>
          <p:nvPr/>
        </p:nvCxnSpPr>
        <p:spPr>
          <a:xfrm xmlns:a="http://schemas.openxmlformats.org/drawingml/2006/main" flipH="1">
            <a:off x="4676775" y="2286000"/>
            <a:ext cx="1419225" cy="619125"/>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01C05047-CCEC-4DFF-B91C-8E6FF48BFCA4}"/>
              </a:ext>
            </a:extLst>
          </p:cNvPr>
          <p:cNvCxnSpPr>
            <a:stCxn xmlns:a="http://schemas.openxmlformats.org/drawingml/2006/main" id="3" idx="2"/>
            <a:endCxn xmlns:a="http://schemas.openxmlformats.org/drawingml/2006/main" id="4" idx="0"/>
          </p:cNvCxnSpPr>
          <p:nvPr/>
        </p:nvCxnSpPr>
        <p:spPr>
          <a:xfrm xmlns:a="http://schemas.openxmlformats.org/drawingml/2006/main" flipH="1">
            <a:off x="1857375" y="2286000"/>
            <a:ext cx="4238625" cy="619125"/>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sp>
        <p:nvSpPr>
          <p:cNvPr id="14" name="slide-title">
            <a:extLst xmlns:a="http://schemas.openxmlformats.org/drawingml/2006/main">
              <a:ext uri="{FF2B5EF4-FFF2-40B4-BE49-F238E27FC236}">
                <a16:creationId xmlns:a16="http://schemas.microsoft.com/office/drawing/2014/main" id="{2AE0917D-D0F4-4C48-B6D8-6C4493465DDD}"/>
              </a:ext>
            </a:extLst>
          </p:cNvPr>
          <p:cNvSpPr>
            <a:spLocks xmlns:a="http://schemas.openxmlformats.org/drawingml/2006/main" noGrp="1"/>
          </p:cNvSpPr>
          <p:nvPr/>
        </p:nvSpPr>
        <p:spPr>
          <a:xfrm xmlns:a="http://schemas.openxmlformats.org/drawingml/2006/main">
            <a:off x="571500" y="4572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313D"/>
                </a:solidFill>
                <a:latin typeface="Helvetica Neue"/>
                <a:ea typeface="Helvetica Neue"/>
                <a:cs typeface="Helvetica Neue"/>
              </a:defRPr>
            </a:defPPr>
          </a:lstStyle>
          <a:p xmlns:a="http://schemas.openxmlformats.org/drawingml/2006/main">
            <a:pPr algn="l">
              <a:defRPr sz="3300" b="1">
                <a:solidFill>
                  <a:srgbClr val="17313D"/>
                </a:solidFill>
                <a:latin typeface="Helvetica Neue"/>
                <a:ea typeface="Helvetica Neue"/>
                <a:cs typeface="Helvetica Neue"/>
              </a:defRPr>
            </a:pPr>
            <a:r>
              <a:rPr sz="3300" b="1">
                <a:solidFill>
                  <a:srgbClr val="17313D"/>
                </a:solidFill>
                <a:latin typeface="Helvetica Neue"/>
                <a:ea typeface="Helvetica Neue"/>
                <a:cs typeface="Helvetica Neue"/>
              </a:rPr>
              <a:t>Target environment</a:t>
            </a:r>
          </a:p>
        </p:txBody>
      </p:sp>
      <p:sp>
        <p:nvSpPr>
          <p:cNvPr id="2" name="page-number">
            <a:extLst xmlns:a="http://schemas.openxmlformats.org/drawingml/2006/main">
              <a:ext uri="{FF2B5EF4-FFF2-40B4-BE49-F238E27FC236}">
                <a16:creationId xmlns:a16="http://schemas.microsoft.com/office/drawing/2014/main" id="{60C0508D-C318-4DD8-8E27-B9AE57B4B7B5}"/>
              </a:ext>
            </a:extLst>
          </p:cNvPr>
          <p:cNvSpPr>
            <a:spLocks xmlns:a="http://schemas.openxmlformats.org/drawingml/2006/main" noGrp="1"/>
          </p:cNvSpPr>
          <p:nvPr/>
        </p:nvSpPr>
        <p:spPr>
          <a:xfrm xmlns:a="http://schemas.openxmlformats.org/drawingml/2006/main">
            <a:off x="11049000" y="61341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36A73"/>
                </a:solidFill>
                <a:latin typeface="Helvetica Neue"/>
                <a:ea typeface="Helvetica Neue"/>
                <a:cs typeface="Helvetica Neue"/>
              </a:defRPr>
            </a:defPPr>
          </a:lstStyle>
          <a:p xmlns:a="http://schemas.openxmlformats.org/drawingml/2006/main">
            <a:pPr algn="r">
              <a:defRPr sz="1350" b="0">
                <a:solidFill>
                  <a:srgbClr val="536A73"/>
                </a:solidFill>
                <a:latin typeface="Helvetica Neue"/>
                <a:ea typeface="Helvetica Neue"/>
                <a:cs typeface="Helvetica Neue"/>
              </a:defRPr>
            </a:pPr>
            <a:r>
              <a:rPr sz="1350" b="0">
                <a:solidFill>
                  <a:srgbClr val="536A73"/>
                </a:solidFill>
                <a:latin typeface="Helvetica Neue"/>
                <a:ea typeface="Helvetica Neue"/>
                <a:cs typeface="Helvetica Neue"/>
              </a:rPr>
              <a:t>03</a:t>
            </a:r>
          </a:p>
        </p:txBody>
      </p:sp>
      <p:sp>
        <p:nvSpPr>
          <p:cNvPr id="3" name="node-Next.js frontend">
            <a:extLst xmlns:a="http://schemas.openxmlformats.org/drawingml/2006/main">
              <a:ext uri="{FF2B5EF4-FFF2-40B4-BE49-F238E27FC236}">
                <a16:creationId xmlns:a16="http://schemas.microsoft.com/office/drawing/2014/main" id="{E75083A1-7D1F-4DF2-A652-9D117234806A}"/>
              </a:ext>
            </a:extLst>
          </p:cNvPr>
          <p:cNvSpPr>
            <a:spLocks xmlns:a="http://schemas.openxmlformats.org/drawingml/2006/main" noGrp="1"/>
          </p:cNvSpPr>
          <p:nvPr/>
        </p:nvSpPr>
        <p:spPr>
          <a:xfrm xmlns:a="http://schemas.openxmlformats.org/drawingml/2006/main">
            <a:off x="4095750" y="1619250"/>
            <a:ext cx="400050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313D"/>
                </a:solidFill>
                <a:latin typeface="Helvetica Neue"/>
                <a:ea typeface="Helvetica Neue"/>
                <a:cs typeface="Helvetica Neue"/>
              </a:defRPr>
            </a:defPPr>
          </a:lstStyle>
          <a:p xmlns:a="http://schemas.openxmlformats.org/drawingml/2006/main">
            <a:pPr algn="ctr">
              <a:defRPr sz="1950" b="0">
                <a:solidFill>
                  <a:srgbClr val="17313D"/>
                </a:solidFill>
                <a:latin typeface="Helvetica Neue"/>
                <a:ea typeface="Helvetica Neue"/>
                <a:cs typeface="Helvetica Neue"/>
              </a:defRPr>
            </a:pPr>
            <a:r>
              <a:rPr sz="1950" b="0">
                <a:solidFill>
                  <a:srgbClr val="17313D"/>
                </a:solidFill>
                <a:latin typeface="Helvetica Neue"/>
                <a:ea typeface="Helvetica Neue"/>
                <a:cs typeface="Helvetica Neue"/>
              </a:rPr>
              <a:t>Next.js frontend</a:t>
            </a:r>
          </a:p>
        </p:txBody>
      </p:sp>
      <p:sp>
        <p:nvSpPr>
          <p:cNvPr id="4" name="node-Auth">
            <a:extLst xmlns:a="http://schemas.openxmlformats.org/drawingml/2006/main">
              <a:ext uri="{FF2B5EF4-FFF2-40B4-BE49-F238E27FC236}">
                <a16:creationId xmlns:a16="http://schemas.microsoft.com/office/drawing/2014/main" id="{3E33F0FC-CF31-4727-9B93-3A2CE1D412B6}"/>
              </a:ext>
            </a:extLst>
          </p:cNvPr>
          <p:cNvSpPr>
            <a:spLocks xmlns:a="http://schemas.openxmlformats.org/drawingml/2006/main" noGrp="1"/>
          </p:cNvSpPr>
          <p:nvPr/>
        </p:nvSpPr>
        <p:spPr>
          <a:xfrm xmlns:a="http://schemas.openxmlformats.org/drawingml/2006/main">
            <a:off x="571500" y="2905125"/>
            <a:ext cx="2571750" cy="781050"/>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313D"/>
                </a:solidFill>
                <a:latin typeface="Helvetica Neue"/>
                <a:ea typeface="Helvetica Neue"/>
                <a:cs typeface="Helvetica Neue"/>
              </a:defRPr>
            </a:defPPr>
          </a:lstStyle>
          <a:p xmlns:a="http://schemas.openxmlformats.org/drawingml/2006/main">
            <a:pPr algn="ctr">
              <a:defRPr sz="1950" b="0">
                <a:solidFill>
                  <a:srgbClr val="17313D"/>
                </a:solidFill>
                <a:latin typeface="Helvetica Neue"/>
                <a:ea typeface="Helvetica Neue"/>
                <a:cs typeface="Helvetica Neue"/>
              </a:defRPr>
            </a:pPr>
            <a:r>
              <a:rPr sz="1950" b="0">
                <a:solidFill>
                  <a:srgbClr val="17313D"/>
                </a:solidFill>
                <a:latin typeface="Helvetica Neue"/>
                <a:ea typeface="Helvetica Neue"/>
                <a:cs typeface="Helvetica Neue"/>
              </a:rPr>
              <a:t>Auth</a:t>
            </a:r>
          </a:p>
        </p:txBody>
      </p:sp>
      <p:sp>
        <p:nvSpPr>
          <p:cNvPr id="5" name="node-Product">
            <a:extLst xmlns:a="http://schemas.openxmlformats.org/drawingml/2006/main">
              <a:ext uri="{FF2B5EF4-FFF2-40B4-BE49-F238E27FC236}">
                <a16:creationId xmlns:a16="http://schemas.microsoft.com/office/drawing/2014/main" id="{5AA40C46-7F85-4046-A93C-AF0E20697D4A}"/>
              </a:ext>
            </a:extLst>
          </p:cNvPr>
          <p:cNvSpPr>
            <a:spLocks xmlns:a="http://schemas.openxmlformats.org/drawingml/2006/main" noGrp="1"/>
          </p:cNvSpPr>
          <p:nvPr/>
        </p:nvSpPr>
        <p:spPr>
          <a:xfrm xmlns:a="http://schemas.openxmlformats.org/drawingml/2006/main">
            <a:off x="3390900" y="2905125"/>
            <a:ext cx="2571750" cy="781050"/>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313D"/>
                </a:solidFill>
                <a:latin typeface="Helvetica Neue"/>
                <a:ea typeface="Helvetica Neue"/>
                <a:cs typeface="Helvetica Neue"/>
              </a:defRPr>
            </a:defPPr>
          </a:lstStyle>
          <a:p xmlns:a="http://schemas.openxmlformats.org/drawingml/2006/main">
            <a:pPr algn="ctr">
              <a:defRPr sz="1950" b="0">
                <a:solidFill>
                  <a:srgbClr val="17313D"/>
                </a:solidFill>
                <a:latin typeface="Helvetica Neue"/>
                <a:ea typeface="Helvetica Neue"/>
                <a:cs typeface="Helvetica Neue"/>
              </a:defRPr>
            </a:pPr>
            <a:r>
              <a:rPr sz="1950" b="0">
                <a:solidFill>
                  <a:srgbClr val="17313D"/>
                </a:solidFill>
                <a:latin typeface="Helvetica Neue"/>
                <a:ea typeface="Helvetica Neue"/>
                <a:cs typeface="Helvetica Neue"/>
              </a:rPr>
              <a:t>Product</a:t>
            </a:r>
          </a:p>
        </p:txBody>
      </p:sp>
      <p:sp>
        <p:nvSpPr>
          <p:cNvPr id="6" name="node-Order">
            <a:extLst xmlns:a="http://schemas.openxmlformats.org/drawingml/2006/main">
              <a:ext uri="{FF2B5EF4-FFF2-40B4-BE49-F238E27FC236}">
                <a16:creationId xmlns:a16="http://schemas.microsoft.com/office/drawing/2014/main" id="{8C252DB4-5C8D-47E7-8B6B-62EC90A38545}"/>
              </a:ext>
            </a:extLst>
          </p:cNvPr>
          <p:cNvSpPr>
            <a:spLocks xmlns:a="http://schemas.openxmlformats.org/drawingml/2006/main" noGrp="1"/>
          </p:cNvSpPr>
          <p:nvPr/>
        </p:nvSpPr>
        <p:spPr>
          <a:xfrm xmlns:a="http://schemas.openxmlformats.org/drawingml/2006/main">
            <a:off x="6210300" y="2905125"/>
            <a:ext cx="2571750" cy="781050"/>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313D"/>
                </a:solidFill>
                <a:latin typeface="Helvetica Neue"/>
                <a:ea typeface="Helvetica Neue"/>
                <a:cs typeface="Helvetica Neue"/>
              </a:defRPr>
            </a:defPPr>
          </a:lstStyle>
          <a:p xmlns:a="http://schemas.openxmlformats.org/drawingml/2006/main">
            <a:pPr algn="ctr">
              <a:defRPr sz="1950" b="0">
                <a:solidFill>
                  <a:srgbClr val="17313D"/>
                </a:solidFill>
                <a:latin typeface="Helvetica Neue"/>
                <a:ea typeface="Helvetica Neue"/>
                <a:cs typeface="Helvetica Neue"/>
              </a:defRPr>
            </a:pPr>
            <a:r>
              <a:rPr sz="1950" b="0">
                <a:solidFill>
                  <a:srgbClr val="17313D"/>
                </a:solidFill>
                <a:latin typeface="Helvetica Neue"/>
                <a:ea typeface="Helvetica Neue"/>
                <a:cs typeface="Helvetica Neue"/>
              </a:rPr>
              <a:t>Order</a:t>
            </a:r>
          </a:p>
        </p:txBody>
      </p:sp>
      <p:sp>
        <p:nvSpPr>
          <p:cNvPr id="7" name="node-Notification">
            <a:extLst xmlns:a="http://schemas.openxmlformats.org/drawingml/2006/main">
              <a:ext uri="{FF2B5EF4-FFF2-40B4-BE49-F238E27FC236}">
                <a16:creationId xmlns:a16="http://schemas.microsoft.com/office/drawing/2014/main" id="{4EB4DC1D-7CF9-4270-B5D6-C6DDF3A2DBB6}"/>
              </a:ext>
            </a:extLst>
          </p:cNvPr>
          <p:cNvSpPr>
            <a:spLocks xmlns:a="http://schemas.openxmlformats.org/drawingml/2006/main" noGrp="1"/>
          </p:cNvSpPr>
          <p:nvPr/>
        </p:nvSpPr>
        <p:spPr>
          <a:xfrm xmlns:a="http://schemas.openxmlformats.org/drawingml/2006/main">
            <a:off x="9029700" y="2905125"/>
            <a:ext cx="2571750" cy="781050"/>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313D"/>
                </a:solidFill>
                <a:latin typeface="Helvetica Neue"/>
                <a:ea typeface="Helvetica Neue"/>
                <a:cs typeface="Helvetica Neue"/>
              </a:defRPr>
            </a:defPPr>
          </a:lstStyle>
          <a:p xmlns:a="http://schemas.openxmlformats.org/drawingml/2006/main">
            <a:pPr algn="ctr">
              <a:defRPr sz="1950" b="0">
                <a:solidFill>
                  <a:srgbClr val="17313D"/>
                </a:solidFill>
                <a:latin typeface="Helvetica Neue"/>
                <a:ea typeface="Helvetica Neue"/>
                <a:cs typeface="Helvetica Neue"/>
              </a:defRPr>
            </a:pPr>
            <a:r>
              <a:rPr sz="1950" b="0">
                <a:solidFill>
                  <a:srgbClr val="17313D"/>
                </a:solidFill>
                <a:latin typeface="Helvetica Neue"/>
                <a:ea typeface="Helvetica Neue"/>
                <a:cs typeface="Helvetica Neue"/>
              </a:rPr>
              <a:t>Notification</a:t>
            </a:r>
          </a:p>
        </p:txBody>
      </p:sp>
      <p:sp>
        <p:nvSpPr>
          <p:cNvPr id="11" name="Express services">
            <a:extLst xmlns:a="http://schemas.openxmlformats.org/drawingml/2006/main">
              <a:ext uri="{FF2B5EF4-FFF2-40B4-BE49-F238E27FC236}">
                <a16:creationId xmlns:a16="http://schemas.microsoft.com/office/drawing/2014/main" id="{671280E6-8E67-43CC-A0F2-83B4C42A9C7F}"/>
              </a:ext>
            </a:extLst>
          </p:cNvPr>
          <p:cNvSpPr>
            <a:spLocks xmlns:a="http://schemas.openxmlformats.org/drawingml/2006/main" noGrp="1"/>
          </p:cNvSpPr>
          <p:nvPr/>
        </p:nvSpPr>
        <p:spPr>
          <a:xfrm xmlns:a="http://schemas.openxmlformats.org/drawingml/2006/main">
            <a:off x="571500" y="24288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36A73"/>
                </a:solidFill>
                <a:latin typeface="Helvetica Neue"/>
                <a:ea typeface="Helvetica Neue"/>
                <a:cs typeface="Helvetica Neue"/>
              </a:defRPr>
            </a:defPPr>
          </a:lstStyle>
          <a:p xmlns:a="http://schemas.openxmlformats.org/drawingml/2006/main">
            <a:pPr algn="l">
              <a:defRPr sz="1800" b="0">
                <a:solidFill>
                  <a:srgbClr val="536A73"/>
                </a:solidFill>
                <a:latin typeface="Helvetica Neue"/>
                <a:ea typeface="Helvetica Neue"/>
                <a:cs typeface="Helvetica Neue"/>
              </a:defRPr>
            </a:pPr>
            <a:r>
              <a:rPr sz="1800" b="0">
                <a:solidFill>
                  <a:srgbClr val="536A73"/>
                </a:solidFill>
                <a:latin typeface="Helvetica Neue"/>
                <a:ea typeface="Helvetica Neue"/>
                <a:cs typeface="Helvetica Neue"/>
              </a:rPr>
              <a:t>Express services</a:t>
            </a:r>
          </a:p>
        </p:txBody>
      </p:sp>
      <p:graphicFrame>
        <p:nvGraphicFramePr>
          <p:cNvPr id="12" name="">
            <a:extLst xmlns:a="http://schemas.openxmlformats.org/drawingml/2006/main">
              <a:ext uri="{FF2B5EF4-FFF2-40B4-BE49-F238E27FC236}">
                <a16:creationId xmlns:a16="http://schemas.microsoft.com/office/drawing/2014/main" id="{45ABD14C-6A80-40EC-952F-BEA441D53E1A}"/>
              </a:ext>
            </a:extLst>
          </p:cNvPr>
          <p:cNvGraphicFramePr/>
          <p:nvPr/>
        </p:nvGraphicFramePr>
        <p:xfrm>
          <a:off xmlns:a="http://schemas.openxmlformats.org/drawingml/2006/main" x="571500" y="4362450"/>
          <a:ext xmlns:a="http://schemas.openxmlformats.org/drawingml/2006/main" cx="11049000" cy="1285875"/>
        </p:xfrm>
        <a:graphic xmlns:a="http://schemas.openxmlformats.org/drawingml/2006/main">
          <a:graphicData uri="http://schemas.openxmlformats.org/drawingml/2006/table">
            <a:tbl>
              <a:tblPr/>
              <a:tblGrid>
                <a:gridCol w="9048750"/>
                <a:gridCol w="2000250"/>
              </a:tblGrid>
              <a:tr h="642938">
                <a:tc>
                  <a:txBody>
                    <a:bodyPr/>
                    <a:lstStyle/>
                    <a:p>
                      <a:r>
                        <a:rPr sz="1950" b="1">
                          <a:solidFill>
                            <a:srgbClr val="FFFFFF"/>
                          </a:solidFill>
                          <a:latin typeface="Helvetica Neue"/>
                          <a:ea typeface="Helvetica Neue"/>
                          <a:cs typeface="Helvetica Neue"/>
                        </a:rPr>
                        <a:t>Data services</a:t>
                      </a:r>
                    </a:p>
                  </a:txBody>
                  <a:tcPr marL="133350" marR="95250" marT="95250" marB="95250" anchor="ctr">
                    <a:solidFill>
                      <a:srgbClr val="102A35"/>
                    </a:solidFill>
                  </a:tcPr>
                </a:tc>
                <a:tc>
                  <a:txBody>
                    <a:bodyPr/>
                    <a:lstStyle/>
                    <a:p>
                      <a:r>
                        <a:rPr sz="1950" b="1">
                          <a:solidFill>
                            <a:srgbClr val="FFFFFF"/>
                          </a:solidFill>
                          <a:latin typeface="Helvetica Neue"/>
                          <a:ea typeface="Helvetica Neue"/>
                          <a:cs typeface="Helvetica Neue"/>
                        </a:rPr>
                        <a:t>Tool</a:t>
                      </a:r>
                    </a:p>
                  </a:txBody>
                  <a:tcPr marL="133350" marR="95250" marT="95250" marB="95250" anchor="ctr">
                    <a:solidFill>
                      <a:srgbClr val="102A35"/>
                    </a:solidFill>
                  </a:tcPr>
                </a:tc>
              </a:tr>
              <a:tr h="642938">
                <a:tc>
                  <a:txBody>
                    <a:bodyPr/>
                    <a:lstStyle/>
                    <a:p>
                      <a:r>
                        <a:rPr sz="1950" b="0">
                          <a:solidFill>
                            <a:srgbClr val="17313D"/>
                          </a:solidFill>
                          <a:latin typeface="Helvetica Neue"/>
                          <a:ea typeface="Helvetica Neue"/>
                          <a:cs typeface="Helvetica Neue"/>
                        </a:rPr>
                        <a:t>PostgreSQL  MongoDB  Redis  RabbitMQ</a:t>
                      </a:r>
                    </a:p>
                  </a:txBody>
                  <a:tcPr marL="133350" marR="95250" marT="95250" marB="95250" anchor="ctr">
                    <a:solidFill>
                      <a:srgbClr val="FAFCFC"/>
                    </a:solidFill>
                  </a:tcPr>
                </a:tc>
                <a:tc>
                  <a:txBody>
                    <a:bodyPr/>
                    <a:lstStyle/>
                    <a:p>
                      <a:r>
                        <a:rPr sz="1950" b="0">
                          <a:solidFill>
                            <a:srgbClr val="17313D"/>
                          </a:solidFill>
                          <a:latin typeface="Helvetica Neue"/>
                          <a:ea typeface="Helvetica Neue"/>
                          <a:cs typeface="Helvetica Neue"/>
                        </a:rPr>
                        <a:t>MailHog</a:t>
                      </a:r>
                    </a:p>
                  </a:txBody>
                  <a:tcPr marL="133350" marR="95250" marT="95250" marB="95250" anchor="ctr">
                    <a:solidFill>
                      <a:srgbClr val="FAFCFC"/>
                    </a:solidFill>
                  </a:tcPr>
                </a:tc>
              </a:tr>
            </a:tbl>
          </a:graphicData>
        </a:graphic>
      </p:graphicFrame>
      <p:sp>
        <p:nvSpPr>
          <p:cNvPr id="13" name="10 containers   /   MIT target   /   Local Compo">
            <a:extLst xmlns:a="http://schemas.openxmlformats.org/drawingml/2006/main">
              <a:ext uri="{FF2B5EF4-FFF2-40B4-BE49-F238E27FC236}">
                <a16:creationId xmlns:a16="http://schemas.microsoft.com/office/drawing/2014/main" id="{DA447246-BA68-429A-88A6-8897ED9A8ADB}"/>
              </a:ext>
            </a:extLst>
          </p:cNvPr>
          <p:cNvSpPr>
            <a:spLocks xmlns:a="http://schemas.openxmlformats.org/drawingml/2006/main" noGrp="1"/>
          </p:cNvSpPr>
          <p:nvPr/>
        </p:nvSpPr>
        <p:spPr>
          <a:xfrm xmlns:a="http://schemas.openxmlformats.org/drawingml/2006/main">
            <a:off x="571500" y="58102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087D82"/>
                </a:solidFill>
                <a:latin typeface="Helvetica Neue"/>
                <a:ea typeface="Helvetica Neue"/>
                <a:cs typeface="Helvetica Neue"/>
              </a:defRPr>
            </a:defPPr>
          </a:lstStyle>
          <a:p xmlns:a="http://schemas.openxmlformats.org/drawingml/2006/main">
            <a:pPr algn="l">
              <a:defRPr sz="1950" b="1">
                <a:solidFill>
                  <a:srgbClr val="087D82"/>
                </a:solidFill>
                <a:latin typeface="Helvetica Neue"/>
                <a:ea typeface="Helvetica Neue"/>
                <a:cs typeface="Helvetica Neue"/>
              </a:defRPr>
            </a:pPr>
            <a:r>
              <a:rPr sz="1950" b="1">
                <a:solidFill>
                  <a:srgbClr val="087D82"/>
                </a:solidFill>
                <a:latin typeface="Helvetica Neue"/>
                <a:ea typeface="Helvetica Neue"/>
                <a:cs typeface="Helvetica Neue"/>
              </a:rPr>
              <a:t>10 containers   /   MIT target   /   Local Compose sandbox</a:t>
            </a:r>
          </a:p>
        </p:txBody>
      </p:sp>
    </p:spTree>
    <p:extLst>
      <p:ext uri="{BB962C8B-B14F-4D97-AF65-F5344CB8AC3E}">
        <p14:creationId xmlns:p14="http://schemas.microsoft.com/office/powerpoint/2010/main" val="1396902270"/>
      </p:ext>
    </p:extLst>
  </p:cSld>
</p:sld>
</file>

<file path=ppt/slides/slide4.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C2018A65-67A4-4858-B79C-E01E22DED71A}"/>
              </a:ext>
            </a:extLst>
          </p:cNvPr>
          <p:cNvCxnSpPr>
            <a:stCxn xmlns:a="http://schemas.openxmlformats.org/drawingml/2006/main" id="19" idx="3"/>
            <a:endCxn xmlns:a="http://schemas.openxmlformats.org/drawingml/2006/main" id="20" idx="1"/>
          </p:cNvCxnSpPr>
          <p:nvPr/>
        </p:nvCxnSpPr>
        <p:spPr>
          <a:xfrm xmlns:a="http://schemas.openxmlformats.org/drawingml/2006/main">
            <a:off x="4000500" y="5476875"/>
            <a:ext cx="476250" cy="0"/>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F59BD2F8-638C-4502-B9C7-48DE14E270ED}"/>
              </a:ext>
            </a:extLst>
          </p:cNvPr>
          <p:cNvCxnSpPr>
            <a:stCxn xmlns:a="http://schemas.openxmlformats.org/drawingml/2006/main" id="10" idx="2"/>
            <a:endCxn xmlns:a="http://schemas.openxmlformats.org/drawingml/2006/main" id="16" idx="0"/>
          </p:cNvCxnSpPr>
          <p:nvPr/>
        </p:nvCxnSpPr>
        <p:spPr>
          <a:xfrm xmlns:a="http://schemas.openxmlformats.org/drawingml/2006/main" flipH="1">
            <a:off x="10334625" y="4714875"/>
            <a:ext cx="261938" cy="428625"/>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4576CD4F-49F7-4960-8964-E4BE8126375B}"/>
              </a:ext>
            </a:extLst>
          </p:cNvPr>
          <p:cNvCxnSpPr>
            <a:stCxn xmlns:a="http://schemas.openxmlformats.org/drawingml/2006/main" id="9" idx="2"/>
            <a:endCxn xmlns:a="http://schemas.openxmlformats.org/drawingml/2006/main" id="16" idx="0"/>
          </p:cNvCxnSpPr>
          <p:nvPr/>
        </p:nvCxnSpPr>
        <p:spPr>
          <a:xfrm xmlns:a="http://schemas.openxmlformats.org/drawingml/2006/main">
            <a:off x="8286750" y="4714875"/>
            <a:ext cx="2047875" cy="428625"/>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599315B6-F21D-4C8F-B1F4-B9B2FDF77F68}"/>
              </a:ext>
            </a:extLst>
          </p:cNvPr>
          <p:cNvCxnSpPr>
            <a:stCxn xmlns:a="http://schemas.openxmlformats.org/drawingml/2006/main" id="4" idx="2"/>
            <a:endCxn xmlns:a="http://schemas.openxmlformats.org/drawingml/2006/main" id="10" idx="0"/>
          </p:cNvCxnSpPr>
          <p:nvPr/>
        </p:nvCxnSpPr>
        <p:spPr>
          <a:xfrm xmlns:a="http://schemas.openxmlformats.org/drawingml/2006/main">
            <a:off x="6048375" y="3190875"/>
            <a:ext cx="4548188" cy="619125"/>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DB3E4D34-36F7-49A7-9DAF-05969CDE3EEC}"/>
              </a:ext>
            </a:extLst>
          </p:cNvPr>
          <p:cNvCxnSpPr>
            <a:stCxn xmlns:a="http://schemas.openxmlformats.org/drawingml/2006/main" id="4" idx="2"/>
            <a:endCxn xmlns:a="http://schemas.openxmlformats.org/drawingml/2006/main" id="9" idx="0"/>
          </p:cNvCxnSpPr>
          <p:nvPr/>
        </p:nvCxnSpPr>
        <p:spPr>
          <a:xfrm xmlns:a="http://schemas.openxmlformats.org/drawingml/2006/main">
            <a:off x="6048375" y="3190875"/>
            <a:ext cx="2238375" cy="619125"/>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2C795241-2647-4F18-8084-E621973F6D0C}"/>
              </a:ext>
            </a:extLst>
          </p:cNvPr>
          <p:cNvCxnSpPr>
            <a:stCxn xmlns:a="http://schemas.openxmlformats.org/drawingml/2006/main" id="4" idx="2"/>
            <a:endCxn xmlns:a="http://schemas.openxmlformats.org/drawingml/2006/main" id="8" idx="0"/>
          </p:cNvCxnSpPr>
          <p:nvPr/>
        </p:nvCxnSpPr>
        <p:spPr>
          <a:xfrm xmlns:a="http://schemas.openxmlformats.org/drawingml/2006/main" flipH="1">
            <a:off x="5905500" y="3190875"/>
            <a:ext cx="142875" cy="619125"/>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E1EDAD89-34E2-4FC6-88A8-58F69CE06526}"/>
              </a:ext>
            </a:extLst>
          </p:cNvPr>
          <p:cNvCxnSpPr>
            <a:stCxn xmlns:a="http://schemas.openxmlformats.org/drawingml/2006/main" id="4" idx="2"/>
            <a:endCxn xmlns:a="http://schemas.openxmlformats.org/drawingml/2006/main" id="7" idx="0"/>
          </p:cNvCxnSpPr>
          <p:nvPr/>
        </p:nvCxnSpPr>
        <p:spPr>
          <a:xfrm xmlns:a="http://schemas.openxmlformats.org/drawingml/2006/main" flipH="1">
            <a:off x="3619500" y="3190875"/>
            <a:ext cx="2428875" cy="619125"/>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4D75FC84-C8A3-49E2-B48E-48A80111E290}"/>
              </a:ext>
            </a:extLst>
          </p:cNvPr>
          <p:cNvCxnSpPr>
            <a:stCxn xmlns:a="http://schemas.openxmlformats.org/drawingml/2006/main" id="4" idx="2"/>
            <a:endCxn xmlns:a="http://schemas.openxmlformats.org/drawingml/2006/main" id="6" idx="0"/>
          </p:cNvCxnSpPr>
          <p:nvPr/>
        </p:nvCxnSpPr>
        <p:spPr>
          <a:xfrm xmlns:a="http://schemas.openxmlformats.org/drawingml/2006/main" flipH="1">
            <a:off x="1500188" y="3190875"/>
            <a:ext cx="4548188" cy="619125"/>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5" name="">
            <a:extLst xmlns:a="http://schemas.openxmlformats.org/drawingml/2006/main">
              <a:ext uri="{FF2B5EF4-FFF2-40B4-BE49-F238E27FC236}">
                <a16:creationId xmlns:a16="http://schemas.microsoft.com/office/drawing/2014/main" id="{8B834B27-57AE-417D-8AA6-00371650DC4E}"/>
              </a:ext>
            </a:extLst>
          </p:cNvPr>
          <p:cNvCxnSpPr>
            <a:stCxn xmlns:a="http://schemas.openxmlformats.org/drawingml/2006/main" id="3" idx="2"/>
            <a:endCxn xmlns:a="http://schemas.openxmlformats.org/drawingml/2006/main" id="4" idx="0"/>
          </p:cNvCxnSpPr>
          <p:nvPr/>
        </p:nvCxnSpPr>
        <p:spPr>
          <a:xfrm xmlns:a="http://schemas.openxmlformats.org/drawingml/2006/main">
            <a:off x="6048375" y="2095500"/>
            <a:ext cx="0" cy="381000"/>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sp>
        <p:nvSpPr>
          <p:cNvPr id="25" name="slide-title">
            <a:extLst xmlns:a="http://schemas.openxmlformats.org/drawingml/2006/main">
              <a:ext uri="{FF2B5EF4-FFF2-40B4-BE49-F238E27FC236}">
                <a16:creationId xmlns:a16="http://schemas.microsoft.com/office/drawing/2014/main" id="{4DA78F71-09E1-419A-9E37-37A316490252}"/>
              </a:ext>
            </a:extLst>
          </p:cNvPr>
          <p:cNvSpPr>
            <a:spLocks xmlns:a="http://schemas.openxmlformats.org/drawingml/2006/main" noGrp="1"/>
          </p:cNvSpPr>
          <p:nvPr/>
        </p:nvSpPr>
        <p:spPr>
          <a:xfrm xmlns:a="http://schemas.openxmlformats.org/drawingml/2006/main">
            <a:off x="571500" y="4572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313D"/>
                </a:solidFill>
                <a:latin typeface="Helvetica Neue"/>
                <a:ea typeface="Helvetica Neue"/>
                <a:cs typeface="Helvetica Neue"/>
              </a:defRPr>
            </a:defPPr>
          </a:lstStyle>
          <a:p xmlns:a="http://schemas.openxmlformats.org/drawingml/2006/main">
            <a:pPr algn="l">
              <a:defRPr sz="3300" b="1">
                <a:solidFill>
                  <a:srgbClr val="17313D"/>
                </a:solidFill>
                <a:latin typeface="Helvetica Neue"/>
                <a:ea typeface="Helvetica Neue"/>
                <a:cs typeface="Helvetica Neue"/>
              </a:defRPr>
            </a:pPr>
            <a:r>
              <a:rPr sz="3300" b="1">
                <a:solidFill>
                  <a:srgbClr val="17313D"/>
                </a:solidFill>
                <a:latin typeface="Helvetica Neue"/>
                <a:ea typeface="Helvetica Neue"/>
                <a:cs typeface="Helvetica Neue"/>
              </a:rPr>
              <a:t>Architecture</a:t>
            </a:r>
          </a:p>
        </p:txBody>
      </p:sp>
      <p:sp>
        <p:nvSpPr>
          <p:cNvPr id="2" name="page-number">
            <a:extLst xmlns:a="http://schemas.openxmlformats.org/drawingml/2006/main">
              <a:ext uri="{FF2B5EF4-FFF2-40B4-BE49-F238E27FC236}">
                <a16:creationId xmlns:a16="http://schemas.microsoft.com/office/drawing/2014/main" id="{D370DD8D-F2B6-4BBC-B0A8-6CB82E15F150}"/>
              </a:ext>
            </a:extLst>
          </p:cNvPr>
          <p:cNvSpPr>
            <a:spLocks xmlns:a="http://schemas.openxmlformats.org/drawingml/2006/main" noGrp="1"/>
          </p:cNvSpPr>
          <p:nvPr/>
        </p:nvSpPr>
        <p:spPr>
          <a:xfrm xmlns:a="http://schemas.openxmlformats.org/drawingml/2006/main">
            <a:off x="11049000" y="61341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36A73"/>
                </a:solidFill>
                <a:latin typeface="Helvetica Neue"/>
                <a:ea typeface="Helvetica Neue"/>
                <a:cs typeface="Helvetica Neue"/>
              </a:defRPr>
            </a:defPPr>
          </a:lstStyle>
          <a:p xmlns:a="http://schemas.openxmlformats.org/drawingml/2006/main">
            <a:pPr algn="r">
              <a:defRPr sz="1350" b="0">
                <a:solidFill>
                  <a:srgbClr val="536A73"/>
                </a:solidFill>
                <a:latin typeface="Helvetica Neue"/>
                <a:ea typeface="Helvetica Neue"/>
                <a:cs typeface="Helvetica Neue"/>
              </a:defRPr>
            </a:pPr>
            <a:r>
              <a:rPr sz="1350" b="0">
                <a:solidFill>
                  <a:srgbClr val="536A73"/>
                </a:solidFill>
                <a:latin typeface="Helvetica Neue"/>
                <a:ea typeface="Helvetica Neue"/>
                <a:cs typeface="Helvetica Neue"/>
              </a:rPr>
              <a:t>04</a:t>
            </a:r>
          </a:p>
        </p:txBody>
      </p:sp>
      <p:sp>
        <p:nvSpPr>
          <p:cNvPr id="3" name="node-CLI">
            <a:extLst xmlns:a="http://schemas.openxmlformats.org/drawingml/2006/main">
              <a:ext uri="{FF2B5EF4-FFF2-40B4-BE49-F238E27FC236}">
                <a16:creationId xmlns:a16="http://schemas.microsoft.com/office/drawing/2014/main" id="{35EB3354-740F-42C2-8A61-EED099E87D06}"/>
              </a:ext>
            </a:extLst>
          </p:cNvPr>
          <p:cNvSpPr>
            <a:spLocks xmlns:a="http://schemas.openxmlformats.org/drawingml/2006/main" noGrp="1"/>
          </p:cNvSpPr>
          <p:nvPr/>
        </p:nvSpPr>
        <p:spPr>
          <a:xfrm xmlns:a="http://schemas.openxmlformats.org/drawingml/2006/main">
            <a:off x="4619625" y="1476375"/>
            <a:ext cx="2857500" cy="619125"/>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313D"/>
                </a:solidFill>
                <a:latin typeface="Helvetica Neue"/>
                <a:ea typeface="Helvetica Neue"/>
                <a:cs typeface="Helvetica Neue"/>
              </a:defRPr>
            </a:defPPr>
          </a:lstStyle>
          <a:p xmlns:a="http://schemas.openxmlformats.org/drawingml/2006/main">
            <a:pPr algn="ctr">
              <a:defRPr sz="1950" b="0">
                <a:solidFill>
                  <a:srgbClr val="17313D"/>
                </a:solidFill>
                <a:latin typeface="Helvetica Neue"/>
                <a:ea typeface="Helvetica Neue"/>
                <a:cs typeface="Helvetica Neue"/>
              </a:defRPr>
            </a:pPr>
            <a:r>
              <a:rPr sz="1950" b="0">
                <a:solidFill>
                  <a:srgbClr val="17313D"/>
                </a:solidFill>
                <a:latin typeface="Helvetica Neue"/>
                <a:ea typeface="Helvetica Neue"/>
                <a:cs typeface="Helvetica Neue"/>
              </a:rPr>
              <a:t>CLI</a:t>
            </a:r>
          </a:p>
        </p:txBody>
      </p:sp>
      <p:sp>
        <p:nvSpPr>
          <p:cNvPr id="4" name="node-Runner">
            <a:extLst xmlns:a="http://schemas.openxmlformats.org/drawingml/2006/main">
              <a:ext uri="{FF2B5EF4-FFF2-40B4-BE49-F238E27FC236}">
                <a16:creationId xmlns:a16="http://schemas.microsoft.com/office/drawing/2014/main" id="{14C3A784-4990-4E3C-A9DC-B2522FCE923F}"/>
              </a:ext>
            </a:extLst>
          </p:cNvPr>
          <p:cNvSpPr>
            <a:spLocks xmlns:a="http://schemas.openxmlformats.org/drawingml/2006/main" noGrp="1"/>
          </p:cNvSpPr>
          <p:nvPr/>
        </p:nvSpPr>
        <p:spPr>
          <a:xfrm xmlns:a="http://schemas.openxmlformats.org/drawingml/2006/main">
            <a:off x="4619625" y="2476500"/>
            <a:ext cx="285750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313D"/>
                </a:solidFill>
                <a:latin typeface="Helvetica Neue"/>
                <a:ea typeface="Helvetica Neue"/>
                <a:cs typeface="Helvetica Neue"/>
              </a:defRPr>
            </a:defPPr>
          </a:lstStyle>
          <a:p xmlns:a="http://schemas.openxmlformats.org/drawingml/2006/main">
            <a:pPr algn="ctr">
              <a:defRPr sz="1950" b="0">
                <a:solidFill>
                  <a:srgbClr val="17313D"/>
                </a:solidFill>
                <a:latin typeface="Helvetica Neue"/>
                <a:ea typeface="Helvetica Neue"/>
                <a:cs typeface="Helvetica Neue"/>
              </a:defRPr>
            </a:pPr>
            <a:r>
              <a:rPr sz="1950" b="0">
                <a:solidFill>
                  <a:srgbClr val="17313D"/>
                </a:solidFill>
                <a:latin typeface="Helvetica Neue"/>
                <a:ea typeface="Helvetica Neue"/>
                <a:cs typeface="Helvetica Neue"/>
              </a:rPr>
              <a:t>Runner</a:t>
            </a:r>
          </a:p>
        </p:txBody>
      </p:sp>
      <p:sp>
        <p:nvSpPr>
          <p:cNvPr id="6" name="node-Mapper">
            <a:extLst xmlns:a="http://schemas.openxmlformats.org/drawingml/2006/main">
              <a:ext uri="{FF2B5EF4-FFF2-40B4-BE49-F238E27FC236}">
                <a16:creationId xmlns:a16="http://schemas.microsoft.com/office/drawing/2014/main" id="{44FC4497-BF88-44BC-B6B3-BB5DBD8CDB29}"/>
              </a:ext>
            </a:extLst>
          </p:cNvPr>
          <p:cNvSpPr>
            <a:spLocks xmlns:a="http://schemas.openxmlformats.org/drawingml/2006/main" noGrp="1"/>
          </p:cNvSpPr>
          <p:nvPr/>
        </p:nvSpPr>
        <p:spPr>
          <a:xfrm xmlns:a="http://schemas.openxmlformats.org/drawingml/2006/main">
            <a:off x="571500" y="3810000"/>
            <a:ext cx="1857375"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313D"/>
                </a:solidFill>
                <a:latin typeface="Helvetica Neue"/>
                <a:ea typeface="Helvetica Neue"/>
                <a:cs typeface="Helvetica Neue"/>
              </a:defRPr>
            </a:defPPr>
          </a:lstStyle>
          <a:p xmlns:a="http://schemas.openxmlformats.org/drawingml/2006/main">
            <a:pPr algn="ctr">
              <a:defRPr sz="1950" b="0">
                <a:solidFill>
                  <a:srgbClr val="17313D"/>
                </a:solidFill>
                <a:latin typeface="Helvetica Neue"/>
                <a:ea typeface="Helvetica Neue"/>
                <a:cs typeface="Helvetica Neue"/>
              </a:defRPr>
            </a:pPr>
            <a:r>
              <a:rPr sz="1950" b="0">
                <a:solidFill>
                  <a:srgbClr val="17313D"/>
                </a:solidFill>
                <a:latin typeface="Helvetica Neue"/>
                <a:ea typeface="Helvetica Neue"/>
                <a:cs typeface="Helvetica Neue"/>
              </a:rPr>
              <a:t>Mapper</a:t>
            </a:r>
          </a:p>
        </p:txBody>
      </p:sp>
      <p:sp>
        <p:nvSpPr>
          <p:cNvPr id="7" name="node-Load + baseline">
            <a:extLst xmlns:a="http://schemas.openxmlformats.org/drawingml/2006/main">
              <a:ext uri="{FF2B5EF4-FFF2-40B4-BE49-F238E27FC236}">
                <a16:creationId xmlns:a16="http://schemas.microsoft.com/office/drawing/2014/main" id="{89771360-4A5B-4B84-AC7A-BA11B7C5636E}"/>
              </a:ext>
            </a:extLst>
          </p:cNvPr>
          <p:cNvSpPr>
            <a:spLocks xmlns:a="http://schemas.openxmlformats.org/drawingml/2006/main" noGrp="1"/>
          </p:cNvSpPr>
          <p:nvPr/>
        </p:nvSpPr>
        <p:spPr>
          <a:xfrm xmlns:a="http://schemas.openxmlformats.org/drawingml/2006/main">
            <a:off x="2667000" y="3810000"/>
            <a:ext cx="1905000"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313D"/>
                </a:solidFill>
                <a:latin typeface="Helvetica Neue"/>
                <a:ea typeface="Helvetica Neue"/>
                <a:cs typeface="Helvetica Neue"/>
              </a:defRPr>
            </a:defPPr>
          </a:lstStyle>
          <a:p xmlns:a="http://schemas.openxmlformats.org/drawingml/2006/main">
            <a:pPr algn="ctr">
              <a:defRPr sz="1950" b="0">
                <a:solidFill>
                  <a:srgbClr val="17313D"/>
                </a:solidFill>
                <a:latin typeface="Helvetica Neue"/>
                <a:ea typeface="Helvetica Neue"/>
                <a:cs typeface="Helvetica Neue"/>
              </a:defRPr>
            </a:pPr>
            <a:r>
              <a:rPr sz="1950" b="0">
                <a:solidFill>
                  <a:srgbClr val="17313D"/>
                </a:solidFill>
                <a:latin typeface="Helvetica Neue"/>
                <a:ea typeface="Helvetica Neue"/>
                <a:cs typeface="Helvetica Neue"/>
              </a:rPr>
              <a:t>Load + baseline</a:t>
            </a:r>
          </a:p>
        </p:txBody>
      </p:sp>
      <p:sp>
        <p:nvSpPr>
          <p:cNvPr id="8" name="node-Planner&#10;+ fallback">
            <a:extLst xmlns:a="http://schemas.openxmlformats.org/drawingml/2006/main">
              <a:ext uri="{FF2B5EF4-FFF2-40B4-BE49-F238E27FC236}">
                <a16:creationId xmlns:a16="http://schemas.microsoft.com/office/drawing/2014/main" id="{CB7D5EAC-5D71-49E9-BEF2-F65349E866CD}"/>
              </a:ext>
            </a:extLst>
          </p:cNvPr>
          <p:cNvSpPr>
            <a:spLocks xmlns:a="http://schemas.openxmlformats.org/drawingml/2006/main" noGrp="1"/>
          </p:cNvSpPr>
          <p:nvPr/>
        </p:nvSpPr>
        <p:spPr>
          <a:xfrm xmlns:a="http://schemas.openxmlformats.org/drawingml/2006/main">
            <a:off x="4810125" y="3810000"/>
            <a:ext cx="2190750" cy="904875"/>
          </a:xfrm>
          <a:prstGeom xmlns:a="http://schemas.openxmlformats.org/drawingml/2006/main" prst="rect">
            <a:avLst/>
          </a:prstGeom>
          <a:solidFill xmlns:a="http://schemas.openxmlformats.org/drawingml/2006/main">
            <a:srgbClr val="E8F4F3"/>
          </a:solidFill>
          <a:ln xmlns:a="http://schemas.openxmlformats.org/drawingml/2006/main" w="14288">
            <a:solidFill>
              <a:srgbClr val="087D82"/>
            </a:solidFill>
          </a:ln>
        </p:spPr>
        <p:txBody>
          <a:bodyPr xmlns:a="http://schemas.openxmlformats.org/drawingml/2006/main" wrap="square" lIns="114300" tIns="114300" rIns="114300" bIns="114300" anchor="ctr">
            <a:noAutofit/>
          </a:bodyPr>
          <a:lstStyle xmlns:a="http://schemas.openxmlformats.org/drawingml/2006/main">
            <a:defPPr algn="ctr">
              <a:defRPr sz="1950" b="1">
                <a:solidFill>
                  <a:srgbClr val="087D82"/>
                </a:solidFill>
                <a:latin typeface="Helvetica Neue"/>
                <a:ea typeface="Helvetica Neue"/>
                <a:cs typeface="Helvetica Neue"/>
              </a:defRPr>
            </a:defPPr>
          </a:lstStyle>
          <a:p xmlns:a="http://schemas.openxmlformats.org/drawingml/2006/main">
            <a:pPr algn="ctr">
              <a:defRPr sz="1950" b="1">
                <a:solidFill>
                  <a:srgbClr val="087D82"/>
                </a:solidFill>
                <a:latin typeface="Helvetica Neue"/>
                <a:ea typeface="Helvetica Neue"/>
                <a:cs typeface="Helvetica Neue"/>
              </a:defRPr>
            </a:pPr>
            <a:r>
              <a:rPr sz="1950" b="1">
                <a:solidFill>
                  <a:srgbClr val="087D82"/>
                </a:solidFill>
                <a:latin typeface="Helvetica Neue"/>
                <a:ea typeface="Helvetica Neue"/>
                <a:cs typeface="Helvetica Neue"/>
              </a:rPr>
              <a:t>Planner</a:t>
            </a:r>
          </a:p>
          <a:p xmlns:a="http://schemas.openxmlformats.org/drawingml/2006/main">
            <a:pPr algn="ctr">
              <a:defRPr sz="1950" b="1">
                <a:solidFill>
                  <a:srgbClr val="087D82"/>
                </a:solidFill>
                <a:latin typeface="Helvetica Neue"/>
                <a:ea typeface="Helvetica Neue"/>
                <a:cs typeface="Helvetica Neue"/>
              </a:defRPr>
            </a:pPr>
            <a:r>
              <a:rPr sz="1950" b="1">
                <a:solidFill>
                  <a:srgbClr val="087D82"/>
                </a:solidFill>
                <a:latin typeface="Helvetica Neue"/>
                <a:ea typeface="Helvetica Neue"/>
                <a:cs typeface="Helvetica Neue"/>
              </a:rPr>
              <a:t>+ fallback</a:t>
            </a:r>
          </a:p>
        </p:txBody>
      </p:sp>
      <p:sp>
        <p:nvSpPr>
          <p:cNvPr id="9" name="node-Policy + journal&#10;+ injector">
            <a:extLst xmlns:a="http://schemas.openxmlformats.org/drawingml/2006/main">
              <a:ext uri="{FF2B5EF4-FFF2-40B4-BE49-F238E27FC236}">
                <a16:creationId xmlns:a16="http://schemas.microsoft.com/office/drawing/2014/main" id="{F86099F5-E2EE-4FAE-A5F1-1D17310EA1E6}"/>
              </a:ext>
            </a:extLst>
          </p:cNvPr>
          <p:cNvSpPr>
            <a:spLocks xmlns:a="http://schemas.openxmlformats.org/drawingml/2006/main" noGrp="1"/>
          </p:cNvSpPr>
          <p:nvPr/>
        </p:nvSpPr>
        <p:spPr>
          <a:xfrm xmlns:a="http://schemas.openxmlformats.org/drawingml/2006/main">
            <a:off x="7239000" y="3810000"/>
            <a:ext cx="2095500"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313D"/>
                </a:solidFill>
                <a:latin typeface="Helvetica Neue"/>
                <a:ea typeface="Helvetica Neue"/>
                <a:cs typeface="Helvetica Neue"/>
              </a:defRPr>
            </a:defPPr>
          </a:lstStyle>
          <a:p xmlns:a="http://schemas.openxmlformats.org/drawingml/2006/main">
            <a:pPr algn="ctr">
              <a:defRPr sz="1950" b="0">
                <a:solidFill>
                  <a:srgbClr val="17313D"/>
                </a:solidFill>
                <a:latin typeface="Helvetica Neue"/>
                <a:ea typeface="Helvetica Neue"/>
                <a:cs typeface="Helvetica Neue"/>
              </a:defRPr>
            </a:pPr>
            <a:r>
              <a:rPr sz="1950" b="0">
                <a:solidFill>
                  <a:srgbClr val="17313D"/>
                </a:solidFill>
                <a:latin typeface="Helvetica Neue"/>
                <a:ea typeface="Helvetica Neue"/>
                <a:cs typeface="Helvetica Neue"/>
              </a:rPr>
              <a:t>Policy + journal</a:t>
            </a:r>
          </a:p>
          <a:p xmlns:a="http://schemas.openxmlformats.org/drawingml/2006/main">
            <a:pPr algn="ctr">
              <a:defRPr sz="1950" b="0">
                <a:solidFill>
                  <a:srgbClr val="17313D"/>
                </a:solidFill>
                <a:latin typeface="Helvetica Neue"/>
                <a:ea typeface="Helvetica Neue"/>
                <a:cs typeface="Helvetica Neue"/>
              </a:defRPr>
            </a:pPr>
            <a:r>
              <a:rPr sz="1950" b="0">
                <a:solidFill>
                  <a:srgbClr val="17313D"/>
                </a:solidFill>
                <a:latin typeface="Helvetica Neue"/>
                <a:ea typeface="Helvetica Neue"/>
                <a:cs typeface="Helvetica Neue"/>
              </a:rPr>
              <a:t>+ injector</a:t>
            </a:r>
          </a:p>
        </p:txBody>
      </p:sp>
      <p:sp>
        <p:nvSpPr>
          <p:cNvPr id="10" name="node-Watchdog&#10;+ KILL">
            <a:extLst xmlns:a="http://schemas.openxmlformats.org/drawingml/2006/main">
              <a:ext uri="{FF2B5EF4-FFF2-40B4-BE49-F238E27FC236}">
                <a16:creationId xmlns:a16="http://schemas.microsoft.com/office/drawing/2014/main" id="{3CE4C16A-163A-48E9-B7D6-3F302E2A7C2B}"/>
              </a:ext>
            </a:extLst>
          </p:cNvPr>
          <p:cNvSpPr>
            <a:spLocks xmlns:a="http://schemas.openxmlformats.org/drawingml/2006/main" noGrp="1"/>
          </p:cNvSpPr>
          <p:nvPr/>
        </p:nvSpPr>
        <p:spPr>
          <a:xfrm xmlns:a="http://schemas.openxmlformats.org/drawingml/2006/main">
            <a:off x="9572625" y="3810000"/>
            <a:ext cx="2047875"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313D"/>
                </a:solidFill>
                <a:latin typeface="Helvetica Neue"/>
                <a:ea typeface="Helvetica Neue"/>
                <a:cs typeface="Helvetica Neue"/>
              </a:defRPr>
            </a:defPPr>
          </a:lstStyle>
          <a:p xmlns:a="http://schemas.openxmlformats.org/drawingml/2006/main">
            <a:pPr algn="ctr">
              <a:defRPr sz="1950" b="0">
                <a:solidFill>
                  <a:srgbClr val="17313D"/>
                </a:solidFill>
                <a:latin typeface="Helvetica Neue"/>
                <a:ea typeface="Helvetica Neue"/>
                <a:cs typeface="Helvetica Neue"/>
              </a:defRPr>
            </a:pPr>
            <a:r>
              <a:rPr sz="1950" b="0">
                <a:solidFill>
                  <a:srgbClr val="17313D"/>
                </a:solidFill>
                <a:latin typeface="Helvetica Neue"/>
                <a:ea typeface="Helvetica Neue"/>
                <a:cs typeface="Helvetica Neue"/>
              </a:rPr>
              <a:t>Watchdog</a:t>
            </a:r>
          </a:p>
          <a:p xmlns:a="http://schemas.openxmlformats.org/drawingml/2006/main">
            <a:pPr algn="ctr">
              <a:defRPr sz="1950" b="0">
                <a:solidFill>
                  <a:srgbClr val="17313D"/>
                </a:solidFill>
                <a:latin typeface="Helvetica Neue"/>
                <a:ea typeface="Helvetica Neue"/>
                <a:cs typeface="Helvetica Neue"/>
              </a:defRPr>
            </a:pPr>
            <a:r>
              <a:rPr sz="1950" b="0">
                <a:solidFill>
                  <a:srgbClr val="17313D"/>
                </a:solidFill>
                <a:latin typeface="Helvetica Neue"/>
                <a:ea typeface="Helvetica Neue"/>
                <a:cs typeface="Helvetica Neue"/>
              </a:rPr>
              <a:t>+ KILL</a:t>
            </a:r>
          </a:p>
        </p:txBody>
      </p:sp>
      <p:sp>
        <p:nvSpPr>
          <p:cNvPr id="16" name="node-Target app">
            <a:extLst xmlns:a="http://schemas.openxmlformats.org/drawingml/2006/main">
              <a:ext uri="{FF2B5EF4-FFF2-40B4-BE49-F238E27FC236}">
                <a16:creationId xmlns:a16="http://schemas.microsoft.com/office/drawing/2014/main" id="{37EE5B6D-0A19-4323-B088-3CDCD9075E7D}"/>
              </a:ext>
            </a:extLst>
          </p:cNvPr>
          <p:cNvSpPr>
            <a:spLocks xmlns:a="http://schemas.openxmlformats.org/drawingml/2006/main" noGrp="1"/>
          </p:cNvSpPr>
          <p:nvPr/>
        </p:nvSpPr>
        <p:spPr>
          <a:xfrm xmlns:a="http://schemas.openxmlformats.org/drawingml/2006/main">
            <a:off x="9048750" y="5143500"/>
            <a:ext cx="257175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313D"/>
                </a:solidFill>
                <a:latin typeface="Helvetica Neue"/>
                <a:ea typeface="Helvetica Neue"/>
                <a:cs typeface="Helvetica Neue"/>
              </a:defRPr>
            </a:defPPr>
          </a:lstStyle>
          <a:p xmlns:a="http://schemas.openxmlformats.org/drawingml/2006/main">
            <a:pPr algn="ctr">
              <a:defRPr sz="1950" b="0">
                <a:solidFill>
                  <a:srgbClr val="17313D"/>
                </a:solidFill>
                <a:latin typeface="Helvetica Neue"/>
                <a:ea typeface="Helvetica Neue"/>
                <a:cs typeface="Helvetica Neue"/>
              </a:defRPr>
            </a:pPr>
            <a:r>
              <a:rPr sz="1950" b="0">
                <a:solidFill>
                  <a:srgbClr val="17313D"/>
                </a:solidFill>
                <a:latin typeface="Helvetica Neue"/>
                <a:ea typeface="Helvetica Neue"/>
                <a:cs typeface="Helvetica Neue"/>
              </a:rPr>
              <a:t>Target app</a:t>
            </a:r>
          </a:p>
        </p:txBody>
      </p:sp>
      <p:sp>
        <p:nvSpPr>
          <p:cNvPr id="19" name="node-Analyzer + fallback">
            <a:extLst xmlns:a="http://schemas.openxmlformats.org/drawingml/2006/main">
              <a:ext uri="{FF2B5EF4-FFF2-40B4-BE49-F238E27FC236}">
                <a16:creationId xmlns:a16="http://schemas.microsoft.com/office/drawing/2014/main" id="{7C505FAA-C63A-455C-AB3B-6C8D213314B0}"/>
              </a:ext>
            </a:extLst>
          </p:cNvPr>
          <p:cNvSpPr>
            <a:spLocks xmlns:a="http://schemas.openxmlformats.org/drawingml/2006/main" noGrp="1"/>
          </p:cNvSpPr>
          <p:nvPr/>
        </p:nvSpPr>
        <p:spPr>
          <a:xfrm xmlns:a="http://schemas.openxmlformats.org/drawingml/2006/main">
            <a:off x="571500" y="5143500"/>
            <a:ext cx="3429000" cy="666750"/>
          </a:xfrm>
          <a:prstGeom xmlns:a="http://schemas.openxmlformats.org/drawingml/2006/main" prst="rect">
            <a:avLst/>
          </a:prstGeom>
          <a:solidFill xmlns:a="http://schemas.openxmlformats.org/drawingml/2006/main">
            <a:srgbClr val="E8F4F3"/>
          </a:solidFill>
          <a:ln xmlns:a="http://schemas.openxmlformats.org/drawingml/2006/main" w="14288">
            <a:solidFill>
              <a:srgbClr val="087D82"/>
            </a:solidFill>
          </a:ln>
        </p:spPr>
        <p:txBody>
          <a:bodyPr xmlns:a="http://schemas.openxmlformats.org/drawingml/2006/main" wrap="square" lIns="114300" tIns="114300" rIns="114300" bIns="114300" anchor="ctr">
            <a:noAutofit/>
          </a:bodyPr>
          <a:lstStyle xmlns:a="http://schemas.openxmlformats.org/drawingml/2006/main">
            <a:defPPr algn="ctr">
              <a:defRPr sz="1950" b="1">
                <a:solidFill>
                  <a:srgbClr val="087D82"/>
                </a:solidFill>
                <a:latin typeface="Helvetica Neue"/>
                <a:ea typeface="Helvetica Neue"/>
                <a:cs typeface="Helvetica Neue"/>
              </a:defRPr>
            </a:defPPr>
          </a:lstStyle>
          <a:p xmlns:a="http://schemas.openxmlformats.org/drawingml/2006/main">
            <a:pPr algn="ctr">
              <a:defRPr sz="1950" b="1">
                <a:solidFill>
                  <a:srgbClr val="087D82"/>
                </a:solidFill>
                <a:latin typeface="Helvetica Neue"/>
                <a:ea typeface="Helvetica Neue"/>
                <a:cs typeface="Helvetica Neue"/>
              </a:defRPr>
            </a:pPr>
            <a:r>
              <a:rPr sz="1950" b="1">
                <a:solidFill>
                  <a:srgbClr val="087D82"/>
                </a:solidFill>
                <a:latin typeface="Helvetica Neue"/>
                <a:ea typeface="Helvetica Neue"/>
                <a:cs typeface="Helvetica Neue"/>
              </a:rPr>
              <a:t>Analyzer + fallback</a:t>
            </a:r>
          </a:p>
        </p:txBody>
      </p:sp>
      <p:sp>
        <p:nvSpPr>
          <p:cNvPr id="20" name="node-Scorer + report">
            <a:extLst xmlns:a="http://schemas.openxmlformats.org/drawingml/2006/main">
              <a:ext uri="{FF2B5EF4-FFF2-40B4-BE49-F238E27FC236}">
                <a16:creationId xmlns:a16="http://schemas.microsoft.com/office/drawing/2014/main" id="{E6BC33DB-A285-4C22-9544-1CCB5ED6D056}"/>
              </a:ext>
            </a:extLst>
          </p:cNvPr>
          <p:cNvSpPr>
            <a:spLocks xmlns:a="http://schemas.openxmlformats.org/drawingml/2006/main" noGrp="1"/>
          </p:cNvSpPr>
          <p:nvPr/>
        </p:nvSpPr>
        <p:spPr>
          <a:xfrm xmlns:a="http://schemas.openxmlformats.org/drawingml/2006/main">
            <a:off x="4476750" y="5143500"/>
            <a:ext cx="333375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313D"/>
                </a:solidFill>
                <a:latin typeface="Helvetica Neue"/>
                <a:ea typeface="Helvetica Neue"/>
                <a:cs typeface="Helvetica Neue"/>
              </a:defRPr>
            </a:defPPr>
          </a:lstStyle>
          <a:p xmlns:a="http://schemas.openxmlformats.org/drawingml/2006/main">
            <a:pPr algn="ctr">
              <a:defRPr sz="1950" b="0">
                <a:solidFill>
                  <a:srgbClr val="17313D"/>
                </a:solidFill>
                <a:latin typeface="Helvetica Neue"/>
                <a:ea typeface="Helvetica Neue"/>
                <a:cs typeface="Helvetica Neue"/>
              </a:defRPr>
            </a:pPr>
            <a:r>
              <a:rPr sz="1950" b="0">
                <a:solidFill>
                  <a:srgbClr val="17313D"/>
                </a:solidFill>
                <a:latin typeface="Helvetica Neue"/>
                <a:ea typeface="Helvetica Neue"/>
                <a:cs typeface="Helvetica Neue"/>
              </a:rPr>
              <a:t>Scorer + report</a:t>
            </a:r>
          </a:p>
        </p:txBody>
      </p:sp>
      <p:cxnSp>
        <p:nvCxnSpPr>
          <p:cNvPr id="22" name="">
            <a:extLst xmlns:a="http://schemas.openxmlformats.org/drawingml/2006/main">
              <a:ext uri="{FF2B5EF4-FFF2-40B4-BE49-F238E27FC236}">
                <a16:creationId xmlns:a16="http://schemas.microsoft.com/office/drawing/2014/main" id="{51C43FC5-BDB9-481C-B08A-67259A6CEDBA}"/>
              </a:ext>
            </a:extLst>
          </p:cNvPr>
          <p:cNvCxnSpPr/>
          <p:nvPr/>
        </p:nvCxnSpPr>
        <p:spPr>
          <a:xfrm xmlns:a="http://schemas.openxmlformats.org/drawingml/2006/main">
            <a:off x="10334625" y="5810250"/>
            <a:ext cx="0" cy="238125"/>
          </a:xfrm>
          <a:prstGeom xmlns:a="http://schemas.openxmlformats.org/drawingml/2006/main" prst="straightConnector1">
            <a:avLst/>
          </a:prstGeom>
          <a:ln xmlns:a="http://schemas.openxmlformats.org/drawingml/2006/main" w="19050">
            <a:solidFill>
              <a:srgbClr val="536A73"/>
            </a:solidFill>
          </a:ln>
        </p:spPr>
      </p:cxnSp>
      <p:cxnSp>
        <p:nvCxnSpPr>
          <p:cNvPr id="23" name="">
            <a:extLst xmlns:a="http://schemas.openxmlformats.org/drawingml/2006/main">
              <a:ext uri="{FF2B5EF4-FFF2-40B4-BE49-F238E27FC236}">
                <a16:creationId xmlns:a16="http://schemas.microsoft.com/office/drawing/2014/main" id="{90BBDA1F-1A53-48CA-BA55-C4B8AAE907A8}"/>
              </a:ext>
            </a:extLst>
          </p:cNvPr>
          <p:cNvCxnSpPr/>
          <p:nvPr/>
        </p:nvCxnSpPr>
        <p:spPr>
          <a:xfrm xmlns:a="http://schemas.openxmlformats.org/drawingml/2006/main">
            <a:off x="2286000" y="6048375"/>
            <a:ext cx="8048625" cy="0"/>
          </a:xfrm>
          <a:prstGeom xmlns:a="http://schemas.openxmlformats.org/drawingml/2006/main" prst="straightConnector1">
            <a:avLst/>
          </a:prstGeom>
          <a:ln xmlns:a="http://schemas.openxmlformats.org/drawingml/2006/main" w="19050">
            <a:solidFill>
              <a:srgbClr val="536A73"/>
            </a:solidFill>
          </a:ln>
        </p:spPr>
      </p:cxnSp>
      <p:cxnSp>
        <p:nvCxnSpPr>
          <p:cNvPr id="24" name="">
            <a:extLst xmlns:a="http://schemas.openxmlformats.org/drawingml/2006/main">
              <a:ext uri="{FF2B5EF4-FFF2-40B4-BE49-F238E27FC236}">
                <a16:creationId xmlns:a16="http://schemas.microsoft.com/office/drawing/2014/main" id="{313DB30D-2FBE-4AB3-9CFD-54650CEE6E4A}"/>
              </a:ext>
            </a:extLst>
          </p:cNvPr>
          <p:cNvCxnSpPr/>
          <p:nvPr/>
        </p:nvCxnSpPr>
        <p:spPr>
          <a:xfrm xmlns:a="http://schemas.openxmlformats.org/drawingml/2006/main">
            <a:off x="2286000" y="5810250"/>
            <a:ext cx="0" cy="238125"/>
          </a:xfrm>
          <a:prstGeom xmlns:a="http://schemas.openxmlformats.org/drawingml/2006/main" prst="straightConnector1">
            <a:avLst/>
          </a:prstGeom>
          <a:ln xmlns:a="http://schemas.openxmlformats.org/drawingml/2006/main" w="19050">
            <a:solidFill>
              <a:srgbClr val="536A73"/>
            </a:solidFill>
            <a:headEnd type="triangle" w="sm" len="sm"/>
          </a:ln>
        </p:spPr>
      </p:cxnSp>
    </p:spTree>
    <p:extLst>
      <p:ext uri="{BB962C8B-B14F-4D97-AF65-F5344CB8AC3E}">
        <p14:creationId xmlns:p14="http://schemas.microsoft.com/office/powerpoint/2010/main" val="1374391387"/>
      </p:ext>
    </p:extLst>
  </p:cSld>
</p:sld>
</file>

<file path=ppt/slides/slide5.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B23D1A6F-E91F-4BA9-B034-319746618E16}"/>
              </a:ext>
            </a:extLst>
          </p:cNvPr>
          <p:cNvCxnSpPr>
            <a:stCxn xmlns:a="http://schemas.openxmlformats.org/drawingml/2006/main" id="12" idx="3"/>
            <a:endCxn xmlns:a="http://schemas.openxmlformats.org/drawingml/2006/main" id="13" idx="1"/>
          </p:cNvCxnSpPr>
          <p:nvPr/>
        </p:nvCxnSpPr>
        <p:spPr>
          <a:xfrm xmlns:a="http://schemas.openxmlformats.org/drawingml/2006/main">
            <a:off x="7715250" y="5314950"/>
            <a:ext cx="476250" cy="0"/>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819CB33B-6F08-4477-AB7F-C5046A9CF8EB}"/>
              </a:ext>
            </a:extLst>
          </p:cNvPr>
          <p:cNvCxnSpPr>
            <a:stCxn xmlns:a="http://schemas.openxmlformats.org/drawingml/2006/main" id="11" idx="3"/>
            <a:endCxn xmlns:a="http://schemas.openxmlformats.org/drawingml/2006/main" id="12" idx="1"/>
          </p:cNvCxnSpPr>
          <p:nvPr/>
        </p:nvCxnSpPr>
        <p:spPr>
          <a:xfrm xmlns:a="http://schemas.openxmlformats.org/drawingml/2006/main">
            <a:off x="3905250" y="5314950"/>
            <a:ext cx="476250" cy="0"/>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6293FB08-91E9-4688-B0DC-2A12C6A0E18D}"/>
              </a:ext>
            </a:extLst>
          </p:cNvPr>
          <p:cNvCxnSpPr>
            <a:stCxn xmlns:a="http://schemas.openxmlformats.org/drawingml/2006/main" id="10" idx="2"/>
            <a:endCxn xmlns:a="http://schemas.openxmlformats.org/drawingml/2006/main" id="11" idx="0"/>
          </p:cNvCxnSpPr>
          <p:nvPr/>
        </p:nvCxnSpPr>
        <p:spPr>
          <a:xfrm xmlns:a="http://schemas.openxmlformats.org/drawingml/2006/main">
            <a:off x="1809750" y="4105275"/>
            <a:ext cx="428625" cy="847725"/>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34180DA1-11C9-431E-8CF0-FDC6643BB25C}"/>
              </a:ext>
            </a:extLst>
          </p:cNvPr>
          <p:cNvCxnSpPr>
            <a:stCxn xmlns:a="http://schemas.openxmlformats.org/drawingml/2006/main" id="9" idx="1"/>
            <a:endCxn xmlns:a="http://schemas.openxmlformats.org/drawingml/2006/main" id="10" idx="3"/>
          </p:cNvCxnSpPr>
          <p:nvPr/>
        </p:nvCxnSpPr>
        <p:spPr>
          <a:xfrm xmlns:a="http://schemas.openxmlformats.org/drawingml/2006/main" flipH="1">
            <a:off x="3048000" y="3743325"/>
            <a:ext cx="381000" cy="0"/>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B79FD45F-6F38-40A2-8332-412F944F002F}"/>
              </a:ext>
            </a:extLst>
          </p:cNvPr>
          <p:cNvCxnSpPr>
            <a:stCxn xmlns:a="http://schemas.openxmlformats.org/drawingml/2006/main" id="8" idx="1"/>
            <a:endCxn xmlns:a="http://schemas.openxmlformats.org/drawingml/2006/main" id="9" idx="3"/>
          </p:cNvCxnSpPr>
          <p:nvPr/>
        </p:nvCxnSpPr>
        <p:spPr>
          <a:xfrm xmlns:a="http://schemas.openxmlformats.org/drawingml/2006/main" flipH="1">
            <a:off x="5905500" y="3743325"/>
            <a:ext cx="381000" cy="0"/>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F4640533-4011-4382-9940-009C0F0B631F}"/>
              </a:ext>
            </a:extLst>
          </p:cNvPr>
          <p:cNvCxnSpPr>
            <a:stCxn xmlns:a="http://schemas.openxmlformats.org/drawingml/2006/main" id="7" idx="1"/>
            <a:endCxn xmlns:a="http://schemas.openxmlformats.org/drawingml/2006/main" id="8" idx="3"/>
          </p:cNvCxnSpPr>
          <p:nvPr/>
        </p:nvCxnSpPr>
        <p:spPr>
          <a:xfrm xmlns:a="http://schemas.openxmlformats.org/drawingml/2006/main" flipH="1">
            <a:off x="8763000" y="3743325"/>
            <a:ext cx="381000" cy="0"/>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6B7DB645-C627-4285-A945-CDDDFFB521EB}"/>
              </a:ext>
            </a:extLst>
          </p:cNvPr>
          <p:cNvCxnSpPr>
            <a:stCxn xmlns:a="http://schemas.openxmlformats.org/drawingml/2006/main" id="6" idx="2"/>
            <a:endCxn xmlns:a="http://schemas.openxmlformats.org/drawingml/2006/main" id="7" idx="0"/>
          </p:cNvCxnSpPr>
          <p:nvPr/>
        </p:nvCxnSpPr>
        <p:spPr>
          <a:xfrm xmlns:a="http://schemas.openxmlformats.org/drawingml/2006/main">
            <a:off x="10382250" y="2533650"/>
            <a:ext cx="0" cy="847725"/>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18459AB1-CF76-40C5-9DB5-A8BC4B31AC6A}"/>
              </a:ext>
            </a:extLst>
          </p:cNvPr>
          <p:cNvCxnSpPr>
            <a:stCxn xmlns:a="http://schemas.openxmlformats.org/drawingml/2006/main" id="5" idx="3"/>
            <a:endCxn xmlns:a="http://schemas.openxmlformats.org/drawingml/2006/main" id="6" idx="1"/>
          </p:cNvCxnSpPr>
          <p:nvPr/>
        </p:nvCxnSpPr>
        <p:spPr>
          <a:xfrm xmlns:a="http://schemas.openxmlformats.org/drawingml/2006/main">
            <a:off x="8763000" y="2171700"/>
            <a:ext cx="381000" cy="0"/>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7133BA86-4C63-47CC-9788-6BD83AA42282}"/>
              </a:ext>
            </a:extLst>
          </p:cNvPr>
          <p:cNvCxnSpPr>
            <a:stCxn xmlns:a="http://schemas.openxmlformats.org/drawingml/2006/main" id="4" idx="3"/>
            <a:endCxn xmlns:a="http://schemas.openxmlformats.org/drawingml/2006/main" id="5" idx="1"/>
          </p:cNvCxnSpPr>
          <p:nvPr/>
        </p:nvCxnSpPr>
        <p:spPr>
          <a:xfrm xmlns:a="http://schemas.openxmlformats.org/drawingml/2006/main">
            <a:off x="5905500" y="2171700"/>
            <a:ext cx="381000" cy="0"/>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A3B00C90-EDE3-4B0A-AA20-EFBF98F35623}"/>
              </a:ext>
            </a:extLst>
          </p:cNvPr>
          <p:cNvCxnSpPr>
            <a:stCxn xmlns:a="http://schemas.openxmlformats.org/drawingml/2006/main" id="3" idx="3"/>
            <a:endCxn xmlns:a="http://schemas.openxmlformats.org/drawingml/2006/main" id="4" idx="1"/>
          </p:cNvCxnSpPr>
          <p:nvPr/>
        </p:nvCxnSpPr>
        <p:spPr>
          <a:xfrm xmlns:a="http://schemas.openxmlformats.org/drawingml/2006/main">
            <a:off x="3048000" y="2171700"/>
            <a:ext cx="381000" cy="0"/>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sp>
        <p:nvSpPr>
          <p:cNvPr id="25" name="slide-title">
            <a:extLst xmlns:a="http://schemas.openxmlformats.org/drawingml/2006/main">
              <a:ext uri="{FF2B5EF4-FFF2-40B4-BE49-F238E27FC236}">
                <a16:creationId xmlns:a16="http://schemas.microsoft.com/office/drawing/2014/main" id="{B2724BAD-43C6-48E0-9881-B8A2AB33BFF6}"/>
              </a:ext>
            </a:extLst>
          </p:cNvPr>
          <p:cNvSpPr>
            <a:spLocks xmlns:a="http://schemas.openxmlformats.org/drawingml/2006/main" noGrp="1"/>
          </p:cNvSpPr>
          <p:nvPr/>
        </p:nvSpPr>
        <p:spPr>
          <a:xfrm xmlns:a="http://schemas.openxmlformats.org/drawingml/2006/main">
            <a:off x="571500" y="4572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313D"/>
                </a:solidFill>
                <a:latin typeface="Helvetica Neue"/>
                <a:ea typeface="Helvetica Neue"/>
                <a:cs typeface="Helvetica Neue"/>
              </a:defRPr>
            </a:defPPr>
          </a:lstStyle>
          <a:p xmlns:a="http://schemas.openxmlformats.org/drawingml/2006/main">
            <a:pPr algn="l">
              <a:defRPr sz="3300" b="1">
                <a:solidFill>
                  <a:srgbClr val="17313D"/>
                </a:solidFill>
                <a:latin typeface="Helvetica Neue"/>
                <a:ea typeface="Helvetica Neue"/>
                <a:cs typeface="Helvetica Neue"/>
              </a:defRPr>
            </a:pPr>
            <a:r>
              <a:rPr sz="3300" b="1">
                <a:solidFill>
                  <a:srgbClr val="17313D"/>
                </a:solidFill>
                <a:latin typeface="Helvetica Neue"/>
                <a:ea typeface="Helvetica Neue"/>
                <a:cs typeface="Helvetica Neue"/>
              </a:rPr>
              <a:t>Experiment workflow</a:t>
            </a:r>
          </a:p>
        </p:txBody>
      </p:sp>
      <p:sp>
        <p:nvSpPr>
          <p:cNvPr id="2" name="page-number">
            <a:extLst xmlns:a="http://schemas.openxmlformats.org/drawingml/2006/main">
              <a:ext uri="{FF2B5EF4-FFF2-40B4-BE49-F238E27FC236}">
                <a16:creationId xmlns:a16="http://schemas.microsoft.com/office/drawing/2014/main" id="{32B2A844-B1CA-40CD-8058-60A1F3FEAB52}"/>
              </a:ext>
            </a:extLst>
          </p:cNvPr>
          <p:cNvSpPr>
            <a:spLocks xmlns:a="http://schemas.openxmlformats.org/drawingml/2006/main" noGrp="1"/>
          </p:cNvSpPr>
          <p:nvPr/>
        </p:nvSpPr>
        <p:spPr>
          <a:xfrm xmlns:a="http://schemas.openxmlformats.org/drawingml/2006/main">
            <a:off x="11049000" y="61341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36A73"/>
                </a:solidFill>
                <a:latin typeface="Helvetica Neue"/>
                <a:ea typeface="Helvetica Neue"/>
                <a:cs typeface="Helvetica Neue"/>
              </a:defRPr>
            </a:defPPr>
          </a:lstStyle>
          <a:p xmlns:a="http://schemas.openxmlformats.org/drawingml/2006/main">
            <a:pPr algn="r">
              <a:defRPr sz="1350" b="0">
                <a:solidFill>
                  <a:srgbClr val="536A73"/>
                </a:solidFill>
                <a:latin typeface="Helvetica Neue"/>
                <a:ea typeface="Helvetica Neue"/>
                <a:cs typeface="Helvetica Neue"/>
              </a:defRPr>
            </a:pPr>
            <a:r>
              <a:rPr sz="1350" b="0">
                <a:solidFill>
                  <a:srgbClr val="536A73"/>
                </a:solidFill>
                <a:latin typeface="Helvetica Neue"/>
                <a:ea typeface="Helvetica Neue"/>
                <a:cs typeface="Helvetica Neue"/>
              </a:rPr>
              <a:t>05</a:t>
            </a:r>
          </a:p>
        </p:txBody>
      </p:sp>
      <p:sp>
        <p:nvSpPr>
          <p:cNvPr id="3" name="node-Map">
            <a:extLst xmlns:a="http://schemas.openxmlformats.org/drawingml/2006/main">
              <a:ext uri="{FF2B5EF4-FFF2-40B4-BE49-F238E27FC236}">
                <a16:creationId xmlns:a16="http://schemas.microsoft.com/office/drawing/2014/main" id="{E8F925E3-6413-402D-A540-9138E0D082FC}"/>
              </a:ext>
            </a:extLst>
          </p:cNvPr>
          <p:cNvSpPr>
            <a:spLocks xmlns:a="http://schemas.openxmlformats.org/drawingml/2006/main" noGrp="1"/>
          </p:cNvSpPr>
          <p:nvPr/>
        </p:nvSpPr>
        <p:spPr>
          <a:xfrm xmlns:a="http://schemas.openxmlformats.org/drawingml/2006/main">
            <a:off x="571500" y="1809750"/>
            <a:ext cx="247650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2250" b="0">
                <a:solidFill>
                  <a:srgbClr val="17313D"/>
                </a:solidFill>
                <a:latin typeface="Helvetica Neue"/>
                <a:ea typeface="Helvetica Neue"/>
                <a:cs typeface="Helvetica Neue"/>
              </a:defRPr>
            </a:defPPr>
          </a:lstStyle>
          <a:p xmlns:a="http://schemas.openxmlformats.org/drawingml/2006/main">
            <a:pPr algn="ctr">
              <a:defRPr sz="2250" b="0">
                <a:solidFill>
                  <a:srgbClr val="17313D"/>
                </a:solidFill>
                <a:latin typeface="Helvetica Neue"/>
                <a:ea typeface="Helvetica Neue"/>
                <a:cs typeface="Helvetica Neue"/>
              </a:defRPr>
            </a:pPr>
            <a:r>
              <a:rPr sz="2250" b="0">
                <a:solidFill>
                  <a:srgbClr val="17313D"/>
                </a:solidFill>
                <a:latin typeface="Helvetica Neue"/>
                <a:ea typeface="Helvetica Neue"/>
                <a:cs typeface="Helvetica Neue"/>
              </a:rPr>
              <a:t>Map</a:t>
            </a:r>
          </a:p>
        </p:txBody>
      </p:sp>
      <p:sp>
        <p:nvSpPr>
          <p:cNvPr id="4" name="node-Baseline">
            <a:extLst xmlns:a="http://schemas.openxmlformats.org/drawingml/2006/main">
              <a:ext uri="{FF2B5EF4-FFF2-40B4-BE49-F238E27FC236}">
                <a16:creationId xmlns:a16="http://schemas.microsoft.com/office/drawing/2014/main" id="{BF943424-8EC6-477F-B385-7F75B066E2A2}"/>
              </a:ext>
            </a:extLst>
          </p:cNvPr>
          <p:cNvSpPr>
            <a:spLocks xmlns:a="http://schemas.openxmlformats.org/drawingml/2006/main" noGrp="1"/>
          </p:cNvSpPr>
          <p:nvPr/>
        </p:nvSpPr>
        <p:spPr>
          <a:xfrm xmlns:a="http://schemas.openxmlformats.org/drawingml/2006/main">
            <a:off x="3429000" y="1809750"/>
            <a:ext cx="247650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2250" b="0">
                <a:solidFill>
                  <a:srgbClr val="17313D"/>
                </a:solidFill>
                <a:latin typeface="Helvetica Neue"/>
                <a:ea typeface="Helvetica Neue"/>
                <a:cs typeface="Helvetica Neue"/>
              </a:defRPr>
            </a:defPPr>
          </a:lstStyle>
          <a:p xmlns:a="http://schemas.openxmlformats.org/drawingml/2006/main">
            <a:pPr algn="ctr">
              <a:defRPr sz="2250" b="0">
                <a:solidFill>
                  <a:srgbClr val="17313D"/>
                </a:solidFill>
                <a:latin typeface="Helvetica Neue"/>
                <a:ea typeface="Helvetica Neue"/>
                <a:cs typeface="Helvetica Neue"/>
              </a:defRPr>
            </a:pPr>
            <a:r>
              <a:rPr sz="2250" b="0">
                <a:solidFill>
                  <a:srgbClr val="17313D"/>
                </a:solidFill>
                <a:latin typeface="Helvetica Neue"/>
                <a:ea typeface="Helvetica Neue"/>
                <a:cs typeface="Helvetica Neue"/>
              </a:rPr>
              <a:t>Baseline</a:t>
            </a:r>
          </a:p>
        </p:txBody>
      </p:sp>
      <p:sp>
        <p:nvSpPr>
          <p:cNvPr id="5" name="node-Plan">
            <a:extLst xmlns:a="http://schemas.openxmlformats.org/drawingml/2006/main">
              <a:ext uri="{FF2B5EF4-FFF2-40B4-BE49-F238E27FC236}">
                <a16:creationId xmlns:a16="http://schemas.microsoft.com/office/drawing/2014/main" id="{596F9D17-8798-4F60-9C46-7827AB4B6F36}"/>
              </a:ext>
            </a:extLst>
          </p:cNvPr>
          <p:cNvSpPr>
            <a:spLocks xmlns:a="http://schemas.openxmlformats.org/drawingml/2006/main" noGrp="1"/>
          </p:cNvSpPr>
          <p:nvPr/>
        </p:nvSpPr>
        <p:spPr>
          <a:xfrm xmlns:a="http://schemas.openxmlformats.org/drawingml/2006/main">
            <a:off x="6286500" y="1809750"/>
            <a:ext cx="2476500" cy="723900"/>
          </a:xfrm>
          <a:prstGeom xmlns:a="http://schemas.openxmlformats.org/drawingml/2006/main" prst="rect">
            <a:avLst/>
          </a:prstGeom>
          <a:solidFill xmlns:a="http://schemas.openxmlformats.org/drawingml/2006/main">
            <a:srgbClr val="E8F4F3"/>
          </a:solidFill>
          <a:ln xmlns:a="http://schemas.openxmlformats.org/drawingml/2006/main" w="14288">
            <a:solidFill>
              <a:srgbClr val="087D82"/>
            </a:solidFill>
          </a:ln>
        </p:spPr>
        <p:txBody>
          <a:bodyPr xmlns:a="http://schemas.openxmlformats.org/drawingml/2006/main" wrap="square" lIns="114300" tIns="114300" rIns="114300" bIns="114300" anchor="ctr">
            <a:noAutofit/>
          </a:bodyPr>
          <a:lstStyle xmlns:a="http://schemas.openxmlformats.org/drawingml/2006/main">
            <a:defPPr algn="ctr">
              <a:defRPr sz="2250" b="1">
                <a:solidFill>
                  <a:srgbClr val="087D82"/>
                </a:solidFill>
                <a:latin typeface="Helvetica Neue"/>
                <a:ea typeface="Helvetica Neue"/>
                <a:cs typeface="Helvetica Neue"/>
              </a:defRPr>
            </a:defPPr>
          </a:lstStyle>
          <a:p xmlns:a="http://schemas.openxmlformats.org/drawingml/2006/main">
            <a:pPr algn="ctr">
              <a:defRPr sz="2250" b="1">
                <a:solidFill>
                  <a:srgbClr val="087D82"/>
                </a:solidFill>
                <a:latin typeface="Helvetica Neue"/>
                <a:ea typeface="Helvetica Neue"/>
                <a:cs typeface="Helvetica Neue"/>
              </a:defRPr>
            </a:pPr>
            <a:r>
              <a:rPr sz="2250" b="1">
                <a:solidFill>
                  <a:srgbClr val="087D82"/>
                </a:solidFill>
                <a:latin typeface="Helvetica Neue"/>
                <a:ea typeface="Helvetica Neue"/>
                <a:cs typeface="Helvetica Neue"/>
              </a:rPr>
              <a:t>Plan</a:t>
            </a:r>
          </a:p>
        </p:txBody>
      </p:sp>
      <p:sp>
        <p:nvSpPr>
          <p:cNvPr id="6" name="node-Approve">
            <a:extLst xmlns:a="http://schemas.openxmlformats.org/drawingml/2006/main">
              <a:ext uri="{FF2B5EF4-FFF2-40B4-BE49-F238E27FC236}">
                <a16:creationId xmlns:a16="http://schemas.microsoft.com/office/drawing/2014/main" id="{B8BDA647-59B4-46FC-94D7-83BD98AE7BE3}"/>
              </a:ext>
            </a:extLst>
          </p:cNvPr>
          <p:cNvSpPr>
            <a:spLocks xmlns:a="http://schemas.openxmlformats.org/drawingml/2006/main" noGrp="1"/>
          </p:cNvSpPr>
          <p:nvPr/>
        </p:nvSpPr>
        <p:spPr>
          <a:xfrm xmlns:a="http://schemas.openxmlformats.org/drawingml/2006/main">
            <a:off x="9144000" y="1809750"/>
            <a:ext cx="247650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2250" b="0">
                <a:solidFill>
                  <a:srgbClr val="17313D"/>
                </a:solidFill>
                <a:latin typeface="Helvetica Neue"/>
                <a:ea typeface="Helvetica Neue"/>
                <a:cs typeface="Helvetica Neue"/>
              </a:defRPr>
            </a:defPPr>
          </a:lstStyle>
          <a:p xmlns:a="http://schemas.openxmlformats.org/drawingml/2006/main">
            <a:pPr algn="ctr">
              <a:defRPr sz="2250" b="0">
                <a:solidFill>
                  <a:srgbClr val="17313D"/>
                </a:solidFill>
                <a:latin typeface="Helvetica Neue"/>
                <a:ea typeface="Helvetica Neue"/>
                <a:cs typeface="Helvetica Neue"/>
              </a:defRPr>
            </a:pPr>
            <a:r>
              <a:rPr sz="2250" b="0">
                <a:solidFill>
                  <a:srgbClr val="17313D"/>
                </a:solidFill>
                <a:latin typeface="Helvetica Neue"/>
                <a:ea typeface="Helvetica Neue"/>
                <a:cs typeface="Helvetica Neue"/>
              </a:rPr>
              <a:t>Approve</a:t>
            </a:r>
          </a:p>
        </p:txBody>
      </p:sp>
      <p:sp>
        <p:nvSpPr>
          <p:cNvPr id="7" name="node-Precheck">
            <a:extLst xmlns:a="http://schemas.openxmlformats.org/drawingml/2006/main">
              <a:ext uri="{FF2B5EF4-FFF2-40B4-BE49-F238E27FC236}">
                <a16:creationId xmlns:a16="http://schemas.microsoft.com/office/drawing/2014/main" id="{577767CA-2FE8-422F-B6D6-2C2A7EF8155C}"/>
              </a:ext>
            </a:extLst>
          </p:cNvPr>
          <p:cNvSpPr>
            <a:spLocks xmlns:a="http://schemas.openxmlformats.org/drawingml/2006/main" noGrp="1"/>
          </p:cNvSpPr>
          <p:nvPr/>
        </p:nvSpPr>
        <p:spPr>
          <a:xfrm xmlns:a="http://schemas.openxmlformats.org/drawingml/2006/main">
            <a:off x="9144000" y="3381375"/>
            <a:ext cx="247650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2250" b="0">
                <a:solidFill>
                  <a:srgbClr val="17313D"/>
                </a:solidFill>
                <a:latin typeface="Helvetica Neue"/>
                <a:ea typeface="Helvetica Neue"/>
                <a:cs typeface="Helvetica Neue"/>
              </a:defRPr>
            </a:defPPr>
          </a:lstStyle>
          <a:p xmlns:a="http://schemas.openxmlformats.org/drawingml/2006/main">
            <a:pPr algn="ctr">
              <a:defRPr sz="2250" b="0">
                <a:solidFill>
                  <a:srgbClr val="17313D"/>
                </a:solidFill>
                <a:latin typeface="Helvetica Neue"/>
                <a:ea typeface="Helvetica Neue"/>
                <a:cs typeface="Helvetica Neue"/>
              </a:defRPr>
            </a:pPr>
            <a:r>
              <a:rPr sz="2250" b="0">
                <a:solidFill>
                  <a:srgbClr val="17313D"/>
                </a:solidFill>
                <a:latin typeface="Helvetica Neue"/>
                <a:ea typeface="Helvetica Neue"/>
                <a:cs typeface="Helvetica Neue"/>
              </a:rPr>
              <a:t>Precheck</a:t>
            </a:r>
          </a:p>
        </p:txBody>
      </p:sp>
      <p:sp>
        <p:nvSpPr>
          <p:cNvPr id="8" name="node-Inject">
            <a:extLst xmlns:a="http://schemas.openxmlformats.org/drawingml/2006/main">
              <a:ext uri="{FF2B5EF4-FFF2-40B4-BE49-F238E27FC236}">
                <a16:creationId xmlns:a16="http://schemas.microsoft.com/office/drawing/2014/main" id="{E59BC0DB-2FBC-4757-AFC2-C253B4F5A68A}"/>
              </a:ext>
            </a:extLst>
          </p:cNvPr>
          <p:cNvSpPr>
            <a:spLocks xmlns:a="http://schemas.openxmlformats.org/drawingml/2006/main" noGrp="1"/>
          </p:cNvSpPr>
          <p:nvPr/>
        </p:nvSpPr>
        <p:spPr>
          <a:xfrm xmlns:a="http://schemas.openxmlformats.org/drawingml/2006/main">
            <a:off x="6286500" y="3381375"/>
            <a:ext cx="247650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2250" b="0">
                <a:solidFill>
                  <a:srgbClr val="17313D"/>
                </a:solidFill>
                <a:latin typeface="Helvetica Neue"/>
                <a:ea typeface="Helvetica Neue"/>
                <a:cs typeface="Helvetica Neue"/>
              </a:defRPr>
            </a:defPPr>
          </a:lstStyle>
          <a:p xmlns:a="http://schemas.openxmlformats.org/drawingml/2006/main">
            <a:pPr algn="ctr">
              <a:defRPr sz="2250" b="0">
                <a:solidFill>
                  <a:srgbClr val="17313D"/>
                </a:solidFill>
                <a:latin typeface="Helvetica Neue"/>
                <a:ea typeface="Helvetica Neue"/>
                <a:cs typeface="Helvetica Neue"/>
              </a:defRPr>
            </a:pPr>
            <a:r>
              <a:rPr sz="2250" b="0">
                <a:solidFill>
                  <a:srgbClr val="17313D"/>
                </a:solidFill>
                <a:latin typeface="Helvetica Neue"/>
                <a:ea typeface="Helvetica Neue"/>
                <a:cs typeface="Helvetica Neue"/>
              </a:rPr>
              <a:t>Inject</a:t>
            </a:r>
          </a:p>
        </p:txBody>
      </p:sp>
      <p:sp>
        <p:nvSpPr>
          <p:cNvPr id="9" name="node-Observe">
            <a:extLst xmlns:a="http://schemas.openxmlformats.org/drawingml/2006/main">
              <a:ext uri="{FF2B5EF4-FFF2-40B4-BE49-F238E27FC236}">
                <a16:creationId xmlns:a16="http://schemas.microsoft.com/office/drawing/2014/main" id="{BA9AA5A8-F2E9-4987-AFD4-0AB5520764F4}"/>
              </a:ext>
            </a:extLst>
          </p:cNvPr>
          <p:cNvSpPr>
            <a:spLocks xmlns:a="http://schemas.openxmlformats.org/drawingml/2006/main" noGrp="1"/>
          </p:cNvSpPr>
          <p:nvPr/>
        </p:nvSpPr>
        <p:spPr>
          <a:xfrm xmlns:a="http://schemas.openxmlformats.org/drawingml/2006/main">
            <a:off x="3429000" y="3381375"/>
            <a:ext cx="247650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2250" b="0">
                <a:solidFill>
                  <a:srgbClr val="17313D"/>
                </a:solidFill>
                <a:latin typeface="Helvetica Neue"/>
                <a:ea typeface="Helvetica Neue"/>
                <a:cs typeface="Helvetica Neue"/>
              </a:defRPr>
            </a:defPPr>
          </a:lstStyle>
          <a:p xmlns:a="http://schemas.openxmlformats.org/drawingml/2006/main">
            <a:pPr algn="ctr">
              <a:defRPr sz="2250" b="0">
                <a:solidFill>
                  <a:srgbClr val="17313D"/>
                </a:solidFill>
                <a:latin typeface="Helvetica Neue"/>
                <a:ea typeface="Helvetica Neue"/>
                <a:cs typeface="Helvetica Neue"/>
              </a:defRPr>
            </a:pPr>
            <a:r>
              <a:rPr sz="2250" b="0">
                <a:solidFill>
                  <a:srgbClr val="17313D"/>
                </a:solidFill>
                <a:latin typeface="Helvetica Neue"/>
                <a:ea typeface="Helvetica Neue"/>
                <a:cs typeface="Helvetica Neue"/>
              </a:rPr>
              <a:t>Observe</a:t>
            </a:r>
          </a:p>
        </p:txBody>
      </p:sp>
      <p:sp>
        <p:nvSpPr>
          <p:cNvPr id="10" name="node-Undo">
            <a:extLst xmlns:a="http://schemas.openxmlformats.org/drawingml/2006/main">
              <a:ext uri="{FF2B5EF4-FFF2-40B4-BE49-F238E27FC236}">
                <a16:creationId xmlns:a16="http://schemas.microsoft.com/office/drawing/2014/main" id="{998D1B2F-0817-4B24-A62B-295788882D1A}"/>
              </a:ext>
            </a:extLst>
          </p:cNvPr>
          <p:cNvSpPr>
            <a:spLocks xmlns:a="http://schemas.openxmlformats.org/drawingml/2006/main" noGrp="1"/>
          </p:cNvSpPr>
          <p:nvPr/>
        </p:nvSpPr>
        <p:spPr>
          <a:xfrm xmlns:a="http://schemas.openxmlformats.org/drawingml/2006/main">
            <a:off x="571500" y="3381375"/>
            <a:ext cx="247650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2250" b="0">
                <a:solidFill>
                  <a:srgbClr val="17313D"/>
                </a:solidFill>
                <a:latin typeface="Helvetica Neue"/>
                <a:ea typeface="Helvetica Neue"/>
                <a:cs typeface="Helvetica Neue"/>
              </a:defRPr>
            </a:defPPr>
          </a:lstStyle>
          <a:p xmlns:a="http://schemas.openxmlformats.org/drawingml/2006/main">
            <a:pPr algn="ctr">
              <a:defRPr sz="2250" b="0">
                <a:solidFill>
                  <a:srgbClr val="17313D"/>
                </a:solidFill>
                <a:latin typeface="Helvetica Neue"/>
                <a:ea typeface="Helvetica Neue"/>
                <a:cs typeface="Helvetica Neue"/>
              </a:defRPr>
            </a:pPr>
            <a:r>
              <a:rPr sz="2250" b="0">
                <a:solidFill>
                  <a:srgbClr val="17313D"/>
                </a:solidFill>
                <a:latin typeface="Helvetica Neue"/>
                <a:ea typeface="Helvetica Neue"/>
                <a:cs typeface="Helvetica Neue"/>
              </a:rPr>
              <a:t>Undo</a:t>
            </a:r>
          </a:p>
        </p:txBody>
      </p:sp>
      <p:sp>
        <p:nvSpPr>
          <p:cNvPr id="11" name="node-Recover">
            <a:extLst xmlns:a="http://schemas.openxmlformats.org/drawingml/2006/main">
              <a:ext uri="{FF2B5EF4-FFF2-40B4-BE49-F238E27FC236}">
                <a16:creationId xmlns:a16="http://schemas.microsoft.com/office/drawing/2014/main" id="{2F7B07BE-8CA1-4053-BFAC-499C56C5060D}"/>
              </a:ext>
            </a:extLst>
          </p:cNvPr>
          <p:cNvSpPr>
            <a:spLocks xmlns:a="http://schemas.openxmlformats.org/drawingml/2006/main" noGrp="1"/>
          </p:cNvSpPr>
          <p:nvPr/>
        </p:nvSpPr>
        <p:spPr>
          <a:xfrm xmlns:a="http://schemas.openxmlformats.org/drawingml/2006/main">
            <a:off x="571500" y="4953000"/>
            <a:ext cx="333375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2250" b="0">
                <a:solidFill>
                  <a:srgbClr val="17313D"/>
                </a:solidFill>
                <a:latin typeface="Helvetica Neue"/>
                <a:ea typeface="Helvetica Neue"/>
                <a:cs typeface="Helvetica Neue"/>
              </a:defRPr>
            </a:defPPr>
          </a:lstStyle>
          <a:p xmlns:a="http://schemas.openxmlformats.org/drawingml/2006/main">
            <a:pPr algn="ctr">
              <a:defRPr sz="2250" b="0">
                <a:solidFill>
                  <a:srgbClr val="17313D"/>
                </a:solidFill>
                <a:latin typeface="Helvetica Neue"/>
                <a:ea typeface="Helvetica Neue"/>
                <a:cs typeface="Helvetica Neue"/>
              </a:defRPr>
            </a:pPr>
            <a:r>
              <a:rPr sz="2250" b="0">
                <a:solidFill>
                  <a:srgbClr val="17313D"/>
                </a:solidFill>
                <a:latin typeface="Helvetica Neue"/>
                <a:ea typeface="Helvetica Neue"/>
                <a:cs typeface="Helvetica Neue"/>
              </a:rPr>
              <a:t>Recover</a:t>
            </a:r>
          </a:p>
        </p:txBody>
      </p:sp>
      <p:sp>
        <p:nvSpPr>
          <p:cNvPr id="12" name="node-Analyze">
            <a:extLst xmlns:a="http://schemas.openxmlformats.org/drawingml/2006/main">
              <a:ext uri="{FF2B5EF4-FFF2-40B4-BE49-F238E27FC236}">
                <a16:creationId xmlns:a16="http://schemas.microsoft.com/office/drawing/2014/main" id="{E0505FF9-BE46-4996-BF08-11B58E68121B}"/>
              </a:ext>
            </a:extLst>
          </p:cNvPr>
          <p:cNvSpPr>
            <a:spLocks xmlns:a="http://schemas.openxmlformats.org/drawingml/2006/main" noGrp="1"/>
          </p:cNvSpPr>
          <p:nvPr/>
        </p:nvSpPr>
        <p:spPr>
          <a:xfrm xmlns:a="http://schemas.openxmlformats.org/drawingml/2006/main">
            <a:off x="4381500" y="4953000"/>
            <a:ext cx="3333750" cy="723900"/>
          </a:xfrm>
          <a:prstGeom xmlns:a="http://schemas.openxmlformats.org/drawingml/2006/main" prst="rect">
            <a:avLst/>
          </a:prstGeom>
          <a:solidFill xmlns:a="http://schemas.openxmlformats.org/drawingml/2006/main">
            <a:srgbClr val="E8F4F3"/>
          </a:solidFill>
          <a:ln xmlns:a="http://schemas.openxmlformats.org/drawingml/2006/main" w="14288">
            <a:solidFill>
              <a:srgbClr val="087D82"/>
            </a:solidFill>
          </a:ln>
        </p:spPr>
        <p:txBody>
          <a:bodyPr xmlns:a="http://schemas.openxmlformats.org/drawingml/2006/main" wrap="square" lIns="114300" tIns="114300" rIns="114300" bIns="114300" anchor="ctr">
            <a:noAutofit/>
          </a:bodyPr>
          <a:lstStyle xmlns:a="http://schemas.openxmlformats.org/drawingml/2006/main">
            <a:defPPr algn="ctr">
              <a:defRPr sz="2250" b="1">
                <a:solidFill>
                  <a:srgbClr val="087D82"/>
                </a:solidFill>
                <a:latin typeface="Helvetica Neue"/>
                <a:ea typeface="Helvetica Neue"/>
                <a:cs typeface="Helvetica Neue"/>
              </a:defRPr>
            </a:defPPr>
          </a:lstStyle>
          <a:p xmlns:a="http://schemas.openxmlformats.org/drawingml/2006/main">
            <a:pPr algn="ctr">
              <a:defRPr sz="2250" b="1">
                <a:solidFill>
                  <a:srgbClr val="087D82"/>
                </a:solidFill>
                <a:latin typeface="Helvetica Neue"/>
                <a:ea typeface="Helvetica Neue"/>
                <a:cs typeface="Helvetica Neue"/>
              </a:defRPr>
            </a:pPr>
            <a:r>
              <a:rPr sz="2250" b="1">
                <a:solidFill>
                  <a:srgbClr val="087D82"/>
                </a:solidFill>
                <a:latin typeface="Helvetica Neue"/>
                <a:ea typeface="Helvetica Neue"/>
                <a:cs typeface="Helvetica Neue"/>
              </a:rPr>
              <a:t>Analyze</a:t>
            </a:r>
          </a:p>
        </p:txBody>
      </p:sp>
      <p:sp>
        <p:nvSpPr>
          <p:cNvPr id="13" name="node-Report">
            <a:extLst xmlns:a="http://schemas.openxmlformats.org/drawingml/2006/main">
              <a:ext uri="{FF2B5EF4-FFF2-40B4-BE49-F238E27FC236}">
                <a16:creationId xmlns:a16="http://schemas.microsoft.com/office/drawing/2014/main" id="{945389A8-3692-4C8E-9853-D861F7D1C03F}"/>
              </a:ext>
            </a:extLst>
          </p:cNvPr>
          <p:cNvSpPr>
            <a:spLocks xmlns:a="http://schemas.openxmlformats.org/drawingml/2006/main" noGrp="1"/>
          </p:cNvSpPr>
          <p:nvPr/>
        </p:nvSpPr>
        <p:spPr>
          <a:xfrm xmlns:a="http://schemas.openxmlformats.org/drawingml/2006/main">
            <a:off x="8191500" y="4953000"/>
            <a:ext cx="333375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2250" b="0">
                <a:solidFill>
                  <a:srgbClr val="17313D"/>
                </a:solidFill>
                <a:latin typeface="Helvetica Neue"/>
                <a:ea typeface="Helvetica Neue"/>
                <a:cs typeface="Helvetica Neue"/>
              </a:defRPr>
            </a:defPPr>
          </a:lstStyle>
          <a:p xmlns:a="http://schemas.openxmlformats.org/drawingml/2006/main">
            <a:pPr algn="ctr">
              <a:defRPr sz="2250" b="0">
                <a:solidFill>
                  <a:srgbClr val="17313D"/>
                </a:solidFill>
                <a:latin typeface="Helvetica Neue"/>
                <a:ea typeface="Helvetica Neue"/>
                <a:cs typeface="Helvetica Neue"/>
              </a:defRPr>
            </a:pPr>
            <a:r>
              <a:rPr sz="2250" b="0">
                <a:solidFill>
                  <a:srgbClr val="17313D"/>
                </a:solidFill>
                <a:latin typeface="Helvetica Neue"/>
                <a:ea typeface="Helvetica Neue"/>
                <a:cs typeface="Helvetica Neue"/>
              </a:rPr>
              <a:t>Report</a:t>
            </a:r>
          </a:p>
        </p:txBody>
      </p:sp>
      <p:sp>
        <p:nvSpPr>
          <p:cNvPr id="24" name="One fault at a time. Recovery precedes the next ">
            <a:extLst xmlns:a="http://schemas.openxmlformats.org/drawingml/2006/main">
              <a:ext uri="{FF2B5EF4-FFF2-40B4-BE49-F238E27FC236}">
                <a16:creationId xmlns:a16="http://schemas.microsoft.com/office/drawing/2014/main" id="{E6DFC352-267E-4106-9B92-11F1C5A8B258}"/>
              </a:ext>
            </a:extLst>
          </p:cNvPr>
          <p:cNvSpPr>
            <a:spLocks xmlns:a="http://schemas.openxmlformats.org/drawingml/2006/main" noGrp="1"/>
          </p:cNvSpPr>
          <p:nvPr/>
        </p:nvSpPr>
        <p:spPr>
          <a:xfrm xmlns:a="http://schemas.openxmlformats.org/drawingml/2006/main">
            <a:off x="571500" y="59055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36A73"/>
                </a:solidFill>
                <a:latin typeface="Helvetica Neue"/>
                <a:ea typeface="Helvetica Neue"/>
                <a:cs typeface="Helvetica Neue"/>
              </a:defRPr>
            </a:defPPr>
          </a:lstStyle>
          <a:p xmlns:a="http://schemas.openxmlformats.org/drawingml/2006/main">
            <a:pPr algn="l">
              <a:defRPr sz="1800" b="0">
                <a:solidFill>
                  <a:srgbClr val="536A73"/>
                </a:solidFill>
                <a:latin typeface="Helvetica Neue"/>
                <a:ea typeface="Helvetica Neue"/>
                <a:cs typeface="Helvetica Neue"/>
              </a:defRPr>
            </a:pPr>
            <a:r>
              <a:rPr sz="1800" b="0">
                <a:solidFill>
                  <a:srgbClr val="536A73"/>
                </a:solidFill>
                <a:latin typeface="Helvetica Neue"/>
                <a:ea typeface="Helvetica Neue"/>
                <a:cs typeface="Helvetica Neue"/>
              </a:rPr>
              <a:t>One fault at a time. Recovery precedes the next experiment.</a:t>
            </a:r>
          </a:p>
        </p:txBody>
      </p:sp>
    </p:spTree>
    <p:extLst>
      <p:ext uri="{BB962C8B-B14F-4D97-AF65-F5344CB8AC3E}">
        <p14:creationId xmlns:p14="http://schemas.microsoft.com/office/powerpoint/2010/main" val="1144716172"/>
      </p:ext>
    </p:extLst>
  </p:cSld>
</p:sld>
</file>

<file path=ppt/slides/slide6.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cxnSp>
        <p:nvCxnSpPr>
          <p:cNvPr id="32" name="">
            <a:extLst xmlns:a="http://schemas.openxmlformats.org/drawingml/2006/main">
              <a:ext uri="{FF2B5EF4-FFF2-40B4-BE49-F238E27FC236}">
                <a16:creationId xmlns:a16="http://schemas.microsoft.com/office/drawing/2014/main" id="{E7B80542-32B1-46DB-A5A3-C6150ED404AE}"/>
              </a:ext>
            </a:extLst>
          </p:cNvPr>
          <p:cNvCxnSpPr>
            <a:stCxn xmlns:a="http://schemas.openxmlformats.org/drawingml/2006/main" id="5" idx="3"/>
            <a:endCxn xmlns:a="http://schemas.openxmlformats.org/drawingml/2006/main" id="9" idx="1"/>
          </p:cNvCxnSpPr>
          <p:nvPr/>
        </p:nvCxnSpPr>
        <p:spPr>
          <a:xfrm xmlns:a="http://schemas.openxmlformats.org/drawingml/2006/main">
            <a:off x="4953000" y="3167063"/>
            <a:ext cx="1285875" cy="0"/>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31" name="">
            <a:extLst xmlns:a="http://schemas.openxmlformats.org/drawingml/2006/main">
              <a:ext uri="{FF2B5EF4-FFF2-40B4-BE49-F238E27FC236}">
                <a16:creationId xmlns:a16="http://schemas.microsoft.com/office/drawing/2014/main" id="{2ADA4399-8457-44AE-A9FC-6C57DCBF97DF}"/>
              </a:ext>
            </a:extLst>
          </p:cNvPr>
          <p:cNvCxnSpPr>
            <a:stCxn xmlns:a="http://schemas.openxmlformats.org/drawingml/2006/main" id="5" idx="3"/>
            <a:endCxn xmlns:a="http://schemas.openxmlformats.org/drawingml/2006/main" id="8" idx="1"/>
          </p:cNvCxnSpPr>
          <p:nvPr/>
        </p:nvCxnSpPr>
        <p:spPr>
          <a:xfrm xmlns:a="http://schemas.openxmlformats.org/drawingml/2006/main" flipV="1">
            <a:off x="4953000" y="1928813"/>
            <a:ext cx="1285875" cy="1238250"/>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30" name="">
            <a:extLst xmlns:a="http://schemas.openxmlformats.org/drawingml/2006/main">
              <a:ext uri="{FF2B5EF4-FFF2-40B4-BE49-F238E27FC236}">
                <a16:creationId xmlns:a16="http://schemas.microsoft.com/office/drawing/2014/main" id="{6D306018-96A8-46BC-A86B-4A234DE8ADCD}"/>
              </a:ext>
            </a:extLst>
          </p:cNvPr>
          <p:cNvCxnSpPr>
            <a:stCxn xmlns:a="http://schemas.openxmlformats.org/drawingml/2006/main" id="5" idx="3"/>
            <a:endCxn xmlns:a="http://schemas.openxmlformats.org/drawingml/2006/main" id="10" idx="1"/>
          </p:cNvCxnSpPr>
          <p:nvPr/>
        </p:nvCxnSpPr>
        <p:spPr>
          <a:xfrm xmlns:a="http://schemas.openxmlformats.org/drawingml/2006/main">
            <a:off x="4953000" y="3167063"/>
            <a:ext cx="1285875" cy="1238250"/>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29" name="">
            <a:extLst xmlns:a="http://schemas.openxmlformats.org/drawingml/2006/main">
              <a:ext uri="{FF2B5EF4-FFF2-40B4-BE49-F238E27FC236}">
                <a16:creationId xmlns:a16="http://schemas.microsoft.com/office/drawing/2014/main" id="{58124ABD-00BF-4D8A-9144-828EC669C473}"/>
              </a:ext>
            </a:extLst>
          </p:cNvPr>
          <p:cNvCxnSpPr>
            <a:stCxn xmlns:a="http://schemas.openxmlformats.org/drawingml/2006/main" id="28" idx="2"/>
            <a:endCxn xmlns:a="http://schemas.openxmlformats.org/drawingml/2006/main" id="12" idx="0"/>
          </p:cNvCxnSpPr>
          <p:nvPr/>
        </p:nvCxnSpPr>
        <p:spPr>
          <a:xfrm xmlns:a="http://schemas.openxmlformats.org/drawingml/2006/main">
            <a:off x="10477500" y="2667000"/>
            <a:ext cx="0" cy="190500"/>
          </a:xfrm>
          <a:prstGeom xmlns:a="http://schemas.openxmlformats.org/drawingml/2006/main" prst="straightConnector1">
            <a:avLst/>
          </a:prstGeom>
          <a:ln xmlns:a="http://schemas.openxmlformats.org/drawingml/2006/main" w="19050">
            <a:solidFill>
              <a:srgbClr val="536A73"/>
            </a:solidFill>
            <a:prstDash val="dash"/>
            <a:tailEnd type="triangle" w="sm" len="sm"/>
          </a:ln>
        </p:spPr>
      </p:cxnSp>
      <p:cxnSp>
        <p:nvCxnSpPr>
          <p:cNvPr id="27" name="">
            <a:extLst xmlns:a="http://schemas.openxmlformats.org/drawingml/2006/main">
              <a:ext uri="{FF2B5EF4-FFF2-40B4-BE49-F238E27FC236}">
                <a16:creationId xmlns:a16="http://schemas.microsoft.com/office/drawing/2014/main" id="{DA856C23-9B27-4FE7-9206-B6782A46B580}"/>
              </a:ext>
            </a:extLst>
          </p:cNvPr>
          <p:cNvCxnSpPr>
            <a:stCxn xmlns:a="http://schemas.openxmlformats.org/drawingml/2006/main" id="26" idx="2"/>
            <a:endCxn xmlns:a="http://schemas.openxmlformats.org/drawingml/2006/main" id="13" idx="0"/>
          </p:cNvCxnSpPr>
          <p:nvPr/>
        </p:nvCxnSpPr>
        <p:spPr>
          <a:xfrm xmlns:a="http://schemas.openxmlformats.org/drawingml/2006/main">
            <a:off x="10477500" y="3905250"/>
            <a:ext cx="0" cy="190500"/>
          </a:xfrm>
          <a:prstGeom xmlns:a="http://schemas.openxmlformats.org/drawingml/2006/main" prst="straightConnector1">
            <a:avLst/>
          </a:prstGeom>
          <a:ln xmlns:a="http://schemas.openxmlformats.org/drawingml/2006/main" w="19050">
            <a:solidFill>
              <a:srgbClr val="536A73"/>
            </a:solidFill>
            <a:prstDash val="dash"/>
            <a:tailEnd type="triangle" w="sm" len="sm"/>
          </a:ln>
        </p:spPr>
      </p:cxnSp>
      <p:cxnSp>
        <p:nvCxnSpPr>
          <p:cNvPr id="25" name="">
            <a:extLst xmlns:a="http://schemas.openxmlformats.org/drawingml/2006/main">
              <a:ext uri="{FF2B5EF4-FFF2-40B4-BE49-F238E27FC236}">
                <a16:creationId xmlns:a16="http://schemas.microsoft.com/office/drawing/2014/main" id="{93BAC1F1-0539-427C-B768-484B8D8C324C}"/>
              </a:ext>
            </a:extLst>
          </p:cNvPr>
          <p:cNvCxnSpPr>
            <a:stCxn xmlns:a="http://schemas.openxmlformats.org/drawingml/2006/main" id="6" idx="3"/>
            <a:endCxn xmlns:a="http://schemas.openxmlformats.org/drawingml/2006/main" id="11" idx="1"/>
          </p:cNvCxnSpPr>
          <p:nvPr/>
        </p:nvCxnSpPr>
        <p:spPr>
          <a:xfrm xmlns:a="http://schemas.openxmlformats.org/drawingml/2006/main">
            <a:off x="4953000" y="4405313"/>
            <a:ext cx="1285875" cy="1238250"/>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972F6C33-A127-4451-A62B-7088EE22DCC8}"/>
              </a:ext>
            </a:extLst>
          </p:cNvPr>
          <p:cNvCxnSpPr>
            <a:stCxn xmlns:a="http://schemas.openxmlformats.org/drawingml/2006/main" id="6" idx="3"/>
            <a:endCxn xmlns:a="http://schemas.openxmlformats.org/drawingml/2006/main" id="8" idx="1"/>
          </p:cNvCxnSpPr>
          <p:nvPr/>
        </p:nvCxnSpPr>
        <p:spPr>
          <a:xfrm xmlns:a="http://schemas.openxmlformats.org/drawingml/2006/main" flipV="1">
            <a:off x="4953000" y="1928813"/>
            <a:ext cx="1285875" cy="2476500"/>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8D071DAA-F8A8-49EC-B148-77D4BA056D49}"/>
              </a:ext>
            </a:extLst>
          </p:cNvPr>
          <p:cNvCxnSpPr>
            <a:stCxn xmlns:a="http://schemas.openxmlformats.org/drawingml/2006/main" id="22" idx="2"/>
            <a:endCxn xmlns:a="http://schemas.openxmlformats.org/drawingml/2006/main" id="14" idx="0"/>
          </p:cNvCxnSpPr>
          <p:nvPr/>
        </p:nvCxnSpPr>
        <p:spPr>
          <a:xfrm xmlns:a="http://schemas.openxmlformats.org/drawingml/2006/main">
            <a:off x="10477500" y="5143500"/>
            <a:ext cx="0" cy="190500"/>
          </a:xfrm>
          <a:prstGeom xmlns:a="http://schemas.openxmlformats.org/drawingml/2006/main" prst="straightConnector1">
            <a:avLst/>
          </a:prstGeom>
          <a:ln xmlns:a="http://schemas.openxmlformats.org/drawingml/2006/main" w="19050">
            <a:solidFill>
              <a:srgbClr val="536A73"/>
            </a:solidFill>
            <a:prstDash val="dash"/>
            <a:tailEnd type="triangle" w="sm" len="sm"/>
          </a:ln>
        </p:spPr>
      </p:cxnSp>
      <p:cxnSp>
        <p:nvCxnSpPr>
          <p:cNvPr id="21" name="">
            <a:extLst xmlns:a="http://schemas.openxmlformats.org/drawingml/2006/main">
              <a:ext uri="{FF2B5EF4-FFF2-40B4-BE49-F238E27FC236}">
                <a16:creationId xmlns:a16="http://schemas.microsoft.com/office/drawing/2014/main" id="{49EC3289-2973-40FA-BD21-174D0FC70CD1}"/>
              </a:ext>
            </a:extLst>
          </p:cNvPr>
          <p:cNvCxnSpPr>
            <a:stCxn xmlns:a="http://schemas.openxmlformats.org/drawingml/2006/main" id="7" idx="3"/>
            <a:endCxn xmlns:a="http://schemas.openxmlformats.org/drawingml/2006/main" id="11" idx="1"/>
          </p:cNvCxnSpPr>
          <p:nvPr/>
        </p:nvCxnSpPr>
        <p:spPr>
          <a:xfrm xmlns:a="http://schemas.openxmlformats.org/drawingml/2006/main">
            <a:off x="4953000" y="5643563"/>
            <a:ext cx="1285875" cy="0"/>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F24DD2AF-93F5-484C-865E-DF24A41B4DFD}"/>
              </a:ext>
            </a:extLst>
          </p:cNvPr>
          <p:cNvCxnSpPr>
            <a:stCxn xmlns:a="http://schemas.openxmlformats.org/drawingml/2006/main" id="7" idx="3"/>
            <a:endCxn xmlns:a="http://schemas.openxmlformats.org/drawingml/2006/main" id="10" idx="1"/>
          </p:cNvCxnSpPr>
          <p:nvPr/>
        </p:nvCxnSpPr>
        <p:spPr>
          <a:xfrm xmlns:a="http://schemas.openxmlformats.org/drawingml/2006/main" flipV="1">
            <a:off x="4953000" y="4405313"/>
            <a:ext cx="1285875" cy="1238250"/>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903D44E2-7FD2-4491-8358-A0F501282EE1}"/>
              </a:ext>
            </a:extLst>
          </p:cNvPr>
          <p:cNvCxnSpPr>
            <a:stCxn xmlns:a="http://schemas.openxmlformats.org/drawingml/2006/main" id="3" idx="3"/>
            <a:endCxn xmlns:a="http://schemas.openxmlformats.org/drawingml/2006/main" id="5" idx="1"/>
          </p:cNvCxnSpPr>
          <p:nvPr/>
        </p:nvCxnSpPr>
        <p:spPr>
          <a:xfrm xmlns:a="http://schemas.openxmlformats.org/drawingml/2006/main" flipV="1">
            <a:off x="2238375" y="3167063"/>
            <a:ext cx="619125" cy="309563"/>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C25F5216-D448-4DE0-A51A-9C265CE02451}"/>
              </a:ext>
            </a:extLst>
          </p:cNvPr>
          <p:cNvCxnSpPr>
            <a:stCxn xmlns:a="http://schemas.openxmlformats.org/drawingml/2006/main" id="3" idx="3"/>
            <a:endCxn xmlns:a="http://schemas.openxmlformats.org/drawingml/2006/main" id="6" idx="1"/>
          </p:cNvCxnSpPr>
          <p:nvPr/>
        </p:nvCxnSpPr>
        <p:spPr>
          <a:xfrm xmlns:a="http://schemas.openxmlformats.org/drawingml/2006/main">
            <a:off x="2238375" y="3476625"/>
            <a:ext cx="619125" cy="928688"/>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76C0CF20-0BFD-4276-A112-347E11ECFA72}"/>
              </a:ext>
            </a:extLst>
          </p:cNvPr>
          <p:cNvCxnSpPr>
            <a:stCxn xmlns:a="http://schemas.openxmlformats.org/drawingml/2006/main" id="3" idx="3"/>
            <a:endCxn xmlns:a="http://schemas.openxmlformats.org/drawingml/2006/main" id="4" idx="1"/>
          </p:cNvCxnSpPr>
          <p:nvPr/>
        </p:nvCxnSpPr>
        <p:spPr>
          <a:xfrm xmlns:a="http://schemas.openxmlformats.org/drawingml/2006/main" flipV="1">
            <a:off x="2238375" y="1928813"/>
            <a:ext cx="619125" cy="1547813"/>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033ADBE7-FE57-4771-BD3A-35B1C29DDB8D}"/>
              </a:ext>
            </a:extLst>
          </p:cNvPr>
          <p:cNvCxnSpPr>
            <a:stCxn xmlns:a="http://schemas.openxmlformats.org/drawingml/2006/main" id="4" idx="3"/>
            <a:endCxn xmlns:a="http://schemas.openxmlformats.org/drawingml/2006/main" id="8" idx="1"/>
          </p:cNvCxnSpPr>
          <p:nvPr/>
        </p:nvCxnSpPr>
        <p:spPr>
          <a:xfrm xmlns:a="http://schemas.openxmlformats.org/drawingml/2006/main">
            <a:off x="4953000" y="1928813"/>
            <a:ext cx="1285875" cy="0"/>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sp>
        <p:nvSpPr>
          <p:cNvPr id="34" name="slide-title">
            <a:extLst xmlns:a="http://schemas.openxmlformats.org/drawingml/2006/main">
              <a:ext uri="{FF2B5EF4-FFF2-40B4-BE49-F238E27FC236}">
                <a16:creationId xmlns:a16="http://schemas.microsoft.com/office/drawing/2014/main" id="{CEE0FEBE-0103-46CB-8E78-0FF7CA6C165A}"/>
              </a:ext>
            </a:extLst>
          </p:cNvPr>
          <p:cNvSpPr>
            <a:spLocks xmlns:a="http://schemas.openxmlformats.org/drawingml/2006/main" noGrp="1"/>
          </p:cNvSpPr>
          <p:nvPr/>
        </p:nvSpPr>
        <p:spPr>
          <a:xfrm xmlns:a="http://schemas.openxmlformats.org/drawingml/2006/main">
            <a:off x="571500" y="4572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313D"/>
                </a:solidFill>
                <a:latin typeface="Helvetica Neue"/>
                <a:ea typeface="Helvetica Neue"/>
                <a:cs typeface="Helvetica Neue"/>
              </a:defRPr>
            </a:defPPr>
          </a:lstStyle>
          <a:p xmlns:a="http://schemas.openxmlformats.org/drawingml/2006/main">
            <a:pPr algn="l">
              <a:defRPr sz="3300" b="1">
                <a:solidFill>
                  <a:srgbClr val="17313D"/>
                </a:solidFill>
                <a:latin typeface="Helvetica Neue"/>
                <a:ea typeface="Helvetica Neue"/>
                <a:cs typeface="Helvetica Neue"/>
              </a:defRPr>
            </a:pPr>
            <a:r>
              <a:rPr sz="3300" b="1">
                <a:solidFill>
                  <a:srgbClr val="17313D"/>
                </a:solidFill>
                <a:latin typeface="Helvetica Neue"/>
                <a:ea typeface="Helvetica Neue"/>
                <a:cs typeface="Helvetica Neue"/>
              </a:rPr>
              <a:t>Application mapping</a:t>
            </a:r>
          </a:p>
        </p:txBody>
      </p:sp>
      <p:sp>
        <p:nvSpPr>
          <p:cNvPr id="2" name="page-number">
            <a:extLst xmlns:a="http://schemas.openxmlformats.org/drawingml/2006/main">
              <a:ext uri="{FF2B5EF4-FFF2-40B4-BE49-F238E27FC236}">
                <a16:creationId xmlns:a16="http://schemas.microsoft.com/office/drawing/2014/main" id="{60FE207A-1417-42C3-8182-02DA1DBA5124}"/>
              </a:ext>
            </a:extLst>
          </p:cNvPr>
          <p:cNvSpPr>
            <a:spLocks xmlns:a="http://schemas.openxmlformats.org/drawingml/2006/main" noGrp="1"/>
          </p:cNvSpPr>
          <p:nvPr/>
        </p:nvSpPr>
        <p:spPr>
          <a:xfrm xmlns:a="http://schemas.openxmlformats.org/drawingml/2006/main">
            <a:off x="11049000" y="61341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36A73"/>
                </a:solidFill>
                <a:latin typeface="Helvetica Neue"/>
                <a:ea typeface="Helvetica Neue"/>
                <a:cs typeface="Helvetica Neue"/>
              </a:defRPr>
            </a:defPPr>
          </a:lstStyle>
          <a:p xmlns:a="http://schemas.openxmlformats.org/drawingml/2006/main">
            <a:pPr algn="r">
              <a:defRPr sz="1350" b="0">
                <a:solidFill>
                  <a:srgbClr val="536A73"/>
                </a:solidFill>
                <a:latin typeface="Helvetica Neue"/>
                <a:ea typeface="Helvetica Neue"/>
                <a:cs typeface="Helvetica Neue"/>
              </a:defRPr>
            </a:pPr>
            <a:r>
              <a:rPr sz="1350" b="0">
                <a:solidFill>
                  <a:srgbClr val="536A73"/>
                </a:solidFill>
                <a:latin typeface="Helvetica Neue"/>
                <a:ea typeface="Helvetica Neue"/>
                <a:cs typeface="Helvetica Neue"/>
              </a:rPr>
              <a:t>06</a:t>
            </a:r>
          </a:p>
        </p:txBody>
      </p:sp>
      <p:sp>
        <p:nvSpPr>
          <p:cNvPr id="3" name="node-frontend">
            <a:extLst xmlns:a="http://schemas.openxmlformats.org/drawingml/2006/main">
              <a:ext uri="{FF2B5EF4-FFF2-40B4-BE49-F238E27FC236}">
                <a16:creationId xmlns:a16="http://schemas.microsoft.com/office/drawing/2014/main" id="{E0C508D6-40D4-4710-8B6A-F3F17E1E10C7}"/>
              </a:ext>
            </a:extLst>
          </p:cNvPr>
          <p:cNvSpPr>
            <a:spLocks xmlns:a="http://schemas.openxmlformats.org/drawingml/2006/main" noGrp="1"/>
          </p:cNvSpPr>
          <p:nvPr/>
        </p:nvSpPr>
        <p:spPr>
          <a:xfrm xmlns:a="http://schemas.openxmlformats.org/drawingml/2006/main">
            <a:off x="571500" y="3143250"/>
            <a:ext cx="1666875"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725" b="0">
                <a:solidFill>
                  <a:srgbClr val="17313D"/>
                </a:solidFill>
                <a:latin typeface="Helvetica Neue"/>
                <a:ea typeface="Helvetica Neue"/>
                <a:cs typeface="Helvetica Neue"/>
              </a:defRPr>
            </a:defPPr>
          </a:lstStyle>
          <a:p xmlns:a="http://schemas.openxmlformats.org/drawingml/2006/main">
            <a:pPr algn="ctr">
              <a:defRPr sz="1725" b="0">
                <a:solidFill>
                  <a:srgbClr val="17313D"/>
                </a:solidFill>
                <a:latin typeface="Helvetica Neue"/>
                <a:ea typeface="Helvetica Neue"/>
                <a:cs typeface="Helvetica Neue"/>
              </a:defRPr>
            </a:pPr>
            <a:r>
              <a:rPr sz="1725" b="0">
                <a:solidFill>
                  <a:srgbClr val="17313D"/>
                </a:solidFill>
                <a:latin typeface="Helvetica Neue"/>
                <a:ea typeface="Helvetica Neue"/>
                <a:cs typeface="Helvetica Neue"/>
              </a:rPr>
              <a:t>frontend</a:t>
            </a:r>
          </a:p>
        </p:txBody>
      </p:sp>
      <p:sp>
        <p:nvSpPr>
          <p:cNvPr id="4" name="node-auth-service">
            <a:extLst xmlns:a="http://schemas.openxmlformats.org/drawingml/2006/main">
              <a:ext uri="{FF2B5EF4-FFF2-40B4-BE49-F238E27FC236}">
                <a16:creationId xmlns:a16="http://schemas.microsoft.com/office/drawing/2014/main" id="{035EC133-125E-46E0-BE30-5F2CC78C630F}"/>
              </a:ext>
            </a:extLst>
          </p:cNvPr>
          <p:cNvSpPr>
            <a:spLocks xmlns:a="http://schemas.openxmlformats.org/drawingml/2006/main" noGrp="1"/>
          </p:cNvSpPr>
          <p:nvPr/>
        </p:nvSpPr>
        <p:spPr>
          <a:xfrm xmlns:a="http://schemas.openxmlformats.org/drawingml/2006/main">
            <a:off x="2857500" y="1619250"/>
            <a:ext cx="2095500" cy="619125"/>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725" b="0">
                <a:solidFill>
                  <a:srgbClr val="17313D"/>
                </a:solidFill>
                <a:latin typeface="Helvetica Neue"/>
                <a:ea typeface="Helvetica Neue"/>
                <a:cs typeface="Helvetica Neue"/>
              </a:defRPr>
            </a:defPPr>
          </a:lstStyle>
          <a:p xmlns:a="http://schemas.openxmlformats.org/drawingml/2006/main">
            <a:pPr algn="ctr">
              <a:defRPr sz="1725" b="0">
                <a:solidFill>
                  <a:srgbClr val="17313D"/>
                </a:solidFill>
                <a:latin typeface="Helvetica Neue"/>
                <a:ea typeface="Helvetica Neue"/>
                <a:cs typeface="Helvetica Neue"/>
              </a:defRPr>
            </a:pPr>
            <a:r>
              <a:rPr sz="1725" b="0">
                <a:solidFill>
                  <a:srgbClr val="17313D"/>
                </a:solidFill>
                <a:latin typeface="Helvetica Neue"/>
                <a:ea typeface="Helvetica Neue"/>
                <a:cs typeface="Helvetica Neue"/>
              </a:rPr>
              <a:t>auth-service</a:t>
            </a:r>
          </a:p>
        </p:txBody>
      </p:sp>
      <p:sp>
        <p:nvSpPr>
          <p:cNvPr id="5" name="node-product-service">
            <a:extLst xmlns:a="http://schemas.openxmlformats.org/drawingml/2006/main">
              <a:ext uri="{FF2B5EF4-FFF2-40B4-BE49-F238E27FC236}">
                <a16:creationId xmlns:a16="http://schemas.microsoft.com/office/drawing/2014/main" id="{F417C3E1-C30B-41D2-81E9-99BECBD1ABF2}"/>
              </a:ext>
            </a:extLst>
          </p:cNvPr>
          <p:cNvSpPr>
            <a:spLocks xmlns:a="http://schemas.openxmlformats.org/drawingml/2006/main" noGrp="1"/>
          </p:cNvSpPr>
          <p:nvPr/>
        </p:nvSpPr>
        <p:spPr>
          <a:xfrm xmlns:a="http://schemas.openxmlformats.org/drawingml/2006/main">
            <a:off x="2857500" y="2857500"/>
            <a:ext cx="2095500" cy="619125"/>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725" b="0">
                <a:solidFill>
                  <a:srgbClr val="17313D"/>
                </a:solidFill>
                <a:latin typeface="Helvetica Neue"/>
                <a:ea typeface="Helvetica Neue"/>
                <a:cs typeface="Helvetica Neue"/>
              </a:defRPr>
            </a:defPPr>
          </a:lstStyle>
          <a:p xmlns:a="http://schemas.openxmlformats.org/drawingml/2006/main">
            <a:pPr algn="ctr">
              <a:defRPr sz="1725" b="0">
                <a:solidFill>
                  <a:srgbClr val="17313D"/>
                </a:solidFill>
                <a:latin typeface="Helvetica Neue"/>
                <a:ea typeface="Helvetica Neue"/>
                <a:cs typeface="Helvetica Neue"/>
              </a:defRPr>
            </a:pPr>
            <a:r>
              <a:rPr sz="1725" b="0">
                <a:solidFill>
                  <a:srgbClr val="17313D"/>
                </a:solidFill>
                <a:latin typeface="Helvetica Neue"/>
                <a:ea typeface="Helvetica Neue"/>
                <a:cs typeface="Helvetica Neue"/>
              </a:rPr>
              <a:t>product-service</a:t>
            </a:r>
          </a:p>
        </p:txBody>
      </p:sp>
      <p:sp>
        <p:nvSpPr>
          <p:cNvPr id="6" name="node-order-service">
            <a:extLst xmlns:a="http://schemas.openxmlformats.org/drawingml/2006/main">
              <a:ext uri="{FF2B5EF4-FFF2-40B4-BE49-F238E27FC236}">
                <a16:creationId xmlns:a16="http://schemas.microsoft.com/office/drawing/2014/main" id="{480C35E9-5846-4251-B9B7-BB4DBAC0DAF4}"/>
              </a:ext>
            </a:extLst>
          </p:cNvPr>
          <p:cNvSpPr>
            <a:spLocks xmlns:a="http://schemas.openxmlformats.org/drawingml/2006/main" noGrp="1"/>
          </p:cNvSpPr>
          <p:nvPr/>
        </p:nvSpPr>
        <p:spPr>
          <a:xfrm xmlns:a="http://schemas.openxmlformats.org/drawingml/2006/main">
            <a:off x="2857500" y="4095750"/>
            <a:ext cx="2095500" cy="619125"/>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725" b="0">
                <a:solidFill>
                  <a:srgbClr val="17313D"/>
                </a:solidFill>
                <a:latin typeface="Helvetica Neue"/>
                <a:ea typeface="Helvetica Neue"/>
                <a:cs typeface="Helvetica Neue"/>
              </a:defRPr>
            </a:defPPr>
          </a:lstStyle>
          <a:p xmlns:a="http://schemas.openxmlformats.org/drawingml/2006/main">
            <a:pPr algn="ctr">
              <a:defRPr sz="1725" b="0">
                <a:solidFill>
                  <a:srgbClr val="17313D"/>
                </a:solidFill>
                <a:latin typeface="Helvetica Neue"/>
                <a:ea typeface="Helvetica Neue"/>
                <a:cs typeface="Helvetica Neue"/>
              </a:defRPr>
            </a:pPr>
            <a:r>
              <a:rPr sz="1725" b="0">
                <a:solidFill>
                  <a:srgbClr val="17313D"/>
                </a:solidFill>
                <a:latin typeface="Helvetica Neue"/>
                <a:ea typeface="Helvetica Neue"/>
                <a:cs typeface="Helvetica Neue"/>
              </a:rPr>
              <a:t>order-service</a:t>
            </a:r>
          </a:p>
        </p:txBody>
      </p:sp>
      <p:sp>
        <p:nvSpPr>
          <p:cNvPr id="7" name="node-notification-service">
            <a:extLst xmlns:a="http://schemas.openxmlformats.org/drawingml/2006/main">
              <a:ext uri="{FF2B5EF4-FFF2-40B4-BE49-F238E27FC236}">
                <a16:creationId xmlns:a16="http://schemas.microsoft.com/office/drawing/2014/main" id="{7A011F35-7328-4859-8C69-C2C82530AFD9}"/>
              </a:ext>
            </a:extLst>
          </p:cNvPr>
          <p:cNvSpPr>
            <a:spLocks xmlns:a="http://schemas.openxmlformats.org/drawingml/2006/main" noGrp="1"/>
          </p:cNvSpPr>
          <p:nvPr/>
        </p:nvSpPr>
        <p:spPr>
          <a:xfrm xmlns:a="http://schemas.openxmlformats.org/drawingml/2006/main">
            <a:off x="2857500" y="5334000"/>
            <a:ext cx="2095500" cy="619125"/>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725" b="0">
                <a:solidFill>
                  <a:srgbClr val="17313D"/>
                </a:solidFill>
                <a:latin typeface="Helvetica Neue"/>
                <a:ea typeface="Helvetica Neue"/>
                <a:cs typeface="Helvetica Neue"/>
              </a:defRPr>
            </a:defPPr>
          </a:lstStyle>
          <a:p xmlns:a="http://schemas.openxmlformats.org/drawingml/2006/main">
            <a:pPr algn="ctr">
              <a:defRPr sz="1725" b="0">
                <a:solidFill>
                  <a:srgbClr val="17313D"/>
                </a:solidFill>
                <a:latin typeface="Helvetica Neue"/>
                <a:ea typeface="Helvetica Neue"/>
                <a:cs typeface="Helvetica Neue"/>
              </a:defRPr>
            </a:pPr>
            <a:r>
              <a:rPr sz="1725" b="0">
                <a:solidFill>
                  <a:srgbClr val="17313D"/>
                </a:solidFill>
                <a:latin typeface="Helvetica Neue"/>
                <a:ea typeface="Helvetica Neue"/>
                <a:cs typeface="Helvetica Neue"/>
              </a:rPr>
              <a:t>notification-service</a:t>
            </a:r>
          </a:p>
        </p:txBody>
      </p:sp>
      <p:sp>
        <p:nvSpPr>
          <p:cNvPr id="8" name="node-postgres">
            <a:extLst xmlns:a="http://schemas.openxmlformats.org/drawingml/2006/main">
              <a:ext uri="{FF2B5EF4-FFF2-40B4-BE49-F238E27FC236}">
                <a16:creationId xmlns:a16="http://schemas.microsoft.com/office/drawing/2014/main" id="{1DCE87BC-11E9-42A3-BA5A-FAE29F1CF2B4}"/>
              </a:ext>
            </a:extLst>
          </p:cNvPr>
          <p:cNvSpPr>
            <a:spLocks xmlns:a="http://schemas.openxmlformats.org/drawingml/2006/main" noGrp="1"/>
          </p:cNvSpPr>
          <p:nvPr/>
        </p:nvSpPr>
        <p:spPr>
          <a:xfrm xmlns:a="http://schemas.openxmlformats.org/drawingml/2006/main">
            <a:off x="6238875" y="1619250"/>
            <a:ext cx="2000250" cy="619125"/>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725" b="0">
                <a:solidFill>
                  <a:srgbClr val="17313D"/>
                </a:solidFill>
                <a:latin typeface="Helvetica Neue"/>
                <a:ea typeface="Helvetica Neue"/>
                <a:cs typeface="Helvetica Neue"/>
              </a:defRPr>
            </a:defPPr>
          </a:lstStyle>
          <a:p xmlns:a="http://schemas.openxmlformats.org/drawingml/2006/main">
            <a:pPr algn="ctr">
              <a:defRPr sz="1725" b="0">
                <a:solidFill>
                  <a:srgbClr val="17313D"/>
                </a:solidFill>
                <a:latin typeface="Helvetica Neue"/>
                <a:ea typeface="Helvetica Neue"/>
                <a:cs typeface="Helvetica Neue"/>
              </a:defRPr>
            </a:pPr>
            <a:r>
              <a:rPr sz="1725" b="0">
                <a:solidFill>
                  <a:srgbClr val="17313D"/>
                </a:solidFill>
                <a:latin typeface="Helvetica Neue"/>
                <a:ea typeface="Helvetica Neue"/>
                <a:cs typeface="Helvetica Neue"/>
              </a:rPr>
              <a:t>postgres</a:t>
            </a:r>
          </a:p>
        </p:txBody>
      </p:sp>
      <p:sp>
        <p:nvSpPr>
          <p:cNvPr id="9" name="node-redis">
            <a:extLst xmlns:a="http://schemas.openxmlformats.org/drawingml/2006/main">
              <a:ext uri="{FF2B5EF4-FFF2-40B4-BE49-F238E27FC236}">
                <a16:creationId xmlns:a16="http://schemas.microsoft.com/office/drawing/2014/main" id="{4504DEDD-43EF-47FC-8C1F-6C44B2C50B8D}"/>
              </a:ext>
            </a:extLst>
          </p:cNvPr>
          <p:cNvSpPr>
            <a:spLocks xmlns:a="http://schemas.openxmlformats.org/drawingml/2006/main" noGrp="1"/>
          </p:cNvSpPr>
          <p:nvPr/>
        </p:nvSpPr>
        <p:spPr>
          <a:xfrm xmlns:a="http://schemas.openxmlformats.org/drawingml/2006/main">
            <a:off x="6238875" y="2857500"/>
            <a:ext cx="2000250" cy="619125"/>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725" b="0">
                <a:solidFill>
                  <a:srgbClr val="17313D"/>
                </a:solidFill>
                <a:latin typeface="Helvetica Neue"/>
                <a:ea typeface="Helvetica Neue"/>
                <a:cs typeface="Helvetica Neue"/>
              </a:defRPr>
            </a:defPPr>
          </a:lstStyle>
          <a:p xmlns:a="http://schemas.openxmlformats.org/drawingml/2006/main">
            <a:pPr algn="ctr">
              <a:defRPr sz="1725" b="0">
                <a:solidFill>
                  <a:srgbClr val="17313D"/>
                </a:solidFill>
                <a:latin typeface="Helvetica Neue"/>
                <a:ea typeface="Helvetica Neue"/>
                <a:cs typeface="Helvetica Neue"/>
              </a:defRPr>
            </a:pPr>
            <a:r>
              <a:rPr sz="1725" b="0">
                <a:solidFill>
                  <a:srgbClr val="17313D"/>
                </a:solidFill>
                <a:latin typeface="Helvetica Neue"/>
                <a:ea typeface="Helvetica Neue"/>
                <a:cs typeface="Helvetica Neue"/>
              </a:rPr>
              <a:t>redis</a:t>
            </a:r>
          </a:p>
        </p:txBody>
      </p:sp>
      <p:sp>
        <p:nvSpPr>
          <p:cNvPr id="10" name="node-mongodb">
            <a:extLst xmlns:a="http://schemas.openxmlformats.org/drawingml/2006/main">
              <a:ext uri="{FF2B5EF4-FFF2-40B4-BE49-F238E27FC236}">
                <a16:creationId xmlns:a16="http://schemas.microsoft.com/office/drawing/2014/main" id="{36EA1938-3E7A-412B-80F1-216C97BAB01F}"/>
              </a:ext>
            </a:extLst>
          </p:cNvPr>
          <p:cNvSpPr>
            <a:spLocks xmlns:a="http://schemas.openxmlformats.org/drawingml/2006/main" noGrp="1"/>
          </p:cNvSpPr>
          <p:nvPr/>
        </p:nvSpPr>
        <p:spPr>
          <a:xfrm xmlns:a="http://schemas.openxmlformats.org/drawingml/2006/main">
            <a:off x="6238875" y="4095750"/>
            <a:ext cx="2000250" cy="619125"/>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725" b="0">
                <a:solidFill>
                  <a:srgbClr val="17313D"/>
                </a:solidFill>
                <a:latin typeface="Helvetica Neue"/>
                <a:ea typeface="Helvetica Neue"/>
                <a:cs typeface="Helvetica Neue"/>
              </a:defRPr>
            </a:defPPr>
          </a:lstStyle>
          <a:p xmlns:a="http://schemas.openxmlformats.org/drawingml/2006/main">
            <a:pPr algn="ctr">
              <a:defRPr sz="1725" b="0">
                <a:solidFill>
                  <a:srgbClr val="17313D"/>
                </a:solidFill>
                <a:latin typeface="Helvetica Neue"/>
                <a:ea typeface="Helvetica Neue"/>
                <a:cs typeface="Helvetica Neue"/>
              </a:defRPr>
            </a:pPr>
            <a:r>
              <a:rPr sz="1725" b="0">
                <a:solidFill>
                  <a:srgbClr val="17313D"/>
                </a:solidFill>
                <a:latin typeface="Helvetica Neue"/>
                <a:ea typeface="Helvetica Neue"/>
                <a:cs typeface="Helvetica Neue"/>
              </a:rPr>
              <a:t>mongodb</a:t>
            </a:r>
          </a:p>
        </p:txBody>
      </p:sp>
      <p:sp>
        <p:nvSpPr>
          <p:cNvPr id="11" name="node-rabbitmq">
            <a:extLst xmlns:a="http://schemas.openxmlformats.org/drawingml/2006/main">
              <a:ext uri="{FF2B5EF4-FFF2-40B4-BE49-F238E27FC236}">
                <a16:creationId xmlns:a16="http://schemas.microsoft.com/office/drawing/2014/main" id="{2E4E6FF9-AB35-4B44-93C8-A6560DC00372}"/>
              </a:ext>
            </a:extLst>
          </p:cNvPr>
          <p:cNvSpPr>
            <a:spLocks xmlns:a="http://schemas.openxmlformats.org/drawingml/2006/main" noGrp="1"/>
          </p:cNvSpPr>
          <p:nvPr/>
        </p:nvSpPr>
        <p:spPr>
          <a:xfrm xmlns:a="http://schemas.openxmlformats.org/drawingml/2006/main">
            <a:off x="6238875" y="5334000"/>
            <a:ext cx="2000250" cy="619125"/>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725" b="0">
                <a:solidFill>
                  <a:srgbClr val="17313D"/>
                </a:solidFill>
                <a:latin typeface="Helvetica Neue"/>
                <a:ea typeface="Helvetica Neue"/>
                <a:cs typeface="Helvetica Neue"/>
              </a:defRPr>
            </a:defPPr>
          </a:lstStyle>
          <a:p xmlns:a="http://schemas.openxmlformats.org/drawingml/2006/main">
            <a:pPr algn="ctr">
              <a:defRPr sz="1725" b="0">
                <a:solidFill>
                  <a:srgbClr val="17313D"/>
                </a:solidFill>
                <a:latin typeface="Helvetica Neue"/>
                <a:ea typeface="Helvetica Neue"/>
                <a:cs typeface="Helvetica Neue"/>
              </a:defRPr>
            </a:pPr>
            <a:r>
              <a:rPr sz="1725" b="0">
                <a:solidFill>
                  <a:srgbClr val="17313D"/>
                </a:solidFill>
                <a:latin typeface="Helvetica Neue"/>
                <a:ea typeface="Helvetica Neue"/>
                <a:cs typeface="Helvetica Neue"/>
              </a:rPr>
              <a:t>rabbitmq</a:t>
            </a:r>
          </a:p>
        </p:txBody>
      </p:sp>
      <p:sp>
        <p:nvSpPr>
          <p:cNvPr id="12" name="node-cloudinary">
            <a:extLst xmlns:a="http://schemas.openxmlformats.org/drawingml/2006/main">
              <a:ext uri="{FF2B5EF4-FFF2-40B4-BE49-F238E27FC236}">
                <a16:creationId xmlns:a16="http://schemas.microsoft.com/office/drawing/2014/main" id="{C28DED74-30A3-443F-AB2A-6B8582C91C19}"/>
              </a:ext>
            </a:extLst>
          </p:cNvPr>
          <p:cNvSpPr>
            <a:spLocks xmlns:a="http://schemas.openxmlformats.org/drawingml/2006/main" noGrp="1"/>
          </p:cNvSpPr>
          <p:nvPr/>
        </p:nvSpPr>
        <p:spPr>
          <a:xfrm xmlns:a="http://schemas.openxmlformats.org/drawingml/2006/main">
            <a:off x="9382125" y="2857500"/>
            <a:ext cx="2190750" cy="619125"/>
          </a:xfrm>
          <a:prstGeom xmlns:a="http://schemas.openxmlformats.org/drawingml/2006/main" prst="rect">
            <a:avLst/>
          </a:prstGeom>
          <a:solidFill xmlns:a="http://schemas.openxmlformats.org/drawingml/2006/main">
            <a:srgbClr val="EFF3F4"/>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725" b="0">
                <a:solidFill>
                  <a:srgbClr val="17313D"/>
                </a:solidFill>
                <a:latin typeface="Helvetica Neue"/>
                <a:ea typeface="Helvetica Neue"/>
                <a:cs typeface="Helvetica Neue"/>
              </a:defRPr>
            </a:defPPr>
          </a:lstStyle>
          <a:p xmlns:a="http://schemas.openxmlformats.org/drawingml/2006/main">
            <a:pPr algn="ctr">
              <a:defRPr sz="1725" b="0">
                <a:solidFill>
                  <a:srgbClr val="17313D"/>
                </a:solidFill>
                <a:latin typeface="Helvetica Neue"/>
                <a:ea typeface="Helvetica Neue"/>
                <a:cs typeface="Helvetica Neue"/>
              </a:defRPr>
            </a:pPr>
            <a:r>
              <a:rPr sz="1725" b="0">
                <a:solidFill>
                  <a:srgbClr val="17313D"/>
                </a:solidFill>
                <a:latin typeface="Helvetica Neue"/>
                <a:ea typeface="Helvetica Neue"/>
                <a:cs typeface="Helvetica Neue"/>
              </a:rPr>
              <a:t>cloudinary</a:t>
            </a:r>
          </a:p>
        </p:txBody>
      </p:sp>
      <p:sp>
        <p:nvSpPr>
          <p:cNvPr id="13" name="node-stripe">
            <a:extLst xmlns:a="http://schemas.openxmlformats.org/drawingml/2006/main">
              <a:ext uri="{FF2B5EF4-FFF2-40B4-BE49-F238E27FC236}">
                <a16:creationId xmlns:a16="http://schemas.microsoft.com/office/drawing/2014/main" id="{46CC2644-2258-4B42-A8DB-6674C060B466}"/>
              </a:ext>
            </a:extLst>
          </p:cNvPr>
          <p:cNvSpPr>
            <a:spLocks xmlns:a="http://schemas.openxmlformats.org/drawingml/2006/main" noGrp="1"/>
          </p:cNvSpPr>
          <p:nvPr/>
        </p:nvSpPr>
        <p:spPr>
          <a:xfrm xmlns:a="http://schemas.openxmlformats.org/drawingml/2006/main">
            <a:off x="9382125" y="4095750"/>
            <a:ext cx="2190750" cy="619125"/>
          </a:xfrm>
          <a:prstGeom xmlns:a="http://schemas.openxmlformats.org/drawingml/2006/main" prst="rect">
            <a:avLst/>
          </a:prstGeom>
          <a:solidFill xmlns:a="http://schemas.openxmlformats.org/drawingml/2006/main">
            <a:srgbClr val="EFF3F4"/>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725" b="0">
                <a:solidFill>
                  <a:srgbClr val="17313D"/>
                </a:solidFill>
                <a:latin typeface="Helvetica Neue"/>
                <a:ea typeface="Helvetica Neue"/>
                <a:cs typeface="Helvetica Neue"/>
              </a:defRPr>
            </a:defPPr>
          </a:lstStyle>
          <a:p xmlns:a="http://schemas.openxmlformats.org/drawingml/2006/main">
            <a:pPr algn="ctr">
              <a:defRPr sz="1725" b="0">
                <a:solidFill>
                  <a:srgbClr val="17313D"/>
                </a:solidFill>
                <a:latin typeface="Helvetica Neue"/>
                <a:ea typeface="Helvetica Neue"/>
                <a:cs typeface="Helvetica Neue"/>
              </a:defRPr>
            </a:pPr>
            <a:r>
              <a:rPr sz="1725" b="0">
                <a:solidFill>
                  <a:srgbClr val="17313D"/>
                </a:solidFill>
                <a:latin typeface="Helvetica Neue"/>
                <a:ea typeface="Helvetica Neue"/>
                <a:cs typeface="Helvetica Neue"/>
              </a:rPr>
              <a:t>stripe</a:t>
            </a:r>
          </a:p>
        </p:txBody>
      </p:sp>
      <p:sp>
        <p:nvSpPr>
          <p:cNvPr id="14" name="node-resend">
            <a:extLst xmlns:a="http://schemas.openxmlformats.org/drawingml/2006/main">
              <a:ext uri="{FF2B5EF4-FFF2-40B4-BE49-F238E27FC236}">
                <a16:creationId xmlns:a16="http://schemas.microsoft.com/office/drawing/2014/main" id="{3A45F6E1-BE8D-4E21-ABF9-99CE0303F12A}"/>
              </a:ext>
            </a:extLst>
          </p:cNvPr>
          <p:cNvSpPr>
            <a:spLocks xmlns:a="http://schemas.openxmlformats.org/drawingml/2006/main" noGrp="1"/>
          </p:cNvSpPr>
          <p:nvPr/>
        </p:nvSpPr>
        <p:spPr>
          <a:xfrm xmlns:a="http://schemas.openxmlformats.org/drawingml/2006/main">
            <a:off x="9382125" y="5334000"/>
            <a:ext cx="2190750" cy="619125"/>
          </a:xfrm>
          <a:prstGeom xmlns:a="http://schemas.openxmlformats.org/drawingml/2006/main" prst="rect">
            <a:avLst/>
          </a:prstGeom>
          <a:solidFill xmlns:a="http://schemas.openxmlformats.org/drawingml/2006/main">
            <a:srgbClr val="EFF3F4"/>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725" b="0">
                <a:solidFill>
                  <a:srgbClr val="17313D"/>
                </a:solidFill>
                <a:latin typeface="Helvetica Neue"/>
                <a:ea typeface="Helvetica Neue"/>
                <a:cs typeface="Helvetica Neue"/>
              </a:defRPr>
            </a:defPPr>
          </a:lstStyle>
          <a:p xmlns:a="http://schemas.openxmlformats.org/drawingml/2006/main">
            <a:pPr algn="ctr">
              <a:defRPr sz="1725" b="0">
                <a:solidFill>
                  <a:srgbClr val="17313D"/>
                </a:solidFill>
                <a:latin typeface="Helvetica Neue"/>
                <a:ea typeface="Helvetica Neue"/>
                <a:cs typeface="Helvetica Neue"/>
              </a:defRPr>
            </a:pPr>
            <a:r>
              <a:rPr sz="1725" b="0">
                <a:solidFill>
                  <a:srgbClr val="17313D"/>
                </a:solidFill>
                <a:latin typeface="Helvetica Neue"/>
                <a:ea typeface="Helvetica Neue"/>
                <a:cs typeface="Helvetica Neue"/>
              </a:rPr>
              <a:t>resend</a:t>
            </a:r>
          </a:p>
        </p:txBody>
      </p:sp>
      <p:sp>
        <p:nvSpPr>
          <p:cNvPr id="15" name="node-mailhog">
            <a:extLst xmlns:a="http://schemas.openxmlformats.org/drawingml/2006/main">
              <a:ext uri="{FF2B5EF4-FFF2-40B4-BE49-F238E27FC236}">
                <a16:creationId xmlns:a16="http://schemas.microsoft.com/office/drawing/2014/main" id="{D5A6CE14-2DE2-4C93-AAED-962FD2C89FD5}"/>
              </a:ext>
            </a:extLst>
          </p:cNvPr>
          <p:cNvSpPr>
            <a:spLocks xmlns:a="http://schemas.openxmlformats.org/drawingml/2006/main" noGrp="1"/>
          </p:cNvSpPr>
          <p:nvPr/>
        </p:nvSpPr>
        <p:spPr>
          <a:xfrm xmlns:a="http://schemas.openxmlformats.org/drawingml/2006/main">
            <a:off x="9382125" y="1619250"/>
            <a:ext cx="2190750" cy="619125"/>
          </a:xfrm>
          <a:prstGeom xmlns:a="http://schemas.openxmlformats.org/drawingml/2006/main" prst="rect">
            <a:avLst/>
          </a:prstGeom>
          <a:solidFill xmlns:a="http://schemas.openxmlformats.org/drawingml/2006/main">
            <a:srgbClr val="EFF3F4"/>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725" b="0">
                <a:solidFill>
                  <a:srgbClr val="17313D"/>
                </a:solidFill>
                <a:latin typeface="Helvetica Neue"/>
                <a:ea typeface="Helvetica Neue"/>
                <a:cs typeface="Helvetica Neue"/>
              </a:defRPr>
            </a:defPPr>
          </a:lstStyle>
          <a:p xmlns:a="http://schemas.openxmlformats.org/drawingml/2006/main">
            <a:pPr algn="ctr">
              <a:defRPr sz="1725" b="0">
                <a:solidFill>
                  <a:srgbClr val="17313D"/>
                </a:solidFill>
                <a:latin typeface="Helvetica Neue"/>
                <a:ea typeface="Helvetica Neue"/>
                <a:cs typeface="Helvetica Neue"/>
              </a:defRPr>
            </a:pPr>
            <a:r>
              <a:rPr sz="1725" b="0">
                <a:solidFill>
                  <a:srgbClr val="17313D"/>
                </a:solidFill>
                <a:latin typeface="Helvetica Neue"/>
                <a:ea typeface="Helvetica Neue"/>
                <a:cs typeface="Helvetica Neue"/>
              </a:rPr>
              <a:t>mailhog</a:t>
            </a:r>
          </a:p>
        </p:txBody>
      </p:sp>
      <p:sp>
        <p:nvSpPr>
          <p:cNvPr id="22" name="notification-service">
            <a:extLst xmlns:a="http://schemas.openxmlformats.org/drawingml/2006/main">
              <a:ext uri="{FF2B5EF4-FFF2-40B4-BE49-F238E27FC236}">
                <a16:creationId xmlns:a16="http://schemas.microsoft.com/office/drawing/2014/main" id="{6307588D-38BE-4FB6-B8DA-E1E5208F3596}"/>
              </a:ext>
            </a:extLst>
          </p:cNvPr>
          <p:cNvSpPr>
            <a:spLocks xmlns:a="http://schemas.openxmlformats.org/drawingml/2006/main" noGrp="1"/>
          </p:cNvSpPr>
          <p:nvPr/>
        </p:nvSpPr>
        <p:spPr>
          <a:xfrm xmlns:a="http://schemas.openxmlformats.org/drawingml/2006/main">
            <a:off x="9382125" y="4876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536A73"/>
                </a:solidFill>
                <a:latin typeface="Helvetica Neue"/>
                <a:ea typeface="Helvetica Neue"/>
                <a:cs typeface="Helvetica Neue"/>
              </a:defRPr>
            </a:defPPr>
          </a:lstStyle>
          <a:p xmlns:a="http://schemas.openxmlformats.org/drawingml/2006/main">
            <a:pPr algn="ctr">
              <a:defRPr sz="1650" b="0">
                <a:solidFill>
                  <a:srgbClr val="536A73"/>
                </a:solidFill>
                <a:latin typeface="Helvetica Neue"/>
                <a:ea typeface="Helvetica Neue"/>
                <a:cs typeface="Helvetica Neue"/>
              </a:defRPr>
            </a:pPr>
            <a:r>
              <a:rPr sz="1650" b="0">
                <a:solidFill>
                  <a:srgbClr val="536A73"/>
                </a:solidFill>
                <a:latin typeface="Helvetica Neue"/>
                <a:ea typeface="Helvetica Neue"/>
                <a:cs typeface="Helvetica Neue"/>
              </a:rPr>
              <a:t>notification-service</a:t>
            </a:r>
          </a:p>
        </p:txBody>
      </p:sp>
      <p:sp>
        <p:nvSpPr>
          <p:cNvPr id="26" name="order-service">
            <a:extLst xmlns:a="http://schemas.openxmlformats.org/drawingml/2006/main">
              <a:ext uri="{FF2B5EF4-FFF2-40B4-BE49-F238E27FC236}">
                <a16:creationId xmlns:a16="http://schemas.microsoft.com/office/drawing/2014/main" id="{8431F1AF-4A53-49B5-8BCB-E06AC810A6E3}"/>
              </a:ext>
            </a:extLst>
          </p:cNvPr>
          <p:cNvSpPr>
            <a:spLocks xmlns:a="http://schemas.openxmlformats.org/drawingml/2006/main" noGrp="1"/>
          </p:cNvSpPr>
          <p:nvPr/>
        </p:nvSpPr>
        <p:spPr>
          <a:xfrm xmlns:a="http://schemas.openxmlformats.org/drawingml/2006/main">
            <a:off x="9382125" y="36385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536A73"/>
                </a:solidFill>
                <a:latin typeface="Helvetica Neue"/>
                <a:ea typeface="Helvetica Neue"/>
                <a:cs typeface="Helvetica Neue"/>
              </a:defRPr>
            </a:defPPr>
          </a:lstStyle>
          <a:p xmlns:a="http://schemas.openxmlformats.org/drawingml/2006/main">
            <a:pPr algn="ctr">
              <a:defRPr sz="1650" b="0">
                <a:solidFill>
                  <a:srgbClr val="536A73"/>
                </a:solidFill>
                <a:latin typeface="Helvetica Neue"/>
                <a:ea typeface="Helvetica Neue"/>
                <a:cs typeface="Helvetica Neue"/>
              </a:defRPr>
            </a:pPr>
            <a:r>
              <a:rPr sz="1650" b="0">
                <a:solidFill>
                  <a:srgbClr val="536A73"/>
                </a:solidFill>
                <a:latin typeface="Helvetica Neue"/>
                <a:ea typeface="Helvetica Neue"/>
                <a:cs typeface="Helvetica Neue"/>
              </a:rPr>
              <a:t>order-service</a:t>
            </a:r>
          </a:p>
        </p:txBody>
      </p:sp>
      <p:sp>
        <p:nvSpPr>
          <p:cNvPr id="28" name="product-service">
            <a:extLst xmlns:a="http://schemas.openxmlformats.org/drawingml/2006/main">
              <a:ext uri="{FF2B5EF4-FFF2-40B4-BE49-F238E27FC236}">
                <a16:creationId xmlns:a16="http://schemas.microsoft.com/office/drawing/2014/main" id="{3ED316C0-7453-422D-B62E-B475D13E63A4}"/>
              </a:ext>
            </a:extLst>
          </p:cNvPr>
          <p:cNvSpPr>
            <a:spLocks xmlns:a="http://schemas.openxmlformats.org/drawingml/2006/main" noGrp="1"/>
          </p:cNvSpPr>
          <p:nvPr/>
        </p:nvSpPr>
        <p:spPr>
          <a:xfrm xmlns:a="http://schemas.openxmlformats.org/drawingml/2006/main">
            <a:off x="9382125" y="24003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536A73"/>
                </a:solidFill>
                <a:latin typeface="Helvetica Neue"/>
                <a:ea typeface="Helvetica Neue"/>
                <a:cs typeface="Helvetica Neue"/>
              </a:defRPr>
            </a:defPPr>
          </a:lstStyle>
          <a:p xmlns:a="http://schemas.openxmlformats.org/drawingml/2006/main">
            <a:pPr algn="ctr">
              <a:defRPr sz="1650" b="0">
                <a:solidFill>
                  <a:srgbClr val="536A73"/>
                </a:solidFill>
                <a:latin typeface="Helvetica Neue"/>
                <a:ea typeface="Helvetica Neue"/>
                <a:cs typeface="Helvetica Neue"/>
              </a:defRPr>
            </a:pPr>
            <a:r>
              <a:rPr sz="1650" b="0">
                <a:solidFill>
                  <a:srgbClr val="536A73"/>
                </a:solidFill>
                <a:latin typeface="Helvetica Neue"/>
                <a:ea typeface="Helvetica Neue"/>
                <a:cs typeface="Helvetica Neue"/>
              </a:rPr>
              <a:t>product-service</a:t>
            </a:r>
          </a:p>
        </p:txBody>
      </p:sp>
      <p:sp>
        <p:nvSpPr>
          <p:cNvPr id="33" name="Compose + overrides. External services excluded.">
            <a:extLst xmlns:a="http://schemas.openxmlformats.org/drawingml/2006/main">
              <a:ext uri="{FF2B5EF4-FFF2-40B4-BE49-F238E27FC236}">
                <a16:creationId xmlns:a16="http://schemas.microsoft.com/office/drawing/2014/main" id="{232604C2-6B9A-42A2-B0A0-AA438949C569}"/>
              </a:ext>
            </a:extLst>
          </p:cNvPr>
          <p:cNvSpPr>
            <a:spLocks xmlns:a="http://schemas.openxmlformats.org/drawingml/2006/main" noGrp="1"/>
          </p:cNvSpPr>
          <p:nvPr/>
        </p:nvSpPr>
        <p:spPr>
          <a:xfrm xmlns:a="http://schemas.openxmlformats.org/drawingml/2006/main">
            <a:off x="571500" y="60483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36A73"/>
                </a:solidFill>
                <a:latin typeface="Helvetica Neue"/>
                <a:ea typeface="Helvetica Neue"/>
                <a:cs typeface="Helvetica Neue"/>
              </a:defRPr>
            </a:defPPr>
          </a:lstStyle>
          <a:p xmlns:a="http://schemas.openxmlformats.org/drawingml/2006/main">
            <a:pPr algn="l">
              <a:defRPr sz="1800" b="0">
                <a:solidFill>
                  <a:srgbClr val="536A73"/>
                </a:solidFill>
                <a:latin typeface="Helvetica Neue"/>
                <a:ea typeface="Helvetica Neue"/>
                <a:cs typeface="Helvetica Neue"/>
              </a:defRPr>
            </a:pPr>
            <a:r>
              <a:rPr sz="1800" b="0">
                <a:solidFill>
                  <a:srgbClr val="536A73"/>
                </a:solidFill>
                <a:latin typeface="Helvetica Neue"/>
                <a:ea typeface="Helvetica Neue"/>
                <a:cs typeface="Helvetica Neue"/>
              </a:rPr>
              <a:t>Compose + overrides. External services excluded. Flows are touch-sets.</a:t>
            </a:r>
          </a:p>
        </p:txBody>
      </p:sp>
    </p:spTree>
    <p:extLst>
      <p:ext uri="{BB962C8B-B14F-4D97-AF65-F5344CB8AC3E}">
        <p14:creationId xmlns:p14="http://schemas.microsoft.com/office/powerpoint/2010/main" val="1545378450"/>
      </p:ext>
    </p:extLst>
  </p:cSld>
</p:sld>
</file>

<file path=ppt/slides/slide7.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E5BD2B2-3ECC-4C40-8B7E-AA9CCE772C1B}"/>
              </a:ext>
            </a:extLst>
          </p:cNvPr>
          <p:cNvSpPr>
            <a:spLocks xmlns:a="http://schemas.openxmlformats.org/drawingml/2006/main" noGrp="1"/>
          </p:cNvSpPr>
          <p:nvPr/>
        </p:nvSpPr>
        <p:spPr>
          <a:xfrm xmlns:a="http://schemas.openxmlformats.org/drawingml/2006/main">
            <a:off x="571500" y="4572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313D"/>
                </a:solidFill>
                <a:latin typeface="Helvetica Neue"/>
                <a:ea typeface="Helvetica Neue"/>
                <a:cs typeface="Helvetica Neue"/>
              </a:defRPr>
            </a:defPPr>
          </a:lstStyle>
          <a:p xmlns:a="http://schemas.openxmlformats.org/drawingml/2006/main">
            <a:pPr algn="l">
              <a:defRPr sz="3300" b="1">
                <a:solidFill>
                  <a:srgbClr val="17313D"/>
                </a:solidFill>
                <a:latin typeface="Helvetica Neue"/>
                <a:ea typeface="Helvetica Neue"/>
                <a:cs typeface="Helvetica Neue"/>
              </a:defRPr>
            </a:pPr>
            <a:r>
              <a:rPr sz="3300" b="1">
                <a:solidFill>
                  <a:srgbClr val="17313D"/>
                </a:solidFill>
                <a:latin typeface="Helvetica Neue"/>
                <a:ea typeface="Helvetica Neue"/>
                <a:cs typeface="Helvetica Neue"/>
              </a:rPr>
              <a:t>Monitoring baseline</a:t>
            </a:r>
          </a:p>
        </p:txBody>
      </p:sp>
      <p:sp>
        <p:nvSpPr>
          <p:cNvPr id="2" name="page-number">
            <a:extLst xmlns:a="http://schemas.openxmlformats.org/drawingml/2006/main">
              <a:ext uri="{FF2B5EF4-FFF2-40B4-BE49-F238E27FC236}">
                <a16:creationId xmlns:a16="http://schemas.microsoft.com/office/drawing/2014/main" id="{347FFA12-5CF7-4EBD-9F59-298B77EA7AD8}"/>
              </a:ext>
            </a:extLst>
          </p:cNvPr>
          <p:cNvSpPr>
            <a:spLocks xmlns:a="http://schemas.openxmlformats.org/drawingml/2006/main" noGrp="1"/>
          </p:cNvSpPr>
          <p:nvPr/>
        </p:nvSpPr>
        <p:spPr>
          <a:xfrm xmlns:a="http://schemas.openxmlformats.org/drawingml/2006/main">
            <a:off x="11049000" y="61341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36A73"/>
                </a:solidFill>
                <a:latin typeface="Helvetica Neue"/>
                <a:ea typeface="Helvetica Neue"/>
                <a:cs typeface="Helvetica Neue"/>
              </a:defRPr>
            </a:defPPr>
          </a:lstStyle>
          <a:p xmlns:a="http://schemas.openxmlformats.org/drawingml/2006/main">
            <a:pPr algn="r">
              <a:defRPr sz="1350" b="0">
                <a:solidFill>
                  <a:srgbClr val="536A73"/>
                </a:solidFill>
                <a:latin typeface="Helvetica Neue"/>
                <a:ea typeface="Helvetica Neue"/>
                <a:cs typeface="Helvetica Neue"/>
              </a:defRPr>
            </a:pPr>
            <a:r>
              <a:rPr sz="1350" b="0">
                <a:solidFill>
                  <a:srgbClr val="536A73"/>
                </a:solidFill>
                <a:latin typeface="Helvetica Neue"/>
                <a:ea typeface="Helvetica Neue"/>
                <a:cs typeface="Helvetica Neue"/>
              </a:rPr>
              <a:t>07</a:t>
            </a:r>
          </a:p>
        </p:txBody>
      </p:sp>
      <p:graphicFrame>
        <p:nvGraphicFramePr>
          <p:cNvPr id="3" name="">
            <a:extLst xmlns:a="http://schemas.openxmlformats.org/drawingml/2006/main">
              <a:ext uri="{FF2B5EF4-FFF2-40B4-BE49-F238E27FC236}">
                <a16:creationId xmlns:a16="http://schemas.microsoft.com/office/drawing/2014/main" id="{9AE4707A-12B6-473D-8552-0941D3C95B2C}"/>
              </a:ext>
            </a:extLst>
          </p:cNvPr>
          <p:cNvGraphicFramePr/>
          <p:nvPr/>
        </p:nvGraphicFramePr>
        <p:xfrm>
          <a:off xmlns:a="http://schemas.openxmlformats.org/drawingml/2006/main" x="571500" y="1762125"/>
          <a:ext xmlns:a="http://schemas.openxmlformats.org/drawingml/2006/main" cx="11049000" cy="3143250"/>
        </p:xfrm>
        <a:graphic xmlns:a="http://schemas.openxmlformats.org/drawingml/2006/main">
          <a:graphicData uri="http://schemas.openxmlformats.org/drawingml/2006/table">
            <a:tbl>
              <a:tblPr/>
              <a:tblGrid>
                <a:gridCol w="2381250"/>
                <a:gridCol w="2190750"/>
                <a:gridCol w="3238500"/>
                <a:gridCol w="3238500"/>
              </a:tblGrid>
              <a:tr h="628650">
                <a:tc>
                  <a:txBody>
                    <a:bodyPr/>
                    <a:lstStyle/>
                    <a:p>
                      <a:r>
                        <a:rPr sz="2100" b="1">
                          <a:solidFill>
                            <a:srgbClr val="FFFFFF"/>
                          </a:solidFill>
                          <a:latin typeface="Helvetica Neue"/>
                          <a:ea typeface="Helvetica Neue"/>
                          <a:cs typeface="Helvetica Neue"/>
                        </a:rPr>
                        <a:t>Journey</a:t>
                      </a:r>
                    </a:p>
                  </a:txBody>
                  <a:tcPr marL="133350" marR="95250" marT="95250" marB="95250" anchor="ctr">
                    <a:solidFill>
                      <a:srgbClr val="102A35"/>
                    </a:solidFill>
                  </a:tcPr>
                </a:tc>
                <a:tc>
                  <a:txBody>
                    <a:bodyPr/>
                    <a:lstStyle/>
                    <a:p>
                      <a:r>
                        <a:rPr sz="2100" b="1">
                          <a:solidFill>
                            <a:srgbClr val="FFFFFF"/>
                          </a:solidFill>
                          <a:latin typeface="Helvetica Neue"/>
                          <a:ea typeface="Helvetica Neue"/>
                          <a:cs typeface="Helvetica Neue"/>
                        </a:rPr>
                        <a:t>p95 ms</a:t>
                      </a:r>
                    </a:p>
                  </a:txBody>
                  <a:tcPr marL="133350" marR="95250" marT="95250" marB="95250" anchor="ctr">
                    <a:solidFill>
                      <a:srgbClr val="102A35"/>
                    </a:solidFill>
                  </a:tcPr>
                </a:tc>
                <a:tc>
                  <a:txBody>
                    <a:bodyPr/>
                    <a:lstStyle/>
                    <a:p>
                      <a:r>
                        <a:rPr sz="2100" b="1">
                          <a:solidFill>
                            <a:srgbClr val="FFFFFF"/>
                          </a:solidFill>
                          <a:latin typeface="Helvetica Neue"/>
                          <a:ea typeface="Helvetica Neue"/>
                          <a:cs typeface="Helvetica Neue"/>
                        </a:rPr>
                        <a:t>Hypothesis ms</a:t>
                      </a:r>
                    </a:p>
                  </a:txBody>
                  <a:tcPr marL="133350" marR="95250" marT="95250" marB="95250" anchor="ctr">
                    <a:solidFill>
                      <a:srgbClr val="102A35"/>
                    </a:solidFill>
                  </a:tcPr>
                </a:tc>
                <a:tc>
                  <a:txBody>
                    <a:bodyPr/>
                    <a:lstStyle/>
                    <a:p>
                      <a:r>
                        <a:rPr sz="2100" b="1">
                          <a:solidFill>
                            <a:srgbClr val="FFFFFF"/>
                          </a:solidFill>
                          <a:latin typeface="Helvetica Neue"/>
                          <a:ea typeface="Helvetica Neue"/>
                          <a:cs typeface="Helvetica Neue"/>
                        </a:rPr>
                        <a:t>Abort ms</a:t>
                      </a:r>
                    </a:p>
                  </a:txBody>
                  <a:tcPr marL="133350" marR="95250" marT="95250" marB="95250" anchor="ctr">
                    <a:solidFill>
                      <a:srgbClr val="102A35"/>
                    </a:solidFill>
                  </a:tcPr>
                </a:tc>
              </a:tr>
              <a:tr h="628650">
                <a:tc>
                  <a:txBody>
                    <a:bodyPr/>
                    <a:lstStyle/>
                    <a:p>
                      <a:r>
                        <a:rPr sz="2100" b="0">
                          <a:solidFill>
                            <a:srgbClr val="17313D"/>
                          </a:solidFill>
                          <a:latin typeface="Helvetica Neue"/>
                          <a:ea typeface="Helvetica Neue"/>
                          <a:cs typeface="Helvetica Neue"/>
                        </a:rPr>
                        <a:t>browse</a:t>
                      </a:r>
                    </a:p>
                  </a:txBody>
                  <a:tcPr marL="133350" marR="95250" marT="95250" marB="95250" anchor="ctr">
                    <a:solidFill>
                      <a:srgbClr val="FAFCFC"/>
                    </a:solidFill>
                  </a:tcPr>
                </a:tc>
                <a:tc>
                  <a:txBody>
                    <a:bodyPr/>
                    <a:lstStyle/>
                    <a:p>
                      <a:r>
                        <a:rPr sz="2100" b="0">
                          <a:solidFill>
                            <a:srgbClr val="17313D"/>
                          </a:solidFill>
                          <a:latin typeface="Helvetica Neue"/>
                          <a:ea typeface="Helvetica Neue"/>
                          <a:cs typeface="Helvetica Neue"/>
                        </a:rPr>
                        <a:t>6.5</a:t>
                      </a:r>
                    </a:p>
                  </a:txBody>
                  <a:tcPr marL="133350" marR="95250" marT="95250" marB="95250" anchor="ctr">
                    <a:solidFill>
                      <a:srgbClr val="FAFCFC"/>
                    </a:solidFill>
                  </a:tcPr>
                </a:tc>
                <a:tc>
                  <a:txBody>
                    <a:bodyPr/>
                    <a:lstStyle/>
                    <a:p>
                      <a:r>
                        <a:rPr sz="2100" b="0">
                          <a:solidFill>
                            <a:srgbClr val="17313D"/>
                          </a:solidFill>
                          <a:latin typeface="Helvetica Neue"/>
                          <a:ea typeface="Helvetica Neue"/>
                          <a:cs typeface="Helvetica Neue"/>
                        </a:rPr>
                        <a:t>106.5</a:t>
                      </a:r>
                    </a:p>
                  </a:txBody>
                  <a:tcPr marL="133350" marR="95250" marT="95250" marB="95250" anchor="ctr">
                    <a:solidFill>
                      <a:srgbClr val="FAFCFC"/>
                    </a:solidFill>
                  </a:tcPr>
                </a:tc>
                <a:tc>
                  <a:txBody>
                    <a:bodyPr/>
                    <a:lstStyle/>
                    <a:p>
                      <a:r>
                        <a:rPr sz="2100" b="0">
                          <a:solidFill>
                            <a:srgbClr val="17313D"/>
                          </a:solidFill>
                          <a:latin typeface="Helvetica Neue"/>
                          <a:ea typeface="Helvetica Neue"/>
                          <a:cs typeface="Helvetica Neue"/>
                        </a:rPr>
                        <a:t>756.5</a:t>
                      </a:r>
                    </a:p>
                  </a:txBody>
                  <a:tcPr marL="133350" marR="95250" marT="95250" marB="95250" anchor="ctr">
                    <a:solidFill>
                      <a:srgbClr val="FAFCFC"/>
                    </a:solidFill>
                  </a:tcPr>
                </a:tc>
              </a:tr>
              <a:tr h="628650">
                <a:tc>
                  <a:txBody>
                    <a:bodyPr/>
                    <a:lstStyle/>
                    <a:p>
                      <a:r>
                        <a:rPr sz="2100" b="0">
                          <a:solidFill>
                            <a:srgbClr val="17313D"/>
                          </a:solidFill>
                          <a:latin typeface="Helvetica Neue"/>
                          <a:ea typeface="Helvetica Neue"/>
                          <a:cs typeface="Helvetica Neue"/>
                        </a:rPr>
                        <a:t>checkout</a:t>
                      </a:r>
                    </a:p>
                  </a:txBody>
                  <a:tcPr marL="133350" marR="95250" marT="95250" marB="95250" anchor="ctr">
                    <a:solidFill>
                      <a:srgbClr val="EFF3F4"/>
                    </a:solidFill>
                  </a:tcPr>
                </a:tc>
                <a:tc>
                  <a:txBody>
                    <a:bodyPr/>
                    <a:lstStyle/>
                    <a:p>
                      <a:r>
                        <a:rPr sz="2100" b="0">
                          <a:solidFill>
                            <a:srgbClr val="17313D"/>
                          </a:solidFill>
                          <a:latin typeface="Helvetica Neue"/>
                          <a:ea typeface="Helvetica Neue"/>
                          <a:cs typeface="Helvetica Neue"/>
                        </a:rPr>
                        <a:t>26.1</a:t>
                      </a:r>
                    </a:p>
                  </a:txBody>
                  <a:tcPr marL="133350" marR="95250" marT="95250" marB="95250" anchor="ctr">
                    <a:solidFill>
                      <a:srgbClr val="EFF3F4"/>
                    </a:solidFill>
                  </a:tcPr>
                </a:tc>
                <a:tc>
                  <a:txBody>
                    <a:bodyPr/>
                    <a:lstStyle/>
                    <a:p>
                      <a:r>
                        <a:rPr sz="2100" b="0">
                          <a:solidFill>
                            <a:srgbClr val="17313D"/>
                          </a:solidFill>
                          <a:latin typeface="Helvetica Neue"/>
                          <a:ea typeface="Helvetica Neue"/>
                          <a:cs typeface="Helvetica Neue"/>
                        </a:rPr>
                        <a:t>126.1</a:t>
                      </a:r>
                    </a:p>
                  </a:txBody>
                  <a:tcPr marL="133350" marR="95250" marT="95250" marB="95250" anchor="ctr">
                    <a:solidFill>
                      <a:srgbClr val="EFF3F4"/>
                    </a:solidFill>
                  </a:tcPr>
                </a:tc>
                <a:tc>
                  <a:txBody>
                    <a:bodyPr/>
                    <a:lstStyle/>
                    <a:p>
                      <a:r>
                        <a:rPr sz="2100" b="0">
                          <a:solidFill>
                            <a:srgbClr val="17313D"/>
                          </a:solidFill>
                          <a:latin typeface="Helvetica Neue"/>
                          <a:ea typeface="Helvetica Neue"/>
                          <a:cs typeface="Helvetica Neue"/>
                        </a:rPr>
                        <a:t>776.1</a:t>
                      </a:r>
                    </a:p>
                  </a:txBody>
                  <a:tcPr marL="133350" marR="95250" marT="95250" marB="95250" anchor="ctr">
                    <a:solidFill>
                      <a:srgbClr val="EFF3F4"/>
                    </a:solidFill>
                  </a:tcPr>
                </a:tc>
              </a:tr>
              <a:tr h="628650">
                <a:tc>
                  <a:txBody>
                    <a:bodyPr/>
                    <a:lstStyle/>
                    <a:p>
                      <a:r>
                        <a:rPr sz="2100" b="0">
                          <a:solidFill>
                            <a:srgbClr val="17313D"/>
                          </a:solidFill>
                          <a:latin typeface="Helvetica Neue"/>
                          <a:ea typeface="Helvetica Neue"/>
                          <a:cs typeface="Helvetica Neue"/>
                        </a:rPr>
                        <a:t>homepage</a:t>
                      </a:r>
                    </a:p>
                  </a:txBody>
                  <a:tcPr marL="133350" marR="95250" marT="95250" marB="95250" anchor="ctr">
                    <a:solidFill>
                      <a:srgbClr val="FAFCFC"/>
                    </a:solidFill>
                  </a:tcPr>
                </a:tc>
                <a:tc>
                  <a:txBody>
                    <a:bodyPr/>
                    <a:lstStyle/>
                    <a:p>
                      <a:r>
                        <a:rPr sz="2100" b="0">
                          <a:solidFill>
                            <a:srgbClr val="17313D"/>
                          </a:solidFill>
                          <a:latin typeface="Helvetica Neue"/>
                          <a:ea typeface="Helvetica Neue"/>
                          <a:cs typeface="Helvetica Neue"/>
                        </a:rPr>
                        <a:t>13.7</a:t>
                      </a:r>
                    </a:p>
                  </a:txBody>
                  <a:tcPr marL="133350" marR="95250" marT="95250" marB="95250" anchor="ctr">
                    <a:solidFill>
                      <a:srgbClr val="FAFCFC"/>
                    </a:solidFill>
                  </a:tcPr>
                </a:tc>
                <a:tc>
                  <a:txBody>
                    <a:bodyPr/>
                    <a:lstStyle/>
                    <a:p>
                      <a:r>
                        <a:rPr sz="2100" b="0">
                          <a:solidFill>
                            <a:srgbClr val="17313D"/>
                          </a:solidFill>
                          <a:latin typeface="Helvetica Neue"/>
                          <a:ea typeface="Helvetica Neue"/>
                          <a:cs typeface="Helvetica Neue"/>
                        </a:rPr>
                        <a:t>113.7</a:t>
                      </a:r>
                    </a:p>
                  </a:txBody>
                  <a:tcPr marL="133350" marR="95250" marT="95250" marB="95250" anchor="ctr">
                    <a:solidFill>
                      <a:srgbClr val="FAFCFC"/>
                    </a:solidFill>
                  </a:tcPr>
                </a:tc>
                <a:tc>
                  <a:txBody>
                    <a:bodyPr/>
                    <a:lstStyle/>
                    <a:p>
                      <a:r>
                        <a:rPr sz="2100" b="0">
                          <a:solidFill>
                            <a:srgbClr val="17313D"/>
                          </a:solidFill>
                          <a:latin typeface="Helvetica Neue"/>
                          <a:ea typeface="Helvetica Neue"/>
                          <a:cs typeface="Helvetica Neue"/>
                        </a:rPr>
                        <a:t>763.7</a:t>
                      </a:r>
                    </a:p>
                  </a:txBody>
                  <a:tcPr marL="133350" marR="95250" marT="95250" marB="95250" anchor="ctr">
                    <a:solidFill>
                      <a:srgbClr val="FAFCFC"/>
                    </a:solidFill>
                  </a:tcPr>
                </a:tc>
              </a:tr>
              <a:tr h="628650">
                <a:tc>
                  <a:txBody>
                    <a:bodyPr/>
                    <a:lstStyle/>
                    <a:p>
                      <a:r>
                        <a:rPr sz="2100" b="0">
                          <a:solidFill>
                            <a:srgbClr val="17313D"/>
                          </a:solidFill>
                          <a:latin typeface="Helvetica Neue"/>
                          <a:ea typeface="Helvetica Neue"/>
                          <a:cs typeface="Helvetica Neue"/>
                        </a:rPr>
                        <a:t>login</a:t>
                      </a:r>
                    </a:p>
                  </a:txBody>
                  <a:tcPr marL="133350" marR="95250" marT="95250" marB="95250" anchor="ctr">
                    <a:solidFill>
                      <a:srgbClr val="EFF3F4"/>
                    </a:solidFill>
                  </a:tcPr>
                </a:tc>
                <a:tc>
                  <a:txBody>
                    <a:bodyPr/>
                    <a:lstStyle/>
                    <a:p>
                      <a:r>
                        <a:rPr sz="2100" b="0">
                          <a:solidFill>
                            <a:srgbClr val="17313D"/>
                          </a:solidFill>
                          <a:latin typeface="Helvetica Neue"/>
                          <a:ea typeface="Helvetica Neue"/>
                          <a:cs typeface="Helvetica Neue"/>
                        </a:rPr>
                        <a:t>272.6</a:t>
                      </a:r>
                    </a:p>
                  </a:txBody>
                  <a:tcPr marL="133350" marR="95250" marT="95250" marB="95250" anchor="ctr">
                    <a:solidFill>
                      <a:srgbClr val="EFF3F4"/>
                    </a:solidFill>
                  </a:tcPr>
                </a:tc>
                <a:tc>
                  <a:txBody>
                    <a:bodyPr/>
                    <a:lstStyle/>
                    <a:p>
                      <a:r>
                        <a:rPr sz="2100" b="0">
                          <a:solidFill>
                            <a:srgbClr val="17313D"/>
                          </a:solidFill>
                          <a:latin typeface="Helvetica Neue"/>
                          <a:ea typeface="Helvetica Neue"/>
                          <a:cs typeface="Helvetica Neue"/>
                        </a:rPr>
                        <a:t>545.2</a:t>
                      </a:r>
                    </a:p>
                  </a:txBody>
                  <a:tcPr marL="133350" marR="95250" marT="95250" marB="95250" anchor="ctr">
                    <a:solidFill>
                      <a:srgbClr val="EFF3F4"/>
                    </a:solidFill>
                  </a:tcPr>
                </a:tc>
                <a:tc>
                  <a:txBody>
                    <a:bodyPr/>
                    <a:lstStyle/>
                    <a:p>
                      <a:r>
                        <a:rPr sz="2100" b="0">
                          <a:solidFill>
                            <a:srgbClr val="17313D"/>
                          </a:solidFill>
                          <a:latin typeface="Helvetica Neue"/>
                          <a:ea typeface="Helvetica Neue"/>
                          <a:cs typeface="Helvetica Neue"/>
                        </a:rPr>
                        <a:t>2725.9</a:t>
                      </a:r>
                    </a:p>
                  </a:txBody>
                  <a:tcPr marL="133350" marR="95250" marT="95250" marB="95250" anchor="ctr">
                    <a:solidFill>
                      <a:srgbClr val="EFF3F4"/>
                    </a:solidFill>
                  </a:tcPr>
                </a:tc>
              </a:tr>
            </a:tbl>
          </a:graphicData>
        </a:graphic>
      </p:graphicFrame>
      <p:sp>
        <p:nvSpPr>
          <p:cNvPr id="4" name="120s stable baseline   /   0% errors">
            <a:extLst xmlns:a="http://schemas.openxmlformats.org/drawingml/2006/main">
              <a:ext uri="{FF2B5EF4-FFF2-40B4-BE49-F238E27FC236}">
                <a16:creationId xmlns:a16="http://schemas.microsoft.com/office/drawing/2014/main" id="{422A280A-8D55-41A9-9CDF-808CF300048D}"/>
              </a:ext>
            </a:extLst>
          </p:cNvPr>
          <p:cNvSpPr>
            <a:spLocks xmlns:a="http://schemas.openxmlformats.org/drawingml/2006/main" noGrp="1"/>
          </p:cNvSpPr>
          <p:nvPr/>
        </p:nvSpPr>
        <p:spPr>
          <a:xfrm xmlns:a="http://schemas.openxmlformats.org/drawingml/2006/main">
            <a:off x="571500" y="50958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87D82"/>
                </a:solidFill>
                <a:latin typeface="Helvetica Neue"/>
                <a:ea typeface="Helvetica Neue"/>
                <a:cs typeface="Helvetica Neue"/>
              </a:defRPr>
            </a:defPPr>
          </a:lstStyle>
          <a:p xmlns:a="http://schemas.openxmlformats.org/drawingml/2006/main">
            <a:pPr algn="l">
              <a:defRPr sz="2100" b="1">
                <a:solidFill>
                  <a:srgbClr val="087D82"/>
                </a:solidFill>
                <a:latin typeface="Helvetica Neue"/>
                <a:ea typeface="Helvetica Neue"/>
                <a:cs typeface="Helvetica Neue"/>
              </a:defRPr>
            </a:pPr>
            <a:r>
              <a:rPr sz="2100" b="1">
                <a:solidFill>
                  <a:srgbClr val="087D82"/>
                </a:solidFill>
                <a:latin typeface="Helvetica Neue"/>
                <a:ea typeface="Helvetica Neue"/>
                <a:cs typeface="Helvetica Neue"/>
              </a:rPr>
              <a:t>120s stable baseline   /   0% errors</a:t>
            </a:r>
          </a:p>
        </p:txBody>
      </p:sp>
      <p:sp>
        <p:nvSpPr>
          <p:cNvPr id="5" name="Hypothesis: max(2×p95,p95+100ms)   Errors&gt;2%">
            <a:extLst xmlns:a="http://schemas.openxmlformats.org/drawingml/2006/main">
              <a:ext uri="{FF2B5EF4-FFF2-40B4-BE49-F238E27FC236}">
                <a16:creationId xmlns:a16="http://schemas.microsoft.com/office/drawing/2014/main" id="{E2890B2E-34CC-4C89-9409-BF048E017C8F}"/>
              </a:ext>
            </a:extLst>
          </p:cNvPr>
          <p:cNvSpPr>
            <a:spLocks xmlns:a="http://schemas.openxmlformats.org/drawingml/2006/main" noGrp="1"/>
          </p:cNvSpPr>
          <p:nvPr/>
        </p:nvSpPr>
        <p:spPr>
          <a:xfrm xmlns:a="http://schemas.openxmlformats.org/drawingml/2006/main">
            <a:off x="571500" y="56197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7313D"/>
                </a:solidFill>
                <a:latin typeface="Helvetica Neue"/>
                <a:ea typeface="Helvetica Neue"/>
                <a:cs typeface="Helvetica Neue"/>
              </a:defRPr>
            </a:defPPr>
          </a:lstStyle>
          <a:p xmlns:a="http://schemas.openxmlformats.org/drawingml/2006/main">
            <a:pPr algn="l">
              <a:defRPr sz="1875" b="0">
                <a:solidFill>
                  <a:srgbClr val="17313D"/>
                </a:solidFill>
                <a:latin typeface="Helvetica Neue"/>
                <a:ea typeface="Helvetica Neue"/>
                <a:cs typeface="Helvetica Neue"/>
              </a:defRPr>
            </a:pPr>
            <a:r>
              <a:rPr sz="1875" b="0">
                <a:solidFill>
                  <a:srgbClr val="17313D"/>
                </a:solidFill>
                <a:latin typeface="Helvetica Neue"/>
                <a:ea typeface="Helvetica Neue"/>
                <a:cs typeface="Helvetica Neue"/>
              </a:rPr>
              <a:t>Hypothesis: max(2×p95,p95+100ms)   Errors&gt;2%</a:t>
            </a:r>
          </a:p>
        </p:txBody>
      </p:sp>
      <p:sp>
        <p:nvSpPr>
          <p:cNvPr id="6" name="Abort: max(10×p95,p95+750ms)   Errors&gt;50%">
            <a:extLst xmlns:a="http://schemas.openxmlformats.org/drawingml/2006/main">
              <a:ext uri="{FF2B5EF4-FFF2-40B4-BE49-F238E27FC236}">
                <a16:creationId xmlns:a16="http://schemas.microsoft.com/office/drawing/2014/main" id="{CCA8C93D-2840-4B61-B2EB-9E5DFFFE681D}"/>
              </a:ext>
            </a:extLst>
          </p:cNvPr>
          <p:cNvSpPr>
            <a:spLocks xmlns:a="http://schemas.openxmlformats.org/drawingml/2006/main" noGrp="1"/>
          </p:cNvSpPr>
          <p:nvPr/>
        </p:nvSpPr>
        <p:spPr>
          <a:xfrm xmlns:a="http://schemas.openxmlformats.org/drawingml/2006/main">
            <a:off x="5715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7313D"/>
                </a:solidFill>
                <a:latin typeface="Helvetica Neue"/>
                <a:ea typeface="Helvetica Neue"/>
                <a:cs typeface="Helvetica Neue"/>
              </a:defRPr>
            </a:defPPr>
          </a:lstStyle>
          <a:p xmlns:a="http://schemas.openxmlformats.org/drawingml/2006/main">
            <a:pPr algn="l">
              <a:defRPr sz="1875" b="0">
                <a:solidFill>
                  <a:srgbClr val="17313D"/>
                </a:solidFill>
                <a:latin typeface="Helvetica Neue"/>
                <a:ea typeface="Helvetica Neue"/>
                <a:cs typeface="Helvetica Neue"/>
              </a:defRPr>
            </a:pPr>
            <a:r>
              <a:rPr sz="1875" b="0">
                <a:solidFill>
                  <a:srgbClr val="17313D"/>
                </a:solidFill>
                <a:latin typeface="Helvetica Neue"/>
                <a:ea typeface="Helvetica Neue"/>
                <a:cs typeface="Helvetica Neue"/>
              </a:rPr>
              <a:t>Abort: max(10×p95,p95+750ms)   Errors&gt;50%</a:t>
            </a:r>
          </a:p>
        </p:txBody>
      </p:sp>
    </p:spTree>
    <p:extLst>
      <p:ext uri="{BB962C8B-B14F-4D97-AF65-F5344CB8AC3E}">
        <p14:creationId xmlns:p14="http://schemas.microsoft.com/office/powerpoint/2010/main" val="1206411455"/>
      </p:ext>
    </p:extLst>
  </p:cSld>
</p:sld>
</file>

<file path=ppt/slides/slide8.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8333E967-5CA0-4B5D-B434-D6AF3FFED731}"/>
              </a:ext>
            </a:extLst>
          </p:cNvPr>
          <p:cNvSpPr>
            <a:spLocks xmlns:a="http://schemas.openxmlformats.org/drawingml/2006/main" noGrp="1"/>
          </p:cNvSpPr>
          <p:nvPr/>
        </p:nvSpPr>
        <p:spPr>
          <a:xfrm xmlns:a="http://schemas.openxmlformats.org/drawingml/2006/main">
            <a:off x="571500" y="4572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313D"/>
                </a:solidFill>
                <a:latin typeface="Helvetica Neue"/>
                <a:ea typeface="Helvetica Neue"/>
                <a:cs typeface="Helvetica Neue"/>
              </a:defRPr>
            </a:defPPr>
          </a:lstStyle>
          <a:p xmlns:a="http://schemas.openxmlformats.org/drawingml/2006/main">
            <a:pPr algn="l">
              <a:defRPr sz="3300" b="1">
                <a:solidFill>
                  <a:srgbClr val="17313D"/>
                </a:solidFill>
                <a:latin typeface="Helvetica Neue"/>
                <a:ea typeface="Helvetica Neue"/>
                <a:cs typeface="Helvetica Neue"/>
              </a:defRPr>
            </a:pPr>
            <a:r>
              <a:rPr sz="3300" b="1">
                <a:solidFill>
                  <a:srgbClr val="17313D"/>
                </a:solidFill>
                <a:latin typeface="Helvetica Neue"/>
                <a:ea typeface="Helvetica Neue"/>
                <a:cs typeface="Helvetica Neue"/>
              </a:rPr>
              <a:t>Fault catalogue and experiments</a:t>
            </a:r>
          </a:p>
        </p:txBody>
      </p:sp>
      <p:sp>
        <p:nvSpPr>
          <p:cNvPr id="2" name="page-number">
            <a:extLst xmlns:a="http://schemas.openxmlformats.org/drawingml/2006/main">
              <a:ext uri="{FF2B5EF4-FFF2-40B4-BE49-F238E27FC236}">
                <a16:creationId xmlns:a16="http://schemas.microsoft.com/office/drawing/2014/main" id="{613D1903-CCA4-4EC4-89FC-558134B0AB20}"/>
              </a:ext>
            </a:extLst>
          </p:cNvPr>
          <p:cNvSpPr>
            <a:spLocks xmlns:a="http://schemas.openxmlformats.org/drawingml/2006/main" noGrp="1"/>
          </p:cNvSpPr>
          <p:nvPr/>
        </p:nvSpPr>
        <p:spPr>
          <a:xfrm xmlns:a="http://schemas.openxmlformats.org/drawingml/2006/main">
            <a:off x="11049000" y="61341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36A73"/>
                </a:solidFill>
                <a:latin typeface="Helvetica Neue"/>
                <a:ea typeface="Helvetica Neue"/>
                <a:cs typeface="Helvetica Neue"/>
              </a:defRPr>
            </a:defPPr>
          </a:lstStyle>
          <a:p xmlns:a="http://schemas.openxmlformats.org/drawingml/2006/main">
            <a:pPr algn="r">
              <a:defRPr sz="1350" b="0">
                <a:solidFill>
                  <a:srgbClr val="536A73"/>
                </a:solidFill>
                <a:latin typeface="Helvetica Neue"/>
                <a:ea typeface="Helvetica Neue"/>
                <a:cs typeface="Helvetica Neue"/>
              </a:defRPr>
            </a:pPr>
            <a:r>
              <a:rPr sz="1350" b="0">
                <a:solidFill>
                  <a:srgbClr val="536A73"/>
                </a:solidFill>
                <a:latin typeface="Helvetica Neue"/>
                <a:ea typeface="Helvetica Neue"/>
                <a:cs typeface="Helvetica Neue"/>
              </a:rPr>
              <a:t>08</a:t>
            </a:r>
          </a:p>
        </p:txBody>
      </p:sp>
      <p:graphicFrame>
        <p:nvGraphicFramePr>
          <p:cNvPr id="3" name="">
            <a:extLst xmlns:a="http://schemas.openxmlformats.org/drawingml/2006/main">
              <a:ext uri="{FF2B5EF4-FFF2-40B4-BE49-F238E27FC236}">
                <a16:creationId xmlns:a16="http://schemas.microsoft.com/office/drawing/2014/main" id="{AA8EF769-DDE1-4792-8F4A-CC15C2172620}"/>
              </a:ext>
            </a:extLst>
          </p:cNvPr>
          <p:cNvGraphicFramePr/>
          <p:nvPr/>
        </p:nvGraphicFramePr>
        <p:xfrm>
          <a:off xmlns:a="http://schemas.openxmlformats.org/drawingml/2006/main" x="571500" y="1571625"/>
          <a:ext xmlns:a="http://schemas.openxmlformats.org/drawingml/2006/main" cx="11049000" cy="4048125"/>
        </p:xfrm>
        <a:graphic xmlns:a="http://schemas.openxmlformats.org/drawingml/2006/main">
          <a:graphicData uri="http://schemas.openxmlformats.org/drawingml/2006/table">
            <a:tbl>
              <a:tblPr/>
              <a:tblGrid>
                <a:gridCol w="2952750"/>
                <a:gridCol w="4191000"/>
                <a:gridCol w="3905250"/>
              </a:tblGrid>
              <a:tr h="578304">
                <a:tc>
                  <a:txBody>
                    <a:bodyPr/>
                    <a:lstStyle/>
                    <a:p>
                      <a:r>
                        <a:rPr sz="2025" b="1">
                          <a:solidFill>
                            <a:srgbClr val="FFFFFF"/>
                          </a:solidFill>
                          <a:latin typeface="Helvetica Neue"/>
                          <a:ea typeface="Helvetica Neue"/>
                          <a:cs typeface="Helvetica Neue"/>
                        </a:rPr>
                        <a:t>Fault</a:t>
                      </a:r>
                    </a:p>
                  </a:txBody>
                  <a:tcPr marL="133350" marR="95250" marT="95250" marB="95250" anchor="ctr">
                    <a:solidFill>
                      <a:srgbClr val="102A35"/>
                    </a:solidFill>
                  </a:tcPr>
                </a:tc>
                <a:tc>
                  <a:txBody>
                    <a:bodyPr/>
                    <a:lstStyle/>
                    <a:p>
                      <a:r>
                        <a:rPr sz="2025" b="1">
                          <a:solidFill>
                            <a:srgbClr val="FFFFFF"/>
                          </a:solidFill>
                          <a:latin typeface="Helvetica Neue"/>
                          <a:ea typeface="Helvetica Neue"/>
                          <a:cs typeface="Helvetica Neue"/>
                        </a:rPr>
                        <a:t>Target</a:t>
                      </a:r>
                    </a:p>
                  </a:txBody>
                  <a:tcPr marL="133350" marR="95250" marT="95250" marB="95250" anchor="ctr">
                    <a:solidFill>
                      <a:srgbClr val="102A35"/>
                    </a:solidFill>
                  </a:tcPr>
                </a:tc>
                <a:tc>
                  <a:txBody>
                    <a:bodyPr/>
                    <a:lstStyle/>
                    <a:p>
                      <a:r>
                        <a:rPr sz="2025" b="1">
                          <a:solidFill>
                            <a:srgbClr val="FFFFFF"/>
                          </a:solidFill>
                          <a:latin typeface="Helvetica Neue"/>
                          <a:ea typeface="Helvetica Neue"/>
                          <a:cs typeface="Helvetica Neue"/>
                        </a:rPr>
                        <a:t>Coverage</a:t>
                      </a:r>
                    </a:p>
                  </a:txBody>
                  <a:tcPr marL="133350" marR="95250" marT="95250" marB="95250" anchor="ctr">
                    <a:solidFill>
                      <a:srgbClr val="102A35"/>
                    </a:solidFill>
                  </a:tcPr>
                </a:tc>
              </a:tr>
              <a:tr h="578304">
                <a:tc>
                  <a:txBody>
                    <a:bodyPr/>
                    <a:lstStyle/>
                    <a:p>
                      <a:r>
                        <a:rPr sz="2025" b="0">
                          <a:solidFill>
                            <a:srgbClr val="17313D"/>
                          </a:solidFill>
                          <a:latin typeface="Helvetica Neue"/>
                          <a:ea typeface="Helvetica Neue"/>
                          <a:cs typeface="Helvetica Neue"/>
                        </a:rPr>
                        <a:t>Kill</a:t>
                      </a:r>
                    </a:p>
                  </a:txBody>
                  <a:tcPr marL="133350" marR="95250" marT="95250" marB="95250" anchor="ctr">
                    <a:solidFill>
                      <a:srgbClr val="FAFCFC"/>
                    </a:solidFill>
                  </a:tcPr>
                </a:tc>
                <a:tc>
                  <a:txBody>
                    <a:bodyPr/>
                    <a:lstStyle/>
                    <a:p>
                      <a:r>
                        <a:rPr sz="2025" b="0">
                          <a:solidFill>
                            <a:srgbClr val="17313D"/>
                          </a:solidFill>
                          <a:latin typeface="Helvetica Neue"/>
                          <a:ea typeface="Helvetica Neue"/>
                          <a:cs typeface="Helvetica Neue"/>
                        </a:rPr>
                        <a:t>Auth</a:t>
                      </a:r>
                    </a:p>
                  </a:txBody>
                  <a:tcPr marL="133350" marR="95250" marT="95250" marB="95250" anchor="ctr">
                    <a:solidFill>
                      <a:srgbClr val="FAFCFC"/>
                    </a:solidFill>
                  </a:tcPr>
                </a:tc>
                <a:tc>
                  <a:txBody>
                    <a:bodyPr/>
                    <a:lstStyle/>
                    <a:p>
                      <a:r>
                        <a:rPr sz="2025" b="0">
                          <a:solidFill>
                            <a:srgbClr val="17313D"/>
                          </a:solidFill>
                          <a:latin typeface="Helvetica Neue"/>
                          <a:ea typeface="Helvetica Neue"/>
                          <a:cs typeface="Helvetica Neue"/>
                        </a:rPr>
                        <a:t>Measured</a:t>
                      </a:r>
                    </a:p>
                  </a:txBody>
                  <a:tcPr marL="133350" marR="95250" marT="95250" marB="95250" anchor="ctr">
                    <a:solidFill>
                      <a:srgbClr val="FAFCFC"/>
                    </a:solidFill>
                  </a:tcPr>
                </a:tc>
              </a:tr>
              <a:tr h="578304">
                <a:tc>
                  <a:txBody>
                    <a:bodyPr/>
                    <a:lstStyle/>
                    <a:p>
                      <a:r>
                        <a:rPr sz="2025" b="0">
                          <a:solidFill>
                            <a:srgbClr val="17313D"/>
                          </a:solidFill>
                          <a:latin typeface="Helvetica Neue"/>
                          <a:ea typeface="Helvetica Neue"/>
                          <a:cs typeface="Helvetica Neue"/>
                        </a:rPr>
                        <a:t>Traffic spike</a:t>
                      </a:r>
                    </a:p>
                  </a:txBody>
                  <a:tcPr marL="133350" marR="95250" marT="95250" marB="95250" anchor="ctr">
                    <a:solidFill>
                      <a:srgbClr val="EFF3F4"/>
                    </a:solidFill>
                  </a:tcPr>
                </a:tc>
                <a:tc>
                  <a:txBody>
                    <a:bodyPr/>
                    <a:lstStyle/>
                    <a:p>
                      <a:r>
                        <a:rPr sz="2025" b="0">
                          <a:solidFill>
                            <a:srgbClr val="17313D"/>
                          </a:solidFill>
                          <a:latin typeface="Helvetica Neue"/>
                          <a:ea typeface="Helvetica Neue"/>
                          <a:cs typeface="Helvetica Neue"/>
                        </a:rPr>
                        <a:t>Browse</a:t>
                      </a:r>
                    </a:p>
                  </a:txBody>
                  <a:tcPr marL="133350" marR="95250" marT="95250" marB="95250" anchor="ctr">
                    <a:solidFill>
                      <a:srgbClr val="EFF3F4"/>
                    </a:solidFill>
                  </a:tcPr>
                </a:tc>
                <a:tc>
                  <a:txBody>
                    <a:bodyPr/>
                    <a:lstStyle/>
                    <a:p>
                      <a:r>
                        <a:rPr sz="2025" b="0">
                          <a:solidFill>
                            <a:srgbClr val="17313D"/>
                          </a:solidFill>
                          <a:latin typeface="Helvetica Neue"/>
                          <a:ea typeface="Helvetica Neue"/>
                          <a:cs typeface="Helvetica Neue"/>
                        </a:rPr>
                        <a:t>Measured</a:t>
                      </a:r>
                    </a:p>
                  </a:txBody>
                  <a:tcPr marL="133350" marR="95250" marT="95250" marB="95250" anchor="ctr">
                    <a:solidFill>
                      <a:srgbClr val="EFF3F4"/>
                    </a:solidFill>
                  </a:tcPr>
                </a:tc>
              </a:tr>
              <a:tr h="578304">
                <a:tc>
                  <a:txBody>
                    <a:bodyPr/>
                    <a:lstStyle/>
                    <a:p>
                      <a:r>
                        <a:rPr sz="2025" b="0">
                          <a:solidFill>
                            <a:srgbClr val="17313D"/>
                          </a:solidFill>
                          <a:latin typeface="Helvetica Neue"/>
                          <a:ea typeface="Helvetica Neue"/>
                          <a:cs typeface="Helvetica Neue"/>
                        </a:rPr>
                        <a:t>Pause</a:t>
                      </a:r>
                    </a:p>
                  </a:txBody>
                  <a:tcPr marL="133350" marR="95250" marT="95250" marB="95250" anchor="ctr">
                    <a:solidFill>
                      <a:srgbClr val="FAFCFC"/>
                    </a:solidFill>
                  </a:tcPr>
                </a:tc>
                <a:tc>
                  <a:txBody>
                    <a:bodyPr/>
                    <a:lstStyle/>
                    <a:p>
                      <a:r>
                        <a:rPr sz="2025" b="0">
                          <a:solidFill>
                            <a:srgbClr val="17313D"/>
                          </a:solidFill>
                          <a:latin typeface="Helvetica Neue"/>
                          <a:ea typeface="Helvetica Neue"/>
                          <a:cs typeface="Helvetica Neue"/>
                        </a:rPr>
                        <a:t>Postgres</a:t>
                      </a:r>
                    </a:p>
                  </a:txBody>
                  <a:tcPr marL="133350" marR="95250" marT="95250" marB="95250" anchor="ctr">
                    <a:solidFill>
                      <a:srgbClr val="FAFCFC"/>
                    </a:solidFill>
                  </a:tcPr>
                </a:tc>
                <a:tc>
                  <a:txBody>
                    <a:bodyPr/>
                    <a:lstStyle/>
                    <a:p>
                      <a:r>
                        <a:rPr sz="2025" b="0">
                          <a:solidFill>
                            <a:srgbClr val="17313D"/>
                          </a:solidFill>
                          <a:latin typeface="Helvetica Neue"/>
                          <a:ea typeface="Helvetica Neue"/>
                          <a:cs typeface="Helvetica Neue"/>
                        </a:rPr>
                        <a:t>Measured</a:t>
                      </a:r>
                    </a:p>
                  </a:txBody>
                  <a:tcPr marL="133350" marR="95250" marT="95250" marB="95250" anchor="ctr">
                    <a:solidFill>
                      <a:srgbClr val="FAFCFC"/>
                    </a:solidFill>
                  </a:tcPr>
                </a:tc>
              </a:tr>
              <a:tr h="578304">
                <a:tc>
                  <a:txBody>
                    <a:bodyPr/>
                    <a:lstStyle/>
                    <a:p>
                      <a:r>
                        <a:rPr sz="2025" b="0">
                          <a:solidFill>
                            <a:srgbClr val="17313D"/>
                          </a:solidFill>
                          <a:latin typeface="Helvetica Neue"/>
                          <a:ea typeface="Helvetica Neue"/>
                          <a:cs typeface="Helvetica Neue"/>
                        </a:rPr>
                        <a:t>Stop</a:t>
                      </a:r>
                    </a:p>
                  </a:txBody>
                  <a:tcPr marL="133350" marR="95250" marT="95250" marB="95250" anchor="ctr">
                    <a:solidFill>
                      <a:srgbClr val="EFF3F4"/>
                    </a:solidFill>
                  </a:tcPr>
                </a:tc>
                <a:tc>
                  <a:txBody>
                    <a:bodyPr/>
                    <a:lstStyle/>
                    <a:p>
                      <a:r>
                        <a:rPr sz="2025" b="0">
                          <a:solidFill>
                            <a:srgbClr val="17313D"/>
                          </a:solidFill>
                          <a:latin typeface="Helvetica Neue"/>
                          <a:ea typeface="Helvetica Neue"/>
                          <a:cs typeface="Helvetica Neue"/>
                        </a:rPr>
                        <a:t>Postgres / Redis</a:t>
                      </a:r>
                    </a:p>
                  </a:txBody>
                  <a:tcPr marL="133350" marR="95250" marT="95250" marB="95250" anchor="ctr">
                    <a:solidFill>
                      <a:srgbClr val="EFF3F4"/>
                    </a:solidFill>
                  </a:tcPr>
                </a:tc>
                <a:tc>
                  <a:txBody>
                    <a:bodyPr/>
                    <a:lstStyle/>
                    <a:p>
                      <a:r>
                        <a:rPr sz="2025" b="0">
                          <a:solidFill>
                            <a:srgbClr val="17313D"/>
                          </a:solidFill>
                          <a:latin typeface="Helvetica Neue"/>
                          <a:ea typeface="Helvetica Neue"/>
                          <a:cs typeface="Helvetica Neue"/>
                        </a:rPr>
                        <a:t>Measured</a:t>
                      </a:r>
                    </a:p>
                  </a:txBody>
                  <a:tcPr marL="133350" marR="95250" marT="95250" marB="95250" anchor="ctr">
                    <a:solidFill>
                      <a:srgbClr val="EFF3F4"/>
                    </a:solidFill>
                  </a:tcPr>
                </a:tc>
              </a:tr>
              <a:tr h="578304">
                <a:tc>
                  <a:txBody>
                    <a:bodyPr/>
                    <a:lstStyle/>
                    <a:p>
                      <a:r>
                        <a:rPr sz="2025" b="0">
                          <a:solidFill>
                            <a:srgbClr val="17313D"/>
                          </a:solidFill>
                          <a:latin typeface="Helvetica Neue"/>
                          <a:ea typeface="Helvetica Neue"/>
                          <a:cs typeface="Helvetica Neue"/>
                        </a:rPr>
                        <a:t>CPU limit</a:t>
                      </a:r>
                    </a:p>
                  </a:txBody>
                  <a:tcPr marL="133350" marR="95250" marT="95250" marB="95250" anchor="ctr">
                    <a:solidFill>
                      <a:srgbClr val="FAFCFC"/>
                    </a:solidFill>
                  </a:tcPr>
                </a:tc>
                <a:tc>
                  <a:txBody>
                    <a:bodyPr/>
                    <a:lstStyle/>
                    <a:p>
                      <a:r>
                        <a:rPr sz="2025" b="0">
                          <a:solidFill>
                            <a:srgbClr val="17313D"/>
                          </a:solidFill>
                          <a:latin typeface="Helvetica Neue"/>
                          <a:ea typeface="Helvetica Neue"/>
                          <a:cs typeface="Helvetica Neue"/>
                        </a:rPr>
                        <a:t>App / DB</a:t>
                      </a:r>
                    </a:p>
                  </a:txBody>
                  <a:tcPr marL="133350" marR="95250" marT="95250" marB="95250" anchor="ctr">
                    <a:solidFill>
                      <a:srgbClr val="FAFCFC"/>
                    </a:solidFill>
                  </a:tcPr>
                </a:tc>
                <a:tc>
                  <a:txBody>
                    <a:bodyPr/>
                    <a:lstStyle/>
                    <a:p>
                      <a:r>
                        <a:rPr sz="2025" b="0">
                          <a:solidFill>
                            <a:srgbClr val="17313D"/>
                          </a:solidFill>
                          <a:latin typeface="Helvetica Neue"/>
                          <a:ea typeface="Helvetica Neue"/>
                          <a:cs typeface="Helvetica Neue"/>
                        </a:rPr>
                        <a:t>Conditional</a:t>
                      </a:r>
                    </a:p>
                  </a:txBody>
                  <a:tcPr marL="133350" marR="95250" marT="95250" marB="95250" anchor="ctr">
                    <a:solidFill>
                      <a:srgbClr val="FAFCFC"/>
                    </a:solidFill>
                  </a:tcPr>
                </a:tc>
              </a:tr>
              <a:tr h="578304">
                <a:tc>
                  <a:txBody>
                    <a:bodyPr/>
                    <a:lstStyle/>
                    <a:p>
                      <a:r>
                        <a:rPr sz="2025" b="0">
                          <a:solidFill>
                            <a:srgbClr val="17313D"/>
                          </a:solidFill>
                          <a:latin typeface="Helvetica Neue"/>
                          <a:ea typeface="Helvetica Neue"/>
                          <a:cs typeface="Helvetica Neue"/>
                        </a:rPr>
                        <a:t>Netem</a:t>
                      </a:r>
                    </a:p>
                  </a:txBody>
                  <a:tcPr marL="133350" marR="95250" marT="95250" marB="95250" anchor="ctr">
                    <a:solidFill>
                      <a:srgbClr val="EFF3F4"/>
                    </a:solidFill>
                  </a:tcPr>
                </a:tc>
                <a:tc>
                  <a:txBody>
                    <a:bodyPr/>
                    <a:lstStyle/>
                    <a:p>
                      <a:r>
                        <a:rPr sz="2025" b="0">
                          <a:solidFill>
                            <a:srgbClr val="17313D"/>
                          </a:solidFill>
                          <a:latin typeface="Helvetica Neue"/>
                          <a:ea typeface="Helvetica Neue"/>
                          <a:cs typeface="Helvetica Neue"/>
                        </a:rPr>
                        <a:t>Network</a:t>
                      </a:r>
                    </a:p>
                  </a:txBody>
                  <a:tcPr marL="133350" marR="95250" marT="95250" marB="95250" anchor="ctr">
                    <a:solidFill>
                      <a:srgbClr val="EFF3F4"/>
                    </a:solidFill>
                  </a:tcPr>
                </a:tc>
                <a:tc>
                  <a:txBody>
                    <a:bodyPr/>
                    <a:lstStyle/>
                    <a:p>
                      <a:r>
                        <a:rPr sz="2025" b="0">
                          <a:solidFill>
                            <a:srgbClr val="17313D"/>
                          </a:solidFill>
                          <a:latin typeface="Helvetica Neue"/>
                          <a:ea typeface="Helvetica Neue"/>
                          <a:cs typeface="Helvetica Neue"/>
                        </a:rPr>
                        <a:t>Deferred</a:t>
                      </a:r>
                    </a:p>
                  </a:txBody>
                  <a:tcPr marL="133350" marR="95250" marT="95250" marB="95250" anchor="ctr">
                    <a:solidFill>
                      <a:srgbClr val="EFF3F4"/>
                    </a:solidFill>
                  </a:tcPr>
                </a:tc>
              </a:tr>
            </a:tbl>
          </a:graphicData>
        </a:graphic>
      </p:graphicFrame>
      <p:sp>
        <p:nvSpPr>
          <p:cNvPr id="4" name="Full disk intentionally skipped for host safety">
            <a:extLst xmlns:a="http://schemas.openxmlformats.org/drawingml/2006/main">
              <a:ext uri="{FF2B5EF4-FFF2-40B4-BE49-F238E27FC236}">
                <a16:creationId xmlns:a16="http://schemas.microsoft.com/office/drawing/2014/main" id="{819BA875-F9E6-492B-95C5-0193C2593CE0}"/>
              </a:ext>
            </a:extLst>
          </p:cNvPr>
          <p:cNvSpPr>
            <a:spLocks xmlns:a="http://schemas.openxmlformats.org/drawingml/2006/main" noGrp="1"/>
          </p:cNvSpPr>
          <p:nvPr/>
        </p:nvSpPr>
        <p:spPr>
          <a:xfrm xmlns:a="http://schemas.openxmlformats.org/drawingml/2006/main">
            <a:off x="571500" y="58578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AF3347"/>
                </a:solidFill>
                <a:latin typeface="Helvetica Neue"/>
                <a:ea typeface="Helvetica Neue"/>
                <a:cs typeface="Helvetica Neue"/>
              </a:defRPr>
            </a:defPPr>
          </a:lstStyle>
          <a:p xmlns:a="http://schemas.openxmlformats.org/drawingml/2006/main">
            <a:pPr algn="l">
              <a:defRPr sz="2250" b="1">
                <a:solidFill>
                  <a:srgbClr val="AF3347"/>
                </a:solidFill>
                <a:latin typeface="Helvetica Neue"/>
                <a:ea typeface="Helvetica Neue"/>
                <a:cs typeface="Helvetica Neue"/>
              </a:defRPr>
            </a:pPr>
            <a:r>
              <a:rPr sz="2250" b="1">
                <a:solidFill>
                  <a:srgbClr val="AF3347"/>
                </a:solidFill>
                <a:latin typeface="Helvetica Neue"/>
                <a:ea typeface="Helvetica Neue"/>
                <a:cs typeface="Helvetica Neue"/>
              </a:rPr>
              <a:t>Full disk intentionally skipped for host safety</a:t>
            </a:r>
          </a:p>
        </p:txBody>
      </p:sp>
    </p:spTree>
    <p:extLst>
      <p:ext uri="{BB962C8B-B14F-4D97-AF65-F5344CB8AC3E}">
        <p14:creationId xmlns:p14="http://schemas.microsoft.com/office/powerpoint/2010/main" val="203128879"/>
      </p:ext>
    </p:extLst>
  </p:cSld>
</p:sld>
</file>

<file path=ppt/slides/slide9.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B0046A6B-E810-4597-A894-AAC24671DAC4}"/>
              </a:ext>
            </a:extLst>
          </p:cNvPr>
          <p:cNvSpPr>
            <a:spLocks xmlns:a="http://schemas.openxmlformats.org/drawingml/2006/main" noGrp="1"/>
          </p:cNvSpPr>
          <p:nvPr/>
        </p:nvSpPr>
        <p:spPr>
          <a:xfrm xmlns:a="http://schemas.openxmlformats.org/drawingml/2006/main">
            <a:off x="571500" y="4572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313D"/>
                </a:solidFill>
                <a:latin typeface="Helvetica Neue"/>
                <a:ea typeface="Helvetica Neue"/>
                <a:cs typeface="Helvetica Neue"/>
              </a:defRPr>
            </a:defPPr>
          </a:lstStyle>
          <a:p xmlns:a="http://schemas.openxmlformats.org/drawingml/2006/main">
            <a:pPr algn="l">
              <a:defRPr sz="3300" b="1">
                <a:solidFill>
                  <a:srgbClr val="17313D"/>
                </a:solidFill>
                <a:latin typeface="Helvetica Neue"/>
                <a:ea typeface="Helvetica Neue"/>
                <a:cs typeface="Helvetica Neue"/>
              </a:defRPr>
            </a:pPr>
            <a:r>
              <a:rPr sz="3300" b="1">
                <a:solidFill>
                  <a:srgbClr val="17313D"/>
                </a:solidFill>
                <a:latin typeface="Helvetica Neue"/>
                <a:ea typeface="Helvetica Neue"/>
                <a:cs typeface="Helvetica Neue"/>
              </a:rPr>
              <a:t>AI planner</a:t>
            </a:r>
          </a:p>
        </p:txBody>
      </p:sp>
      <p:sp>
        <p:nvSpPr>
          <p:cNvPr id="2" name="page-number">
            <a:extLst xmlns:a="http://schemas.openxmlformats.org/drawingml/2006/main">
              <a:ext uri="{FF2B5EF4-FFF2-40B4-BE49-F238E27FC236}">
                <a16:creationId xmlns:a16="http://schemas.microsoft.com/office/drawing/2014/main" id="{28639DE9-0205-4FBF-B1F3-6B02DE1E8D1F}"/>
              </a:ext>
            </a:extLst>
          </p:cNvPr>
          <p:cNvSpPr>
            <a:spLocks xmlns:a="http://schemas.openxmlformats.org/drawingml/2006/main" noGrp="1"/>
          </p:cNvSpPr>
          <p:nvPr/>
        </p:nvSpPr>
        <p:spPr>
          <a:xfrm xmlns:a="http://schemas.openxmlformats.org/drawingml/2006/main">
            <a:off x="11049000" y="61341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36A73"/>
                </a:solidFill>
                <a:latin typeface="Helvetica Neue"/>
                <a:ea typeface="Helvetica Neue"/>
                <a:cs typeface="Helvetica Neue"/>
              </a:defRPr>
            </a:defPPr>
          </a:lstStyle>
          <a:p xmlns:a="http://schemas.openxmlformats.org/drawingml/2006/main">
            <a:pPr algn="r">
              <a:defRPr sz="1350" b="0">
                <a:solidFill>
                  <a:srgbClr val="536A73"/>
                </a:solidFill>
                <a:latin typeface="Helvetica Neue"/>
                <a:ea typeface="Helvetica Neue"/>
                <a:cs typeface="Helvetica Neue"/>
              </a:defRPr>
            </a:pPr>
            <a:r>
              <a:rPr sz="1350" b="0">
                <a:solidFill>
                  <a:srgbClr val="536A73"/>
                </a:solidFill>
                <a:latin typeface="Helvetica Neue"/>
                <a:ea typeface="Helvetica Neue"/>
                <a:cs typeface="Helvetica Neue"/>
              </a:rPr>
              <a:t>09</a:t>
            </a:r>
          </a:p>
        </p:txBody>
      </p:sp>
      <p:sp>
        <p:nvSpPr>
          <p:cNvPr id="3" name="Graph, baseline, catalogue, source facts">
            <a:extLst xmlns:a="http://schemas.openxmlformats.org/drawingml/2006/main">
              <a:ext uri="{FF2B5EF4-FFF2-40B4-BE49-F238E27FC236}">
                <a16:creationId xmlns:a16="http://schemas.microsoft.com/office/drawing/2014/main" id="{0A30E164-8990-468F-9350-57601F6D0E30}"/>
              </a:ext>
            </a:extLst>
          </p:cNvPr>
          <p:cNvSpPr>
            <a:spLocks xmlns:a="http://schemas.openxmlformats.org/drawingml/2006/main" noGrp="1"/>
          </p:cNvSpPr>
          <p:nvPr/>
        </p:nvSpPr>
        <p:spPr>
          <a:xfrm xmlns:a="http://schemas.openxmlformats.org/drawingml/2006/main">
            <a:off x="571500" y="149542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536A73"/>
                </a:solidFill>
                <a:latin typeface="Helvetica Neue"/>
                <a:ea typeface="Helvetica Neue"/>
                <a:cs typeface="Helvetica Neue"/>
              </a:defRPr>
            </a:defPPr>
          </a:lstStyle>
          <a:p xmlns:a="http://schemas.openxmlformats.org/drawingml/2006/main">
            <a:pPr algn="l">
              <a:defRPr sz="2100" b="0">
                <a:solidFill>
                  <a:srgbClr val="536A73"/>
                </a:solidFill>
                <a:latin typeface="Helvetica Neue"/>
                <a:ea typeface="Helvetica Neue"/>
                <a:cs typeface="Helvetica Neue"/>
              </a:defRPr>
            </a:pPr>
            <a:r>
              <a:rPr sz="2100" b="0">
                <a:solidFill>
                  <a:srgbClr val="536A73"/>
                </a:solidFill>
                <a:latin typeface="Helvetica Neue"/>
                <a:ea typeface="Helvetica Neue"/>
                <a:cs typeface="Helvetica Neue"/>
              </a:rPr>
              <a:t>Graph, baseline, catalogue, source facts</a:t>
            </a:r>
          </a:p>
        </p:txBody>
      </p:sp>
      <p:graphicFrame>
        <p:nvGraphicFramePr>
          <p:cNvPr id="4" name="">
            <a:extLst xmlns:a="http://schemas.openxmlformats.org/drawingml/2006/main">
              <a:ext uri="{FF2B5EF4-FFF2-40B4-BE49-F238E27FC236}">
                <a16:creationId xmlns:a16="http://schemas.microsoft.com/office/drawing/2014/main" id="{7C9581E1-2454-4A4B-9503-334AE2B6EBBD}"/>
              </a:ext>
            </a:extLst>
          </p:cNvPr>
          <p:cNvGraphicFramePr/>
          <p:nvPr/>
        </p:nvGraphicFramePr>
        <p:xfrm>
          <a:off xmlns:a="http://schemas.openxmlformats.org/drawingml/2006/main" x="571500" y="2238375"/>
          <a:ext xmlns:a="http://schemas.openxmlformats.org/drawingml/2006/main" cx="11049000" cy="2857500"/>
        </p:xfrm>
        <a:graphic xmlns:a="http://schemas.openxmlformats.org/drawingml/2006/main">
          <a:graphicData uri="http://schemas.openxmlformats.org/drawingml/2006/table">
            <a:tbl>
              <a:tblPr/>
              <a:tblGrid>
                <a:gridCol w="1143000"/>
                <a:gridCol w="4714875"/>
                <a:gridCol w="5191125"/>
              </a:tblGrid>
              <a:tr h="571500">
                <a:tc>
                  <a:txBody>
                    <a:bodyPr/>
                    <a:lstStyle/>
                    <a:p>
                      <a:r>
                        <a:rPr sz="2100" b="1">
                          <a:solidFill>
                            <a:srgbClr val="FFFFFF"/>
                          </a:solidFill>
                          <a:latin typeface="Helvetica Neue"/>
                          <a:ea typeface="Helvetica Neue"/>
                          <a:cs typeface="Helvetica Neue"/>
                        </a:rPr>
                        <a:t>Rank</a:t>
                      </a:r>
                    </a:p>
                  </a:txBody>
                  <a:tcPr marL="133350" marR="95250" marT="95250" marB="95250" anchor="ctr">
                    <a:solidFill>
                      <a:srgbClr val="102A35"/>
                    </a:solidFill>
                  </a:tcPr>
                </a:tc>
                <a:tc>
                  <a:txBody>
                    <a:bodyPr/>
                    <a:lstStyle/>
                    <a:p>
                      <a:r>
                        <a:rPr sz="2100" b="1">
                          <a:solidFill>
                            <a:srgbClr val="FFFFFF"/>
                          </a:solidFill>
                          <a:latin typeface="Helvetica Neue"/>
                          <a:ea typeface="Helvetica Neue"/>
                          <a:cs typeface="Helvetica Neue"/>
                        </a:rPr>
                        <a:t>Experiment</a:t>
                      </a:r>
                    </a:p>
                  </a:txBody>
                  <a:tcPr marL="133350" marR="95250" marT="95250" marB="95250" anchor="ctr">
                    <a:solidFill>
                      <a:srgbClr val="102A35"/>
                    </a:solidFill>
                  </a:tcPr>
                </a:tc>
                <a:tc>
                  <a:txBody>
                    <a:bodyPr/>
                    <a:lstStyle/>
                    <a:p>
                      <a:r>
                        <a:rPr sz="2100" b="1">
                          <a:solidFill>
                            <a:srgbClr val="FFFFFF"/>
                          </a:solidFill>
                          <a:latin typeface="Helvetica Neue"/>
                          <a:ea typeface="Helvetica Neue"/>
                          <a:cs typeface="Helvetica Neue"/>
                        </a:rPr>
                        <a:t>Reason</a:t>
                      </a:r>
                    </a:p>
                  </a:txBody>
                  <a:tcPr marL="133350" marR="95250" marT="95250" marB="95250" anchor="ctr">
                    <a:solidFill>
                      <a:srgbClr val="102A35"/>
                    </a:solidFill>
                  </a:tcPr>
                </a:tc>
              </a:tr>
              <a:tr h="571500">
                <a:tc>
                  <a:txBody>
                    <a:bodyPr/>
                    <a:lstStyle/>
                    <a:p>
                      <a:r>
                        <a:rPr sz="2100" b="0">
                          <a:solidFill>
                            <a:srgbClr val="17313D"/>
                          </a:solidFill>
                          <a:latin typeface="Helvetica Neue"/>
                          <a:ea typeface="Helvetica Neue"/>
                          <a:cs typeface="Helvetica Neue"/>
                        </a:rPr>
                        <a:t>1</a:t>
                      </a:r>
                    </a:p>
                  </a:txBody>
                  <a:tcPr marL="133350" marR="95250" marT="95250" marB="95250" anchor="ctr">
                    <a:solidFill>
                      <a:srgbClr val="FAFCFC"/>
                    </a:solidFill>
                  </a:tcPr>
                </a:tc>
                <a:tc>
                  <a:txBody>
                    <a:bodyPr/>
                    <a:lstStyle/>
                    <a:p>
                      <a:r>
                        <a:rPr sz="2100" b="0">
                          <a:solidFill>
                            <a:srgbClr val="17313D"/>
                          </a:solidFill>
                          <a:latin typeface="Helvetica Neue"/>
                          <a:ea typeface="Helvetica Neue"/>
                          <a:cs typeface="Helvetica Neue"/>
                        </a:rPr>
                        <a:t>Auth kill</a:t>
                      </a:r>
                    </a:p>
                  </a:txBody>
                  <a:tcPr marL="133350" marR="95250" marT="95250" marB="95250" anchor="ctr">
                    <a:solidFill>
                      <a:srgbClr val="FAFCFC"/>
                    </a:solidFill>
                  </a:tcPr>
                </a:tc>
                <a:tc>
                  <a:txBody>
                    <a:bodyPr/>
                    <a:lstStyle/>
                    <a:p>
                      <a:r>
                        <a:rPr sz="2100" b="0">
                          <a:solidFill>
                            <a:srgbClr val="17313D"/>
                          </a:solidFill>
                          <a:latin typeface="Helvetica Neue"/>
                          <a:ea typeface="Helvetica Neue"/>
                          <a:cs typeface="Helvetica Neue"/>
                        </a:rPr>
                        <a:t>Dependency handling</a:t>
                      </a:r>
                    </a:p>
                  </a:txBody>
                  <a:tcPr marL="133350" marR="95250" marT="95250" marB="95250" anchor="ctr">
                    <a:solidFill>
                      <a:srgbClr val="FAFCFC"/>
                    </a:solidFill>
                  </a:tcPr>
                </a:tc>
              </a:tr>
              <a:tr h="571500">
                <a:tc>
                  <a:txBody>
                    <a:bodyPr/>
                    <a:lstStyle/>
                    <a:p>
                      <a:r>
                        <a:rPr sz="2100" b="0">
                          <a:solidFill>
                            <a:srgbClr val="17313D"/>
                          </a:solidFill>
                          <a:latin typeface="Helvetica Neue"/>
                          <a:ea typeface="Helvetica Neue"/>
                          <a:cs typeface="Helvetica Neue"/>
                        </a:rPr>
                        <a:t>2</a:t>
                      </a:r>
                    </a:p>
                  </a:txBody>
                  <a:tcPr marL="133350" marR="95250" marT="95250" marB="95250" anchor="ctr">
                    <a:solidFill>
                      <a:srgbClr val="EFF3F4"/>
                    </a:solidFill>
                  </a:tcPr>
                </a:tc>
                <a:tc>
                  <a:txBody>
                    <a:bodyPr/>
                    <a:lstStyle/>
                    <a:p>
                      <a:r>
                        <a:rPr sz="2100" b="0">
                          <a:solidFill>
                            <a:srgbClr val="17313D"/>
                          </a:solidFill>
                          <a:latin typeface="Helvetica Neue"/>
                          <a:ea typeface="Helvetica Neue"/>
                          <a:cs typeface="Helvetica Neue"/>
                        </a:rPr>
                        <a:t>Browse spike</a:t>
                      </a:r>
                    </a:p>
                  </a:txBody>
                  <a:tcPr marL="133350" marR="95250" marT="95250" marB="95250" anchor="ctr">
                    <a:solidFill>
                      <a:srgbClr val="EFF3F4"/>
                    </a:solidFill>
                  </a:tcPr>
                </a:tc>
                <a:tc>
                  <a:txBody>
                    <a:bodyPr/>
                    <a:lstStyle/>
                    <a:p>
                      <a:r>
                        <a:rPr sz="2100" b="0">
                          <a:solidFill>
                            <a:srgbClr val="17313D"/>
                          </a:solidFill>
                          <a:latin typeface="Helvetica Neue"/>
                          <a:ea typeface="Helvetica Neue"/>
                          <a:cs typeface="Helvetica Neue"/>
                        </a:rPr>
                        <a:t>Overload capacity</a:t>
                      </a:r>
                    </a:p>
                  </a:txBody>
                  <a:tcPr marL="133350" marR="95250" marT="95250" marB="95250" anchor="ctr">
                    <a:solidFill>
                      <a:srgbClr val="EFF3F4"/>
                    </a:solidFill>
                  </a:tcPr>
                </a:tc>
              </a:tr>
              <a:tr h="571500">
                <a:tc>
                  <a:txBody>
                    <a:bodyPr/>
                    <a:lstStyle/>
                    <a:p>
                      <a:r>
                        <a:rPr sz="2100" b="0">
                          <a:solidFill>
                            <a:srgbClr val="17313D"/>
                          </a:solidFill>
                          <a:latin typeface="Helvetica Neue"/>
                          <a:ea typeface="Helvetica Neue"/>
                          <a:cs typeface="Helvetica Neue"/>
                        </a:rPr>
                        <a:t>3</a:t>
                      </a:r>
                    </a:p>
                  </a:txBody>
                  <a:tcPr marL="133350" marR="95250" marT="95250" marB="95250" anchor="ctr">
                    <a:solidFill>
                      <a:srgbClr val="FAFCFC"/>
                    </a:solidFill>
                  </a:tcPr>
                </a:tc>
                <a:tc>
                  <a:txBody>
                    <a:bodyPr/>
                    <a:lstStyle/>
                    <a:p>
                      <a:r>
                        <a:rPr sz="2100" b="0">
                          <a:solidFill>
                            <a:srgbClr val="17313D"/>
                          </a:solidFill>
                          <a:latin typeface="Helvetica Neue"/>
                          <a:ea typeface="Helvetica Neue"/>
                          <a:cs typeface="Helvetica Neue"/>
                        </a:rPr>
                        <a:t>Postgres pause</a:t>
                      </a:r>
                    </a:p>
                  </a:txBody>
                  <a:tcPr marL="133350" marR="95250" marT="95250" marB="95250" anchor="ctr">
                    <a:solidFill>
                      <a:srgbClr val="FAFCFC"/>
                    </a:solidFill>
                  </a:tcPr>
                </a:tc>
                <a:tc>
                  <a:txBody>
                    <a:bodyPr/>
                    <a:lstStyle/>
                    <a:p>
                      <a:r>
                        <a:rPr sz="2100" b="0">
                          <a:solidFill>
                            <a:srgbClr val="17313D"/>
                          </a:solidFill>
                          <a:latin typeface="Helvetica Neue"/>
                          <a:ea typeface="Helvetica Neue"/>
                          <a:cs typeface="Helvetica Neue"/>
                        </a:rPr>
                        <a:t>Shared database</a:t>
                      </a:r>
                    </a:p>
                  </a:txBody>
                  <a:tcPr marL="133350" marR="95250" marT="95250" marB="95250" anchor="ctr">
                    <a:solidFill>
                      <a:srgbClr val="FAFCFC"/>
                    </a:solidFill>
                  </a:tcPr>
                </a:tc>
              </a:tr>
              <a:tr h="571500">
                <a:tc>
                  <a:txBody>
                    <a:bodyPr/>
                    <a:lstStyle/>
                    <a:p>
                      <a:r>
                        <a:rPr sz="2100" b="0">
                          <a:solidFill>
                            <a:srgbClr val="17313D"/>
                          </a:solidFill>
                          <a:latin typeface="Helvetica Neue"/>
                          <a:ea typeface="Helvetica Neue"/>
                          <a:cs typeface="Helvetica Neue"/>
                        </a:rPr>
                        <a:t>4</a:t>
                      </a:r>
                    </a:p>
                  </a:txBody>
                  <a:tcPr marL="133350" marR="95250" marT="95250" marB="95250" anchor="ctr">
                    <a:solidFill>
                      <a:srgbClr val="EFF3F4"/>
                    </a:solidFill>
                  </a:tcPr>
                </a:tc>
                <a:tc>
                  <a:txBody>
                    <a:bodyPr/>
                    <a:lstStyle/>
                    <a:p>
                      <a:r>
                        <a:rPr sz="2100" b="0">
                          <a:solidFill>
                            <a:srgbClr val="17313D"/>
                          </a:solidFill>
                          <a:latin typeface="Helvetica Neue"/>
                          <a:ea typeface="Helvetica Neue"/>
                          <a:cs typeface="Helvetica Neue"/>
                        </a:rPr>
                        <a:t>Postgres stop</a:t>
                      </a:r>
                    </a:p>
                  </a:txBody>
                  <a:tcPr marL="133350" marR="95250" marT="95250" marB="95250" anchor="ctr">
                    <a:solidFill>
                      <a:srgbClr val="EFF3F4"/>
                    </a:solidFill>
                  </a:tcPr>
                </a:tc>
                <a:tc>
                  <a:txBody>
                    <a:bodyPr/>
                    <a:lstStyle/>
                    <a:p>
                      <a:r>
                        <a:rPr sz="2100" b="0">
                          <a:solidFill>
                            <a:srgbClr val="17313D"/>
                          </a:solidFill>
                          <a:latin typeface="Helvetica Neue"/>
                          <a:ea typeface="Helvetica Neue"/>
                          <a:cs typeface="Helvetica Neue"/>
                        </a:rPr>
                        <a:t>Shared database</a:t>
                      </a:r>
                    </a:p>
                  </a:txBody>
                  <a:tcPr marL="133350" marR="95250" marT="95250" marB="95250" anchor="ctr">
                    <a:solidFill>
                      <a:srgbClr val="EFF3F4"/>
                    </a:solidFill>
                  </a:tcPr>
                </a:tc>
              </a:tr>
            </a:tbl>
          </a:graphicData>
        </a:graphic>
      </p:graphicFrame>
      <p:sp>
        <p:nvSpPr>
          <p:cNvPr id="5" name="Decision trace: specs, clamps, reasons">
            <a:extLst xmlns:a="http://schemas.openxmlformats.org/drawingml/2006/main">
              <a:ext uri="{FF2B5EF4-FFF2-40B4-BE49-F238E27FC236}">
                <a16:creationId xmlns:a16="http://schemas.microsoft.com/office/drawing/2014/main" id="{A43FFF0B-50C2-42CF-8219-5D46B0A6711F}"/>
              </a:ext>
            </a:extLst>
          </p:cNvPr>
          <p:cNvSpPr>
            <a:spLocks xmlns:a="http://schemas.openxmlformats.org/drawingml/2006/main" noGrp="1"/>
          </p:cNvSpPr>
          <p:nvPr/>
        </p:nvSpPr>
        <p:spPr>
          <a:xfrm xmlns:a="http://schemas.openxmlformats.org/drawingml/2006/main">
            <a:off x="571500" y="525780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87D82"/>
                </a:solidFill>
                <a:latin typeface="Helvetica Neue"/>
                <a:ea typeface="Helvetica Neue"/>
                <a:cs typeface="Helvetica Neue"/>
              </a:defRPr>
            </a:defPPr>
          </a:lstStyle>
          <a:p xmlns:a="http://schemas.openxmlformats.org/drawingml/2006/main">
            <a:pPr algn="l">
              <a:defRPr sz="2100" b="1">
                <a:solidFill>
                  <a:srgbClr val="087D82"/>
                </a:solidFill>
                <a:latin typeface="Helvetica Neue"/>
                <a:ea typeface="Helvetica Neue"/>
                <a:cs typeface="Helvetica Neue"/>
              </a:defRPr>
            </a:pPr>
            <a:r>
              <a:rPr sz="2100" b="1">
                <a:solidFill>
                  <a:srgbClr val="087D82"/>
                </a:solidFill>
                <a:latin typeface="Helvetica Neue"/>
                <a:ea typeface="Helvetica Neue"/>
                <a:cs typeface="Helvetica Neue"/>
              </a:rPr>
              <a:t>Decision trace: specs, clamps, reasons</a:t>
            </a:r>
          </a:p>
        </p:txBody>
      </p:sp>
      <p:sp>
        <p:nvSpPr>
          <p:cNvPr id="6" name="Campaign fallback: transport failure">
            <a:extLst xmlns:a="http://schemas.openxmlformats.org/drawingml/2006/main">
              <a:ext uri="{FF2B5EF4-FFF2-40B4-BE49-F238E27FC236}">
                <a16:creationId xmlns:a16="http://schemas.microsoft.com/office/drawing/2014/main" id="{A291C469-0CFA-4F48-8E24-F4F8271362EC}"/>
              </a:ext>
            </a:extLst>
          </p:cNvPr>
          <p:cNvSpPr>
            <a:spLocks xmlns:a="http://schemas.openxmlformats.org/drawingml/2006/main" noGrp="1"/>
          </p:cNvSpPr>
          <p:nvPr/>
        </p:nvSpPr>
        <p:spPr>
          <a:xfrm xmlns:a="http://schemas.openxmlformats.org/drawingml/2006/main">
            <a:off x="571500" y="582930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536A73"/>
                </a:solidFill>
                <a:latin typeface="Helvetica Neue"/>
                <a:ea typeface="Helvetica Neue"/>
                <a:cs typeface="Helvetica Neue"/>
              </a:defRPr>
            </a:defPPr>
          </a:lstStyle>
          <a:p xmlns:a="http://schemas.openxmlformats.org/drawingml/2006/main">
            <a:pPr algn="l">
              <a:defRPr sz="2025" b="0">
                <a:solidFill>
                  <a:srgbClr val="536A73"/>
                </a:solidFill>
                <a:latin typeface="Helvetica Neue"/>
                <a:ea typeface="Helvetica Neue"/>
                <a:cs typeface="Helvetica Neue"/>
              </a:defRPr>
            </a:pPr>
            <a:r>
              <a:rPr sz="2025" b="0">
                <a:solidFill>
                  <a:srgbClr val="536A73"/>
                </a:solidFill>
                <a:latin typeface="Helvetica Neue"/>
                <a:ea typeface="Helvetica Neue"/>
                <a:cs typeface="Helvetica Neue"/>
              </a:rPr>
              <a:t>Campaign fallback: transport failure</a:t>
            </a:r>
          </a:p>
        </p:txBody>
      </p:sp>
    </p:spTree>
    <p:extLst>
      <p:ext uri="{BB962C8B-B14F-4D97-AF65-F5344CB8AC3E}">
        <p14:creationId xmlns:p14="http://schemas.microsoft.com/office/powerpoint/2010/main" val="237794699"/>
      </p:ext>
    </p:extLst>
  </p:cSld>
</p:sld>
</file>

<file path=ppt/slides/slide10.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304B51D1-CFE4-472A-8B04-3AFB93244EA4}"/>
              </a:ext>
            </a:extLst>
          </p:cNvPr>
          <p:cNvCxnSpPr>
            <a:stCxn xmlns:a="http://schemas.openxmlformats.org/drawingml/2006/main" id="8" idx="1"/>
            <a:endCxn xmlns:a="http://schemas.openxmlformats.org/drawingml/2006/main" id="9" idx="3"/>
          </p:cNvCxnSpPr>
          <p:nvPr/>
        </p:nvCxnSpPr>
        <p:spPr>
          <a:xfrm xmlns:a="http://schemas.openxmlformats.org/drawingml/2006/main" flipH="1">
            <a:off x="3905250" y="4572000"/>
            <a:ext cx="523875" cy="0"/>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4E54A839-78BA-4B61-B1A9-E34B078C5032}"/>
              </a:ext>
            </a:extLst>
          </p:cNvPr>
          <p:cNvCxnSpPr>
            <a:stCxn xmlns:a="http://schemas.openxmlformats.org/drawingml/2006/main" id="7" idx="1"/>
            <a:endCxn xmlns:a="http://schemas.openxmlformats.org/drawingml/2006/main" id="8" idx="3"/>
          </p:cNvCxnSpPr>
          <p:nvPr/>
        </p:nvCxnSpPr>
        <p:spPr>
          <a:xfrm xmlns:a="http://schemas.openxmlformats.org/drawingml/2006/main" flipH="1">
            <a:off x="7762875" y="4572000"/>
            <a:ext cx="523875" cy="0"/>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AFDC6DA5-425F-450C-93A8-75577D4BC9EB}"/>
              </a:ext>
            </a:extLst>
          </p:cNvPr>
          <p:cNvCxnSpPr>
            <a:stCxn xmlns:a="http://schemas.openxmlformats.org/drawingml/2006/main" id="6" idx="2"/>
            <a:endCxn xmlns:a="http://schemas.openxmlformats.org/drawingml/2006/main" id="7" idx="0"/>
          </p:cNvCxnSpPr>
          <p:nvPr/>
        </p:nvCxnSpPr>
        <p:spPr>
          <a:xfrm xmlns:a="http://schemas.openxmlformats.org/drawingml/2006/main">
            <a:off x="9953625" y="3524250"/>
            <a:ext cx="0" cy="619125"/>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62089CF4-EB59-433E-9F0C-0858DBCEA32F}"/>
              </a:ext>
            </a:extLst>
          </p:cNvPr>
          <p:cNvCxnSpPr>
            <a:stCxn xmlns:a="http://schemas.openxmlformats.org/drawingml/2006/main" id="5" idx="3"/>
            <a:endCxn xmlns:a="http://schemas.openxmlformats.org/drawingml/2006/main" id="6" idx="1"/>
          </p:cNvCxnSpPr>
          <p:nvPr/>
        </p:nvCxnSpPr>
        <p:spPr>
          <a:xfrm xmlns:a="http://schemas.openxmlformats.org/drawingml/2006/main">
            <a:off x="7762875" y="3095625"/>
            <a:ext cx="523875" cy="0"/>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15FC2C2C-563C-425B-B5CE-82419675AC28}"/>
              </a:ext>
            </a:extLst>
          </p:cNvPr>
          <p:cNvCxnSpPr>
            <a:stCxn xmlns:a="http://schemas.openxmlformats.org/drawingml/2006/main" id="4" idx="3"/>
            <a:endCxn xmlns:a="http://schemas.openxmlformats.org/drawingml/2006/main" id="5" idx="1"/>
          </p:cNvCxnSpPr>
          <p:nvPr/>
        </p:nvCxnSpPr>
        <p:spPr>
          <a:xfrm xmlns:a="http://schemas.openxmlformats.org/drawingml/2006/main">
            <a:off x="3905250" y="3095625"/>
            <a:ext cx="523875" cy="0"/>
          </a:xfrm>
          <a:prstGeom xmlns:a="http://schemas.openxmlformats.org/drawingml/2006/main" prst="straightConnector1">
            <a:avLst/>
          </a:prstGeom>
          <a:ln xmlns:a="http://schemas.openxmlformats.org/drawingml/2006/main" w="19050">
            <a:solidFill>
              <a:srgbClr val="536A73"/>
            </a:solidFill>
            <a:prstDash val="solid"/>
            <a:tailEnd type="triangle" w="sm" len="sm"/>
          </a:ln>
        </p:spPr>
      </p:cxnSp>
      <p:sp>
        <p:nvSpPr>
          <p:cNvPr id="16" name="slide-title">
            <a:extLst xmlns:a="http://schemas.openxmlformats.org/drawingml/2006/main">
              <a:ext uri="{FF2B5EF4-FFF2-40B4-BE49-F238E27FC236}">
                <a16:creationId xmlns:a16="http://schemas.microsoft.com/office/drawing/2014/main" id="{F90D7101-61C0-4F44-B0BD-26A0FD12343B}"/>
              </a:ext>
            </a:extLst>
          </p:cNvPr>
          <p:cNvSpPr>
            <a:spLocks xmlns:a="http://schemas.openxmlformats.org/drawingml/2006/main" noGrp="1"/>
          </p:cNvSpPr>
          <p:nvPr/>
        </p:nvSpPr>
        <p:spPr>
          <a:xfrm xmlns:a="http://schemas.openxmlformats.org/drawingml/2006/main">
            <a:off x="571500" y="4572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313D"/>
                </a:solidFill>
                <a:latin typeface="Helvetica Neue"/>
                <a:ea typeface="Helvetica Neue"/>
                <a:cs typeface="Helvetica Neue"/>
              </a:defRPr>
            </a:defPPr>
          </a:lstStyle>
          <a:p xmlns:a="http://schemas.openxmlformats.org/drawingml/2006/main">
            <a:pPr algn="l">
              <a:defRPr sz="3300" b="1">
                <a:solidFill>
                  <a:srgbClr val="17313D"/>
                </a:solidFill>
                <a:latin typeface="Helvetica Neue"/>
                <a:ea typeface="Helvetica Neue"/>
                <a:cs typeface="Helvetica Neue"/>
              </a:defRPr>
            </a:pPr>
            <a:r>
              <a:rPr sz="3300" b="1">
                <a:solidFill>
                  <a:srgbClr val="17313D"/>
                </a:solidFill>
                <a:latin typeface="Helvetica Neue"/>
                <a:ea typeface="Helvetica Neue"/>
                <a:cs typeface="Helvetica Neue"/>
              </a:rPr>
              <a:t>Safety and recovery</a:t>
            </a:r>
          </a:p>
        </p:txBody>
      </p:sp>
      <p:sp>
        <p:nvSpPr>
          <p:cNvPr id="2" name="page-number">
            <a:extLst xmlns:a="http://schemas.openxmlformats.org/drawingml/2006/main">
              <a:ext uri="{FF2B5EF4-FFF2-40B4-BE49-F238E27FC236}">
                <a16:creationId xmlns:a16="http://schemas.microsoft.com/office/drawing/2014/main" id="{EED8498A-2D8A-41D5-9086-56820DCD6F06}"/>
              </a:ext>
            </a:extLst>
          </p:cNvPr>
          <p:cNvSpPr>
            <a:spLocks xmlns:a="http://schemas.openxmlformats.org/drawingml/2006/main" noGrp="1"/>
          </p:cNvSpPr>
          <p:nvPr/>
        </p:nvSpPr>
        <p:spPr>
          <a:xfrm xmlns:a="http://schemas.openxmlformats.org/drawingml/2006/main">
            <a:off x="11049000" y="61341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36A73"/>
                </a:solidFill>
                <a:latin typeface="Helvetica Neue"/>
                <a:ea typeface="Helvetica Neue"/>
                <a:cs typeface="Helvetica Neue"/>
              </a:defRPr>
            </a:defPPr>
          </a:lstStyle>
          <a:p xmlns:a="http://schemas.openxmlformats.org/drawingml/2006/main">
            <a:pPr algn="r">
              <a:defRPr sz="1350" b="0">
                <a:solidFill>
                  <a:srgbClr val="536A73"/>
                </a:solidFill>
                <a:latin typeface="Helvetica Neue"/>
                <a:ea typeface="Helvetica Neue"/>
                <a:cs typeface="Helvetica Neue"/>
              </a:defRPr>
            </a:pPr>
            <a:r>
              <a:rPr sz="1350" b="0">
                <a:solidFill>
                  <a:srgbClr val="536A73"/>
                </a:solidFill>
                <a:latin typeface="Helvetica Neue"/>
                <a:ea typeface="Helvetica Neue"/>
                <a:cs typeface="Helvetica Neue"/>
              </a:rPr>
              <a:t>10</a:t>
            </a:r>
          </a:p>
        </p:txBody>
      </p:sp>
      <p:sp>
        <p:nvSpPr>
          <p:cNvPr id="3" name="The LLM never touches Docker">
            <a:extLst xmlns:a="http://schemas.openxmlformats.org/drawingml/2006/main">
              <a:ext uri="{FF2B5EF4-FFF2-40B4-BE49-F238E27FC236}">
                <a16:creationId xmlns:a16="http://schemas.microsoft.com/office/drawing/2014/main" id="{8B746E7B-CF88-4057-A1B9-8771FD354005}"/>
              </a:ext>
            </a:extLst>
          </p:cNvPr>
          <p:cNvSpPr>
            <a:spLocks xmlns:a="http://schemas.openxmlformats.org/drawingml/2006/main" noGrp="1"/>
          </p:cNvSpPr>
          <p:nvPr/>
        </p:nvSpPr>
        <p:spPr>
          <a:xfrm xmlns:a="http://schemas.openxmlformats.org/drawingml/2006/main">
            <a:off x="571500" y="157162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087D82"/>
                </a:solidFill>
                <a:latin typeface="Helvetica Neue"/>
                <a:ea typeface="Helvetica Neue"/>
                <a:cs typeface="Helvetica Neue"/>
              </a:defRPr>
            </a:defPPr>
          </a:lstStyle>
          <a:p xmlns:a="http://schemas.openxmlformats.org/drawingml/2006/main">
            <a:pPr algn="l">
              <a:defRPr sz="3300" b="1">
                <a:solidFill>
                  <a:srgbClr val="087D82"/>
                </a:solidFill>
                <a:latin typeface="Helvetica Neue"/>
                <a:ea typeface="Helvetica Neue"/>
                <a:cs typeface="Helvetica Neue"/>
              </a:defRPr>
            </a:pPr>
            <a:r>
              <a:rPr sz="3300" b="1">
                <a:solidFill>
                  <a:srgbClr val="087D82"/>
                </a:solidFill>
                <a:latin typeface="Helvetica Neue"/>
                <a:ea typeface="Helvetica Neue"/>
                <a:cs typeface="Helvetica Neue"/>
              </a:rPr>
              <a:t>The LLM never touches Docker</a:t>
            </a:r>
          </a:p>
        </p:txBody>
      </p:sp>
      <p:sp>
        <p:nvSpPr>
          <p:cNvPr id="4" name="node-Scope guard">
            <a:extLst xmlns:a="http://schemas.openxmlformats.org/drawingml/2006/main">
              <a:ext uri="{FF2B5EF4-FFF2-40B4-BE49-F238E27FC236}">
                <a16:creationId xmlns:a16="http://schemas.microsoft.com/office/drawing/2014/main" id="{43A3C577-3421-4EE3-9ECF-1C3C17EAE133}"/>
              </a:ext>
            </a:extLst>
          </p:cNvPr>
          <p:cNvSpPr>
            <a:spLocks xmlns:a="http://schemas.openxmlformats.org/drawingml/2006/main" noGrp="1"/>
          </p:cNvSpPr>
          <p:nvPr/>
        </p:nvSpPr>
        <p:spPr>
          <a:xfrm xmlns:a="http://schemas.openxmlformats.org/drawingml/2006/main">
            <a:off x="571500" y="2667000"/>
            <a:ext cx="3333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313D"/>
                </a:solidFill>
                <a:latin typeface="Helvetica Neue"/>
                <a:ea typeface="Helvetica Neue"/>
                <a:cs typeface="Helvetica Neue"/>
              </a:defRPr>
            </a:defPPr>
          </a:lstStyle>
          <a:p xmlns:a="http://schemas.openxmlformats.org/drawingml/2006/main">
            <a:pPr algn="ctr">
              <a:defRPr sz="1950" b="0">
                <a:solidFill>
                  <a:srgbClr val="17313D"/>
                </a:solidFill>
                <a:latin typeface="Helvetica Neue"/>
                <a:ea typeface="Helvetica Neue"/>
                <a:cs typeface="Helvetica Neue"/>
              </a:defRPr>
            </a:pPr>
            <a:r>
              <a:rPr sz="1950" b="0">
                <a:solidFill>
                  <a:srgbClr val="17313D"/>
                </a:solidFill>
                <a:latin typeface="Helvetica Neue"/>
                <a:ea typeface="Helvetica Neue"/>
                <a:cs typeface="Helvetica Neue"/>
              </a:rPr>
              <a:t>Scope guard</a:t>
            </a:r>
          </a:p>
        </p:txBody>
      </p:sp>
      <p:sp>
        <p:nvSpPr>
          <p:cNvPr id="5" name="node-Policy gate">
            <a:extLst xmlns:a="http://schemas.openxmlformats.org/drawingml/2006/main">
              <a:ext uri="{FF2B5EF4-FFF2-40B4-BE49-F238E27FC236}">
                <a16:creationId xmlns:a16="http://schemas.microsoft.com/office/drawing/2014/main" id="{C58052FC-0A0D-400F-8AB2-791EDFDDF8B6}"/>
              </a:ext>
            </a:extLst>
          </p:cNvPr>
          <p:cNvSpPr>
            <a:spLocks xmlns:a="http://schemas.openxmlformats.org/drawingml/2006/main" noGrp="1"/>
          </p:cNvSpPr>
          <p:nvPr/>
        </p:nvSpPr>
        <p:spPr>
          <a:xfrm xmlns:a="http://schemas.openxmlformats.org/drawingml/2006/main">
            <a:off x="4429125" y="2667000"/>
            <a:ext cx="3333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313D"/>
                </a:solidFill>
                <a:latin typeface="Helvetica Neue"/>
                <a:ea typeface="Helvetica Neue"/>
                <a:cs typeface="Helvetica Neue"/>
              </a:defRPr>
            </a:defPPr>
          </a:lstStyle>
          <a:p xmlns:a="http://schemas.openxmlformats.org/drawingml/2006/main">
            <a:pPr algn="ctr">
              <a:defRPr sz="1950" b="0">
                <a:solidFill>
                  <a:srgbClr val="17313D"/>
                </a:solidFill>
                <a:latin typeface="Helvetica Neue"/>
                <a:ea typeface="Helvetica Neue"/>
                <a:cs typeface="Helvetica Neue"/>
              </a:defRPr>
            </a:pPr>
            <a:r>
              <a:rPr sz="1950" b="0">
                <a:solidFill>
                  <a:srgbClr val="17313D"/>
                </a:solidFill>
                <a:latin typeface="Helvetica Neue"/>
                <a:ea typeface="Helvetica Neue"/>
                <a:cs typeface="Helvetica Neue"/>
              </a:rPr>
              <a:t>Policy gate</a:t>
            </a:r>
          </a:p>
        </p:txBody>
      </p:sp>
      <p:sp>
        <p:nvSpPr>
          <p:cNvPr id="6" name="node-Approval gate">
            <a:extLst xmlns:a="http://schemas.openxmlformats.org/drawingml/2006/main">
              <a:ext uri="{FF2B5EF4-FFF2-40B4-BE49-F238E27FC236}">
                <a16:creationId xmlns:a16="http://schemas.microsoft.com/office/drawing/2014/main" id="{DDAA7AE9-ABCB-4D81-8125-FF84BD66AC10}"/>
              </a:ext>
            </a:extLst>
          </p:cNvPr>
          <p:cNvSpPr>
            <a:spLocks xmlns:a="http://schemas.openxmlformats.org/drawingml/2006/main" noGrp="1"/>
          </p:cNvSpPr>
          <p:nvPr/>
        </p:nvSpPr>
        <p:spPr>
          <a:xfrm xmlns:a="http://schemas.openxmlformats.org/drawingml/2006/main">
            <a:off x="8286750" y="2667000"/>
            <a:ext cx="3333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313D"/>
                </a:solidFill>
                <a:latin typeface="Helvetica Neue"/>
                <a:ea typeface="Helvetica Neue"/>
                <a:cs typeface="Helvetica Neue"/>
              </a:defRPr>
            </a:defPPr>
          </a:lstStyle>
          <a:p xmlns:a="http://schemas.openxmlformats.org/drawingml/2006/main">
            <a:pPr algn="ctr">
              <a:defRPr sz="1950" b="0">
                <a:solidFill>
                  <a:srgbClr val="17313D"/>
                </a:solidFill>
                <a:latin typeface="Helvetica Neue"/>
                <a:ea typeface="Helvetica Neue"/>
                <a:cs typeface="Helvetica Neue"/>
              </a:defRPr>
            </a:pPr>
            <a:r>
              <a:rPr sz="1950" b="0">
                <a:solidFill>
                  <a:srgbClr val="17313D"/>
                </a:solidFill>
                <a:latin typeface="Helvetica Neue"/>
                <a:ea typeface="Helvetica Neue"/>
                <a:cs typeface="Helvetica Neue"/>
              </a:rPr>
              <a:t>Approval gate</a:t>
            </a:r>
          </a:p>
        </p:txBody>
      </p:sp>
      <p:sp>
        <p:nvSpPr>
          <p:cNvPr id="7" name="node-Undo journal">
            <a:extLst xmlns:a="http://schemas.openxmlformats.org/drawingml/2006/main">
              <a:ext uri="{FF2B5EF4-FFF2-40B4-BE49-F238E27FC236}">
                <a16:creationId xmlns:a16="http://schemas.microsoft.com/office/drawing/2014/main" id="{A026C558-DF28-494B-BBC0-053DF352D88C}"/>
              </a:ext>
            </a:extLst>
          </p:cNvPr>
          <p:cNvSpPr>
            <a:spLocks xmlns:a="http://schemas.openxmlformats.org/drawingml/2006/main" noGrp="1"/>
          </p:cNvSpPr>
          <p:nvPr/>
        </p:nvSpPr>
        <p:spPr>
          <a:xfrm xmlns:a="http://schemas.openxmlformats.org/drawingml/2006/main">
            <a:off x="8286750" y="4143375"/>
            <a:ext cx="3333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313D"/>
                </a:solidFill>
                <a:latin typeface="Helvetica Neue"/>
                <a:ea typeface="Helvetica Neue"/>
                <a:cs typeface="Helvetica Neue"/>
              </a:defRPr>
            </a:defPPr>
          </a:lstStyle>
          <a:p xmlns:a="http://schemas.openxmlformats.org/drawingml/2006/main">
            <a:pPr algn="ctr">
              <a:defRPr sz="1950" b="0">
                <a:solidFill>
                  <a:srgbClr val="17313D"/>
                </a:solidFill>
                <a:latin typeface="Helvetica Neue"/>
                <a:ea typeface="Helvetica Neue"/>
                <a:cs typeface="Helvetica Neue"/>
              </a:defRPr>
            </a:pPr>
            <a:r>
              <a:rPr sz="1950" b="0">
                <a:solidFill>
                  <a:srgbClr val="17313D"/>
                </a:solidFill>
                <a:latin typeface="Helvetica Neue"/>
                <a:ea typeface="Helvetica Neue"/>
                <a:cs typeface="Helvetica Neue"/>
              </a:rPr>
              <a:t>Undo journal</a:t>
            </a:r>
          </a:p>
        </p:txBody>
      </p:sp>
      <p:sp>
        <p:nvSpPr>
          <p:cNvPr id="8" name="node-Watchdog + KILL">
            <a:extLst xmlns:a="http://schemas.openxmlformats.org/drawingml/2006/main">
              <a:ext uri="{FF2B5EF4-FFF2-40B4-BE49-F238E27FC236}">
                <a16:creationId xmlns:a16="http://schemas.microsoft.com/office/drawing/2014/main" id="{01075A8C-BA77-47AF-9B83-A71D4A0DB2A3}"/>
              </a:ext>
            </a:extLst>
          </p:cNvPr>
          <p:cNvSpPr>
            <a:spLocks xmlns:a="http://schemas.openxmlformats.org/drawingml/2006/main" noGrp="1"/>
          </p:cNvSpPr>
          <p:nvPr/>
        </p:nvSpPr>
        <p:spPr>
          <a:xfrm xmlns:a="http://schemas.openxmlformats.org/drawingml/2006/main">
            <a:off x="4429125" y="4143375"/>
            <a:ext cx="3333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313D"/>
                </a:solidFill>
                <a:latin typeface="Helvetica Neue"/>
                <a:ea typeface="Helvetica Neue"/>
                <a:cs typeface="Helvetica Neue"/>
              </a:defRPr>
            </a:defPPr>
          </a:lstStyle>
          <a:p xmlns:a="http://schemas.openxmlformats.org/drawingml/2006/main">
            <a:pPr algn="ctr">
              <a:defRPr sz="1950" b="0">
                <a:solidFill>
                  <a:srgbClr val="17313D"/>
                </a:solidFill>
                <a:latin typeface="Helvetica Neue"/>
                <a:ea typeface="Helvetica Neue"/>
                <a:cs typeface="Helvetica Neue"/>
              </a:defRPr>
            </a:pPr>
            <a:r>
              <a:rPr sz="1950" b="0">
                <a:solidFill>
                  <a:srgbClr val="17313D"/>
                </a:solidFill>
                <a:latin typeface="Helvetica Neue"/>
                <a:ea typeface="Helvetica Neue"/>
                <a:cs typeface="Helvetica Neue"/>
              </a:rPr>
              <a:t>Watchdog + KILL</a:t>
            </a:r>
          </a:p>
        </p:txBody>
      </p:sp>
      <p:sp>
        <p:nvSpPr>
          <p:cNvPr id="9" name="node-Rollback">
            <a:extLst xmlns:a="http://schemas.openxmlformats.org/drawingml/2006/main">
              <a:ext uri="{FF2B5EF4-FFF2-40B4-BE49-F238E27FC236}">
                <a16:creationId xmlns:a16="http://schemas.microsoft.com/office/drawing/2014/main" id="{B6C20655-B169-4FD4-884C-E69E9061C1D8}"/>
              </a:ext>
            </a:extLst>
          </p:cNvPr>
          <p:cNvSpPr>
            <a:spLocks xmlns:a="http://schemas.openxmlformats.org/drawingml/2006/main" noGrp="1"/>
          </p:cNvSpPr>
          <p:nvPr/>
        </p:nvSpPr>
        <p:spPr>
          <a:xfrm xmlns:a="http://schemas.openxmlformats.org/drawingml/2006/main">
            <a:off x="571500" y="4143375"/>
            <a:ext cx="3333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B8CCD1"/>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313D"/>
                </a:solidFill>
                <a:latin typeface="Helvetica Neue"/>
                <a:ea typeface="Helvetica Neue"/>
                <a:cs typeface="Helvetica Neue"/>
              </a:defRPr>
            </a:defPPr>
          </a:lstStyle>
          <a:p xmlns:a="http://schemas.openxmlformats.org/drawingml/2006/main">
            <a:pPr algn="ctr">
              <a:defRPr sz="1950" b="0">
                <a:solidFill>
                  <a:srgbClr val="17313D"/>
                </a:solidFill>
                <a:latin typeface="Helvetica Neue"/>
                <a:ea typeface="Helvetica Neue"/>
                <a:cs typeface="Helvetica Neue"/>
              </a:defRPr>
            </a:pPr>
            <a:r>
              <a:rPr sz="1950" b="0">
                <a:solidFill>
                  <a:srgbClr val="17313D"/>
                </a:solidFill>
                <a:latin typeface="Helvetica Neue"/>
                <a:ea typeface="Helvetica Neue"/>
                <a:cs typeface="Helvetica Neue"/>
              </a:rPr>
              <a:t>Rollback</a:t>
            </a:r>
          </a:p>
        </p:txBody>
      </p:sp>
      <p:sp>
        <p:nvSpPr>
          <p:cNvPr id="15" name="Journal before mutation. Recovery requires HTTP ">
            <a:extLst xmlns:a="http://schemas.openxmlformats.org/drawingml/2006/main">
              <a:ext uri="{FF2B5EF4-FFF2-40B4-BE49-F238E27FC236}">
                <a16:creationId xmlns:a16="http://schemas.microsoft.com/office/drawing/2014/main" id="{45B475A9-E731-45DA-8F12-273E298BB531}"/>
              </a:ext>
            </a:extLst>
          </p:cNvPr>
          <p:cNvSpPr>
            <a:spLocks xmlns:a="http://schemas.openxmlformats.org/drawingml/2006/main" noGrp="1"/>
          </p:cNvSpPr>
          <p:nvPr/>
        </p:nvSpPr>
        <p:spPr>
          <a:xfrm xmlns:a="http://schemas.openxmlformats.org/drawingml/2006/main">
            <a:off x="571500" y="5762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17313D"/>
                </a:solidFill>
                <a:latin typeface="Helvetica Neue"/>
                <a:ea typeface="Helvetica Neue"/>
                <a:cs typeface="Helvetica Neue"/>
              </a:defRPr>
            </a:defPPr>
          </a:lstStyle>
          <a:p xmlns:a="http://schemas.openxmlformats.org/drawingml/2006/main">
            <a:pPr algn="l">
              <a:defRPr sz="2250" b="0">
                <a:solidFill>
                  <a:srgbClr val="17313D"/>
                </a:solidFill>
                <a:latin typeface="Helvetica Neue"/>
                <a:ea typeface="Helvetica Neue"/>
                <a:cs typeface="Helvetica Neue"/>
              </a:defRPr>
            </a:pPr>
            <a:r>
              <a:rPr sz="2250" b="0">
                <a:solidFill>
                  <a:srgbClr val="17313D"/>
                </a:solidFill>
                <a:latin typeface="Helvetica Neue"/>
                <a:ea typeface="Helvetica Neue"/>
                <a:cs typeface="Helvetica Neue"/>
              </a:rPr>
              <a:t>Journal before mutation. Recovery requires HTTP evidence.</a:t>
            </a:r>
          </a:p>
        </p:txBody>
      </p:sp>
    </p:spTree>
    <p:extLst>
      <p:ext uri="{BB962C8B-B14F-4D97-AF65-F5344CB8AC3E}">
        <p14:creationId xmlns:p14="http://schemas.microsoft.com/office/powerpoint/2010/main" val="1836429310"/>
      </p:ext>
    </p:extLst>
  </p:cSld>
</p:sld>
</file>

<file path=ppt/slides/slide11.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39E03E44-3EA8-4D36-9E34-E07893AACBB5}"/>
              </a:ext>
            </a:extLst>
          </p:cNvPr>
          <p:cNvSpPr>
            <a:spLocks xmlns:a="http://schemas.openxmlformats.org/drawingml/2006/main" noGrp="1"/>
          </p:cNvSpPr>
          <p:nvPr/>
        </p:nvSpPr>
        <p:spPr>
          <a:xfrm xmlns:a="http://schemas.openxmlformats.org/drawingml/2006/main">
            <a:off x="571500" y="4572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313D"/>
                </a:solidFill>
                <a:latin typeface="Helvetica Neue"/>
                <a:ea typeface="Helvetica Neue"/>
                <a:cs typeface="Helvetica Neue"/>
              </a:defRPr>
            </a:defPPr>
          </a:lstStyle>
          <a:p xmlns:a="http://schemas.openxmlformats.org/drawingml/2006/main">
            <a:pPr algn="l">
              <a:defRPr sz="3300" b="1">
                <a:solidFill>
                  <a:srgbClr val="17313D"/>
                </a:solidFill>
                <a:latin typeface="Helvetica Neue"/>
                <a:ea typeface="Helvetica Neue"/>
                <a:cs typeface="Helvetica Neue"/>
              </a:defRPr>
            </a:pPr>
            <a:r>
              <a:rPr sz="3300" b="1">
                <a:solidFill>
                  <a:srgbClr val="17313D"/>
                </a:solidFill>
                <a:latin typeface="Helvetica Neue"/>
                <a:ea typeface="Helvetica Neue"/>
                <a:cs typeface="Helvetica Neue"/>
              </a:rPr>
              <a:t>Analysis and scoring</a:t>
            </a:r>
          </a:p>
        </p:txBody>
      </p:sp>
      <p:sp>
        <p:nvSpPr>
          <p:cNvPr id="2" name="page-number">
            <a:extLst xmlns:a="http://schemas.openxmlformats.org/drawingml/2006/main">
              <a:ext uri="{FF2B5EF4-FFF2-40B4-BE49-F238E27FC236}">
                <a16:creationId xmlns:a16="http://schemas.microsoft.com/office/drawing/2014/main" id="{2E1FAB16-D792-4DE9-9819-52F8B2A3CCFE}"/>
              </a:ext>
            </a:extLst>
          </p:cNvPr>
          <p:cNvSpPr>
            <a:spLocks xmlns:a="http://schemas.openxmlformats.org/drawingml/2006/main" noGrp="1"/>
          </p:cNvSpPr>
          <p:nvPr/>
        </p:nvSpPr>
        <p:spPr>
          <a:xfrm xmlns:a="http://schemas.openxmlformats.org/drawingml/2006/main">
            <a:off x="11049000" y="61341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36A73"/>
                </a:solidFill>
                <a:latin typeface="Helvetica Neue"/>
                <a:ea typeface="Helvetica Neue"/>
                <a:cs typeface="Helvetica Neue"/>
              </a:defRPr>
            </a:defPPr>
          </a:lstStyle>
          <a:p xmlns:a="http://schemas.openxmlformats.org/drawingml/2006/main">
            <a:pPr algn="r">
              <a:defRPr sz="1350" b="0">
                <a:solidFill>
                  <a:srgbClr val="536A73"/>
                </a:solidFill>
                <a:latin typeface="Helvetica Neue"/>
                <a:ea typeface="Helvetica Neue"/>
                <a:cs typeface="Helvetica Neue"/>
              </a:defRPr>
            </a:pPr>
            <a:r>
              <a:rPr sz="1350" b="0">
                <a:solidFill>
                  <a:srgbClr val="536A73"/>
                </a:solidFill>
                <a:latin typeface="Helvetica Neue"/>
                <a:ea typeface="Helvetica Neue"/>
                <a:cs typeface="Helvetica Neue"/>
              </a:rPr>
              <a:t>11</a:t>
            </a:r>
          </a:p>
        </p:txBody>
      </p:sp>
      <p:sp>
        <p:nvSpPr>
          <p:cNvPr id="3" name="Score = clamp(100−E−L−R−B−A, 0, 100)">
            <a:extLst xmlns:a="http://schemas.openxmlformats.org/drawingml/2006/main">
              <a:ext uri="{FF2B5EF4-FFF2-40B4-BE49-F238E27FC236}">
                <a16:creationId xmlns:a16="http://schemas.microsoft.com/office/drawing/2014/main" id="{2E0BA438-3781-4C1A-9119-8325FA40E0D2}"/>
              </a:ext>
            </a:extLst>
          </p:cNvPr>
          <p:cNvSpPr>
            <a:spLocks xmlns:a="http://schemas.openxmlformats.org/drawingml/2006/main" noGrp="1"/>
          </p:cNvSpPr>
          <p:nvPr/>
        </p:nvSpPr>
        <p:spPr>
          <a:xfrm xmlns:a="http://schemas.openxmlformats.org/drawingml/2006/main">
            <a:off x="571500" y="14763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00" b="1">
                <a:solidFill>
                  <a:srgbClr val="087D82"/>
                </a:solidFill>
                <a:latin typeface="Helvetica Neue"/>
                <a:ea typeface="Helvetica Neue"/>
                <a:cs typeface="Helvetica Neue"/>
              </a:defRPr>
            </a:defPPr>
          </a:lstStyle>
          <a:p xmlns:a="http://schemas.openxmlformats.org/drawingml/2006/main">
            <a:pPr algn="l">
              <a:defRPr sz="2700" b="1">
                <a:solidFill>
                  <a:srgbClr val="087D82"/>
                </a:solidFill>
                <a:latin typeface="Helvetica Neue"/>
                <a:ea typeface="Helvetica Neue"/>
                <a:cs typeface="Helvetica Neue"/>
              </a:defRPr>
            </a:pPr>
            <a:r>
              <a:rPr sz="2700" b="1">
                <a:solidFill>
                  <a:srgbClr val="087D82"/>
                </a:solidFill>
                <a:latin typeface="Helvetica Neue"/>
                <a:ea typeface="Helvetica Neue"/>
                <a:cs typeface="Helvetica Neue"/>
              </a:rPr>
              <a:t>Score = clamp(100−E−L−R−B−A, 0, 100)</a:t>
            </a:r>
          </a:p>
        </p:txBody>
      </p:sp>
      <p:graphicFrame>
        <p:nvGraphicFramePr>
          <p:cNvPr id="4" name="">
            <a:extLst xmlns:a="http://schemas.openxmlformats.org/drawingml/2006/main">
              <a:ext uri="{FF2B5EF4-FFF2-40B4-BE49-F238E27FC236}">
                <a16:creationId xmlns:a16="http://schemas.microsoft.com/office/drawing/2014/main" id="{6A21601A-EE68-4B25-913C-2E161B77293F}"/>
              </a:ext>
            </a:extLst>
          </p:cNvPr>
          <p:cNvGraphicFramePr/>
          <p:nvPr/>
        </p:nvGraphicFramePr>
        <p:xfrm>
          <a:off xmlns:a="http://schemas.openxmlformats.org/drawingml/2006/main" x="571500" y="2476500"/>
          <a:ext xmlns:a="http://schemas.openxmlformats.org/drawingml/2006/main" cx="5476875" cy="3286125"/>
        </p:xfrm>
        <a:graphic xmlns:a="http://schemas.openxmlformats.org/drawingml/2006/main">
          <a:graphicData uri="http://schemas.openxmlformats.org/drawingml/2006/table">
            <a:tbl>
              <a:tblPr/>
              <a:tblGrid>
                <a:gridCol w="1190625"/>
                <a:gridCol w="2762250"/>
                <a:gridCol w="1524000"/>
              </a:tblGrid>
              <a:tr h="547688">
                <a:tc>
                  <a:txBody>
                    <a:bodyPr/>
                    <a:lstStyle/>
                    <a:p>
                      <a:r>
                        <a:rPr sz="2100" b="1">
                          <a:solidFill>
                            <a:srgbClr val="FFFFFF"/>
                          </a:solidFill>
                          <a:latin typeface="Helvetica Neue"/>
                          <a:ea typeface="Helvetica Neue"/>
                          <a:cs typeface="Helvetica Neue"/>
                        </a:rPr>
                        <a:t>Term</a:t>
                      </a:r>
                    </a:p>
                  </a:txBody>
                  <a:tcPr marL="133350" marR="95250" marT="95250" marB="95250" anchor="ctr">
                    <a:solidFill>
                      <a:srgbClr val="102A35"/>
                    </a:solidFill>
                  </a:tcPr>
                </a:tc>
                <a:tc>
                  <a:txBody>
                    <a:bodyPr/>
                    <a:lstStyle/>
                    <a:p>
                      <a:r>
                        <a:rPr sz="2100" b="1">
                          <a:solidFill>
                            <a:srgbClr val="FFFFFF"/>
                          </a:solidFill>
                          <a:latin typeface="Helvetica Neue"/>
                          <a:ea typeface="Helvetica Neue"/>
                          <a:cs typeface="Helvetica Neue"/>
                        </a:rPr>
                        <a:t>Penalty</a:t>
                      </a:r>
                    </a:p>
                  </a:txBody>
                  <a:tcPr marL="133350" marR="95250" marT="95250" marB="95250" anchor="ctr">
                    <a:solidFill>
                      <a:srgbClr val="102A35"/>
                    </a:solidFill>
                  </a:tcPr>
                </a:tc>
                <a:tc>
                  <a:txBody>
                    <a:bodyPr/>
                    <a:lstStyle/>
                    <a:p>
                      <a:r>
                        <a:rPr sz="2100" b="1">
                          <a:solidFill>
                            <a:srgbClr val="FFFFFF"/>
                          </a:solidFill>
                          <a:latin typeface="Helvetica Neue"/>
                          <a:ea typeface="Helvetica Neue"/>
                          <a:cs typeface="Helvetica Neue"/>
                        </a:rPr>
                        <a:t>Max</a:t>
                      </a:r>
                    </a:p>
                  </a:txBody>
                  <a:tcPr marL="133350" marR="95250" marT="95250" marB="95250" anchor="ctr">
                    <a:solidFill>
                      <a:srgbClr val="102A35"/>
                    </a:solidFill>
                  </a:tcPr>
                </a:tc>
              </a:tr>
              <a:tr h="547688">
                <a:tc>
                  <a:txBody>
                    <a:bodyPr/>
                    <a:lstStyle/>
                    <a:p>
                      <a:r>
                        <a:rPr sz="2100" b="0">
                          <a:solidFill>
                            <a:srgbClr val="17313D"/>
                          </a:solidFill>
                          <a:latin typeface="Helvetica Neue"/>
                          <a:ea typeface="Helvetica Neue"/>
                          <a:cs typeface="Helvetica Neue"/>
                        </a:rPr>
                        <a:t>E</a:t>
                      </a:r>
                    </a:p>
                  </a:txBody>
                  <a:tcPr marL="133350" marR="95250" marT="95250" marB="95250" anchor="ctr">
                    <a:solidFill>
                      <a:srgbClr val="FAFCFC"/>
                    </a:solidFill>
                  </a:tcPr>
                </a:tc>
                <a:tc>
                  <a:txBody>
                    <a:bodyPr/>
                    <a:lstStyle/>
                    <a:p>
                      <a:r>
                        <a:rPr sz="2100" b="0">
                          <a:solidFill>
                            <a:srgbClr val="17313D"/>
                          </a:solidFill>
                          <a:latin typeface="Helvetica Neue"/>
                          <a:ea typeface="Helvetica Neue"/>
                          <a:cs typeface="Helvetica Neue"/>
                        </a:rPr>
                        <a:t>Errors</a:t>
                      </a:r>
                    </a:p>
                  </a:txBody>
                  <a:tcPr marL="133350" marR="95250" marT="95250" marB="95250" anchor="ctr">
                    <a:solidFill>
                      <a:srgbClr val="FAFCFC"/>
                    </a:solidFill>
                  </a:tcPr>
                </a:tc>
                <a:tc>
                  <a:txBody>
                    <a:bodyPr/>
                    <a:lstStyle/>
                    <a:p>
                      <a:r>
                        <a:rPr sz="2100" b="0">
                          <a:solidFill>
                            <a:srgbClr val="17313D"/>
                          </a:solidFill>
                          <a:latin typeface="Helvetica Neue"/>
                          <a:ea typeface="Helvetica Neue"/>
                          <a:cs typeface="Helvetica Neue"/>
                        </a:rPr>
                        <a:t>40</a:t>
                      </a:r>
                    </a:p>
                  </a:txBody>
                  <a:tcPr marL="133350" marR="95250" marT="95250" marB="95250" anchor="ctr">
                    <a:solidFill>
                      <a:srgbClr val="FAFCFC"/>
                    </a:solidFill>
                  </a:tcPr>
                </a:tc>
              </a:tr>
              <a:tr h="547688">
                <a:tc>
                  <a:txBody>
                    <a:bodyPr/>
                    <a:lstStyle/>
                    <a:p>
                      <a:r>
                        <a:rPr sz="2100" b="0">
                          <a:solidFill>
                            <a:srgbClr val="17313D"/>
                          </a:solidFill>
                          <a:latin typeface="Helvetica Neue"/>
                          <a:ea typeface="Helvetica Neue"/>
                          <a:cs typeface="Helvetica Neue"/>
                        </a:rPr>
                        <a:t>L</a:t>
                      </a:r>
                    </a:p>
                  </a:txBody>
                  <a:tcPr marL="133350" marR="95250" marT="95250" marB="95250" anchor="ctr">
                    <a:solidFill>
                      <a:srgbClr val="EFF3F4"/>
                    </a:solidFill>
                  </a:tcPr>
                </a:tc>
                <a:tc>
                  <a:txBody>
                    <a:bodyPr/>
                    <a:lstStyle/>
                    <a:p>
                      <a:r>
                        <a:rPr sz="2100" b="0">
                          <a:solidFill>
                            <a:srgbClr val="17313D"/>
                          </a:solidFill>
                          <a:latin typeface="Helvetica Neue"/>
                          <a:ea typeface="Helvetica Neue"/>
                          <a:cs typeface="Helvetica Neue"/>
                        </a:rPr>
                        <a:t>Latency</a:t>
                      </a:r>
                    </a:p>
                  </a:txBody>
                  <a:tcPr marL="133350" marR="95250" marT="95250" marB="95250" anchor="ctr">
                    <a:solidFill>
                      <a:srgbClr val="EFF3F4"/>
                    </a:solidFill>
                  </a:tcPr>
                </a:tc>
                <a:tc>
                  <a:txBody>
                    <a:bodyPr/>
                    <a:lstStyle/>
                    <a:p>
                      <a:r>
                        <a:rPr sz="2100" b="0">
                          <a:solidFill>
                            <a:srgbClr val="17313D"/>
                          </a:solidFill>
                          <a:latin typeface="Helvetica Neue"/>
                          <a:ea typeface="Helvetica Neue"/>
                          <a:cs typeface="Helvetica Neue"/>
                        </a:rPr>
                        <a:t>20</a:t>
                      </a:r>
                    </a:p>
                  </a:txBody>
                  <a:tcPr marL="133350" marR="95250" marT="95250" marB="95250" anchor="ctr">
                    <a:solidFill>
                      <a:srgbClr val="EFF3F4"/>
                    </a:solidFill>
                  </a:tcPr>
                </a:tc>
              </a:tr>
              <a:tr h="547688">
                <a:tc>
                  <a:txBody>
                    <a:bodyPr/>
                    <a:lstStyle/>
                    <a:p>
                      <a:r>
                        <a:rPr sz="2100" b="0">
                          <a:solidFill>
                            <a:srgbClr val="17313D"/>
                          </a:solidFill>
                          <a:latin typeface="Helvetica Neue"/>
                          <a:ea typeface="Helvetica Neue"/>
                          <a:cs typeface="Helvetica Neue"/>
                        </a:rPr>
                        <a:t>R</a:t>
                      </a:r>
                    </a:p>
                  </a:txBody>
                  <a:tcPr marL="133350" marR="95250" marT="95250" marB="95250" anchor="ctr">
                    <a:solidFill>
                      <a:srgbClr val="FAFCFC"/>
                    </a:solidFill>
                  </a:tcPr>
                </a:tc>
                <a:tc>
                  <a:txBody>
                    <a:bodyPr/>
                    <a:lstStyle/>
                    <a:p>
                      <a:r>
                        <a:rPr sz="2100" b="0">
                          <a:solidFill>
                            <a:srgbClr val="17313D"/>
                          </a:solidFill>
                          <a:latin typeface="Helvetica Neue"/>
                          <a:ea typeface="Helvetica Neue"/>
                          <a:cs typeface="Helvetica Neue"/>
                        </a:rPr>
                        <a:t>Recovery</a:t>
                      </a:r>
                    </a:p>
                  </a:txBody>
                  <a:tcPr marL="133350" marR="95250" marT="95250" marB="95250" anchor="ctr">
                    <a:solidFill>
                      <a:srgbClr val="FAFCFC"/>
                    </a:solidFill>
                  </a:tcPr>
                </a:tc>
                <a:tc>
                  <a:txBody>
                    <a:bodyPr/>
                    <a:lstStyle/>
                    <a:p>
                      <a:r>
                        <a:rPr sz="2100" b="0">
                          <a:solidFill>
                            <a:srgbClr val="17313D"/>
                          </a:solidFill>
                          <a:latin typeface="Helvetica Neue"/>
                          <a:ea typeface="Helvetica Neue"/>
                          <a:cs typeface="Helvetica Neue"/>
                        </a:rPr>
                        <a:t>25</a:t>
                      </a:r>
                    </a:p>
                  </a:txBody>
                  <a:tcPr marL="133350" marR="95250" marT="95250" marB="95250" anchor="ctr">
                    <a:solidFill>
                      <a:srgbClr val="FAFCFC"/>
                    </a:solidFill>
                  </a:tcPr>
                </a:tc>
              </a:tr>
              <a:tr h="547688">
                <a:tc>
                  <a:txBody>
                    <a:bodyPr/>
                    <a:lstStyle/>
                    <a:p>
                      <a:r>
                        <a:rPr sz="2100" b="0">
                          <a:solidFill>
                            <a:srgbClr val="17313D"/>
                          </a:solidFill>
                          <a:latin typeface="Helvetica Neue"/>
                          <a:ea typeface="Helvetica Neue"/>
                          <a:cs typeface="Helvetica Neue"/>
                        </a:rPr>
                        <a:t>B</a:t>
                      </a:r>
                    </a:p>
                  </a:txBody>
                  <a:tcPr marL="133350" marR="95250" marT="95250" marB="95250" anchor="ctr">
                    <a:solidFill>
                      <a:srgbClr val="EFF3F4"/>
                    </a:solidFill>
                  </a:tcPr>
                </a:tc>
                <a:tc>
                  <a:txBody>
                    <a:bodyPr/>
                    <a:lstStyle/>
                    <a:p>
                      <a:r>
                        <a:rPr sz="2100" b="0">
                          <a:solidFill>
                            <a:srgbClr val="17313D"/>
                          </a:solidFill>
                          <a:latin typeface="Helvetica Neue"/>
                          <a:ea typeface="Helvetica Neue"/>
                          <a:cs typeface="Helvetica Neue"/>
                        </a:rPr>
                        <a:t>Blast radius</a:t>
                      </a:r>
                    </a:p>
                  </a:txBody>
                  <a:tcPr marL="133350" marR="95250" marT="95250" marB="95250" anchor="ctr">
                    <a:solidFill>
                      <a:srgbClr val="EFF3F4"/>
                    </a:solidFill>
                  </a:tcPr>
                </a:tc>
                <a:tc>
                  <a:txBody>
                    <a:bodyPr/>
                    <a:lstStyle/>
                    <a:p>
                      <a:r>
                        <a:rPr sz="2100" b="0">
                          <a:solidFill>
                            <a:srgbClr val="17313D"/>
                          </a:solidFill>
                          <a:latin typeface="Helvetica Neue"/>
                          <a:ea typeface="Helvetica Neue"/>
                          <a:cs typeface="Helvetica Neue"/>
                        </a:rPr>
                        <a:t>10</a:t>
                      </a:r>
                    </a:p>
                  </a:txBody>
                  <a:tcPr marL="133350" marR="95250" marT="95250" marB="95250" anchor="ctr">
                    <a:solidFill>
                      <a:srgbClr val="EFF3F4"/>
                    </a:solidFill>
                  </a:tcPr>
                </a:tc>
              </a:tr>
              <a:tr h="547688">
                <a:tc>
                  <a:txBody>
                    <a:bodyPr/>
                    <a:lstStyle/>
                    <a:p>
                      <a:r>
                        <a:rPr sz="2100" b="0">
                          <a:solidFill>
                            <a:srgbClr val="17313D"/>
                          </a:solidFill>
                          <a:latin typeface="Helvetica Neue"/>
                          <a:ea typeface="Helvetica Neue"/>
                          <a:cs typeface="Helvetica Neue"/>
                        </a:rPr>
                        <a:t>A</a:t>
                      </a:r>
                    </a:p>
                  </a:txBody>
                  <a:tcPr marL="133350" marR="95250" marT="95250" marB="95250" anchor="ctr">
                    <a:solidFill>
                      <a:srgbClr val="FAFCFC"/>
                    </a:solidFill>
                  </a:tcPr>
                </a:tc>
                <a:tc>
                  <a:txBody>
                    <a:bodyPr/>
                    <a:lstStyle/>
                    <a:p>
                      <a:r>
                        <a:rPr sz="2100" b="0">
                          <a:solidFill>
                            <a:srgbClr val="17313D"/>
                          </a:solidFill>
                          <a:latin typeface="Helvetica Neue"/>
                          <a:ea typeface="Helvetica Neue"/>
                          <a:cs typeface="Helvetica Neue"/>
                        </a:rPr>
                        <a:t>Watchdog</a:t>
                      </a:r>
                    </a:p>
                  </a:txBody>
                  <a:tcPr marL="133350" marR="95250" marT="95250" marB="95250" anchor="ctr">
                    <a:solidFill>
                      <a:srgbClr val="FAFCFC"/>
                    </a:solidFill>
                  </a:tcPr>
                </a:tc>
                <a:tc>
                  <a:txBody>
                    <a:bodyPr/>
                    <a:lstStyle/>
                    <a:p>
                      <a:r>
                        <a:rPr sz="2100" b="0">
                          <a:solidFill>
                            <a:srgbClr val="17313D"/>
                          </a:solidFill>
                          <a:latin typeface="Helvetica Neue"/>
                          <a:ea typeface="Helvetica Neue"/>
                          <a:cs typeface="Helvetica Neue"/>
                        </a:rPr>
                        <a:t>5</a:t>
                      </a:r>
                    </a:p>
                  </a:txBody>
                  <a:tcPr marL="133350" marR="95250" marT="95250" marB="95250" anchor="ctr">
                    <a:solidFill>
                      <a:srgbClr val="FAFCFC"/>
                    </a:solidFill>
                  </a:tcPr>
                </a:tc>
              </a:tr>
            </a:tbl>
          </a:graphicData>
        </a:graphic>
      </p:graphicFrame>
      <p:sp>
        <p:nvSpPr>
          <p:cNvPr id="5" name="Analyzer&#10;Validated explanations&#10;Templated fallba">
            <a:extLst xmlns:a="http://schemas.openxmlformats.org/drawingml/2006/main">
              <a:ext uri="{FF2B5EF4-FFF2-40B4-BE49-F238E27FC236}">
                <a16:creationId xmlns:a16="http://schemas.microsoft.com/office/drawing/2014/main" id="{64D657A0-B5CC-498E-88B7-B7EB1BFA964F}"/>
              </a:ext>
            </a:extLst>
          </p:cNvPr>
          <p:cNvSpPr>
            <a:spLocks xmlns:a="http://schemas.openxmlformats.org/drawingml/2006/main" noGrp="1"/>
          </p:cNvSpPr>
          <p:nvPr/>
        </p:nvSpPr>
        <p:spPr>
          <a:xfrm xmlns:a="http://schemas.openxmlformats.org/drawingml/2006/main">
            <a:off x="6810375" y="2571750"/>
            <a:ext cx="4619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0">
                <a:solidFill>
                  <a:srgbClr val="17313D"/>
                </a:solidFill>
                <a:latin typeface="Helvetica Neue"/>
                <a:ea typeface="Helvetica Neue"/>
                <a:cs typeface="Helvetica Neue"/>
              </a:defRPr>
            </a:defPPr>
          </a:lstStyle>
          <a:p xmlns:a="http://schemas.openxmlformats.org/drawingml/2006/main">
            <a:pPr algn="l">
              <a:defRPr sz="2325" b="0">
                <a:solidFill>
                  <a:srgbClr val="17313D"/>
                </a:solidFill>
                <a:latin typeface="Helvetica Neue"/>
                <a:ea typeface="Helvetica Neue"/>
                <a:cs typeface="Helvetica Neue"/>
              </a:defRPr>
            </a:pPr>
            <a:r>
              <a:rPr sz="2325" b="0">
                <a:solidFill>
                  <a:srgbClr val="17313D"/>
                </a:solidFill>
                <a:latin typeface="Helvetica Neue"/>
                <a:ea typeface="Helvetica Neue"/>
                <a:cs typeface="Helvetica Neue"/>
              </a:rPr>
              <a:t>Analyzer</a:t>
            </a:r>
          </a:p>
          <a:p xmlns:a="http://schemas.openxmlformats.org/drawingml/2006/main">
            <a:pPr algn="l">
              <a:defRPr sz="2325" b="0">
                <a:solidFill>
                  <a:srgbClr val="17313D"/>
                </a:solidFill>
                <a:latin typeface="Helvetica Neue"/>
                <a:ea typeface="Helvetica Neue"/>
                <a:cs typeface="Helvetica Neue"/>
              </a:defRPr>
            </a:pPr>
            <a:r>
              <a:rPr sz="2325" b="0">
                <a:solidFill>
                  <a:srgbClr val="17313D"/>
                </a:solidFill>
                <a:latin typeface="Helvetica Neue"/>
                <a:ea typeface="Helvetica Neue"/>
                <a:cs typeface="Helvetica Neue"/>
              </a:rPr>
              <a:t>Validated explanations</a:t>
            </a:r>
          </a:p>
          <a:p xmlns:a="http://schemas.openxmlformats.org/drawingml/2006/main">
            <a:pPr algn="l">
              <a:defRPr sz="2325" b="0">
                <a:solidFill>
                  <a:srgbClr val="17313D"/>
                </a:solidFill>
                <a:latin typeface="Helvetica Neue"/>
                <a:ea typeface="Helvetica Neue"/>
                <a:cs typeface="Helvetica Neue"/>
              </a:defRPr>
            </a:pPr>
            <a:r>
              <a:rPr sz="2325" b="0">
                <a:solidFill>
                  <a:srgbClr val="17313D"/>
                </a:solidFill>
                <a:latin typeface="Helvetica Neue"/>
                <a:ea typeface="Helvetica Neue"/>
                <a:cs typeface="Helvetica Neue"/>
              </a:rPr>
              <a:t>Templated fallback</a:t>
            </a:r>
          </a:p>
        </p:txBody>
      </p:sp>
      <p:sp>
        <p:nvSpPr>
          <p:cNvPr id="6" name="Critical: &lt;30 or abort&#10;with ≥2 impacted journeys">
            <a:extLst xmlns:a="http://schemas.openxmlformats.org/drawingml/2006/main">
              <a:ext uri="{FF2B5EF4-FFF2-40B4-BE49-F238E27FC236}">
                <a16:creationId xmlns:a16="http://schemas.microsoft.com/office/drawing/2014/main" id="{BBF35EDF-562E-4711-8507-0C5C852F4B3F}"/>
              </a:ext>
            </a:extLst>
          </p:cNvPr>
          <p:cNvSpPr>
            <a:spLocks xmlns:a="http://schemas.openxmlformats.org/drawingml/2006/main" noGrp="1"/>
          </p:cNvSpPr>
          <p:nvPr/>
        </p:nvSpPr>
        <p:spPr>
          <a:xfrm xmlns:a="http://schemas.openxmlformats.org/drawingml/2006/main">
            <a:off x="6810375" y="4429125"/>
            <a:ext cx="4619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AF3347"/>
                </a:solidFill>
                <a:latin typeface="Helvetica Neue"/>
                <a:ea typeface="Helvetica Neue"/>
                <a:cs typeface="Helvetica Neue"/>
              </a:defRPr>
            </a:defPPr>
          </a:lstStyle>
          <a:p xmlns:a="http://schemas.openxmlformats.org/drawingml/2006/main">
            <a:pPr algn="l">
              <a:defRPr sz="2100" b="1">
                <a:solidFill>
                  <a:srgbClr val="AF3347"/>
                </a:solidFill>
                <a:latin typeface="Helvetica Neue"/>
                <a:ea typeface="Helvetica Neue"/>
                <a:cs typeface="Helvetica Neue"/>
              </a:defRPr>
            </a:pPr>
            <a:r>
              <a:rPr sz="2100" b="1">
                <a:solidFill>
                  <a:srgbClr val="AF3347"/>
                </a:solidFill>
                <a:latin typeface="Helvetica Neue"/>
                <a:ea typeface="Helvetica Neue"/>
                <a:cs typeface="Helvetica Neue"/>
              </a:rPr>
              <a:t>Critical: &lt;30 or abort</a:t>
            </a:r>
          </a:p>
          <a:p xmlns:a="http://schemas.openxmlformats.org/drawingml/2006/main">
            <a:pPr algn="l">
              <a:defRPr sz="2100" b="1">
                <a:solidFill>
                  <a:srgbClr val="AF3347"/>
                </a:solidFill>
                <a:latin typeface="Helvetica Neue"/>
                <a:ea typeface="Helvetica Neue"/>
                <a:cs typeface="Helvetica Neue"/>
              </a:defRPr>
            </a:pPr>
            <a:r>
              <a:rPr sz="2100" b="1">
                <a:solidFill>
                  <a:srgbClr val="AF3347"/>
                </a:solidFill>
                <a:latin typeface="Helvetica Neue"/>
                <a:ea typeface="Helvetica Neue"/>
                <a:cs typeface="Helvetica Neue"/>
              </a:rPr>
              <a:t>with ≥2 impacted journeys</a:t>
            </a:r>
          </a:p>
        </p:txBody>
      </p:sp>
      <p:sp>
        <p:nvSpPr>
          <p:cNvPr id="7" name="High &lt;60   Medium &lt;80   Low ≥80">
            <a:extLst xmlns:a="http://schemas.openxmlformats.org/drawingml/2006/main">
              <a:ext uri="{FF2B5EF4-FFF2-40B4-BE49-F238E27FC236}">
                <a16:creationId xmlns:a16="http://schemas.microsoft.com/office/drawing/2014/main" id="{67E7D166-CF2E-40B5-86AF-EAC28CB2C402}"/>
              </a:ext>
            </a:extLst>
          </p:cNvPr>
          <p:cNvSpPr>
            <a:spLocks xmlns:a="http://schemas.openxmlformats.org/drawingml/2006/main" noGrp="1"/>
          </p:cNvSpPr>
          <p:nvPr/>
        </p:nvSpPr>
        <p:spPr>
          <a:xfrm xmlns:a="http://schemas.openxmlformats.org/drawingml/2006/main">
            <a:off x="6810375" y="5524500"/>
            <a:ext cx="4667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36A73"/>
                </a:solidFill>
                <a:latin typeface="Helvetica Neue"/>
                <a:ea typeface="Helvetica Neue"/>
                <a:cs typeface="Helvetica Neue"/>
              </a:defRPr>
            </a:defPPr>
          </a:lstStyle>
          <a:p xmlns:a="http://schemas.openxmlformats.org/drawingml/2006/main">
            <a:pPr algn="l">
              <a:defRPr sz="1875" b="0">
                <a:solidFill>
                  <a:srgbClr val="536A73"/>
                </a:solidFill>
                <a:latin typeface="Helvetica Neue"/>
                <a:ea typeface="Helvetica Neue"/>
                <a:cs typeface="Helvetica Neue"/>
              </a:defRPr>
            </a:pPr>
            <a:r>
              <a:rPr sz="1875" b="0">
                <a:solidFill>
                  <a:srgbClr val="536A73"/>
                </a:solidFill>
                <a:latin typeface="Helvetica Neue"/>
                <a:ea typeface="Helvetica Neue"/>
                <a:cs typeface="Helvetica Neue"/>
              </a:rPr>
              <a:t>High &lt;60   Medium &lt;80   Low ≥80</a:t>
            </a:r>
          </a:p>
        </p:txBody>
      </p:sp>
    </p:spTree>
    <p:extLst>
      <p:ext uri="{BB962C8B-B14F-4D97-AF65-F5344CB8AC3E}">
        <p14:creationId xmlns:p14="http://schemas.microsoft.com/office/powerpoint/2010/main" val="738138277"/>
      </p:ext>
    </p:extLst>
  </p:cSld>
</p:sld>
</file>

<file path=ppt/slides/slide12.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D5A4B635-2109-418F-AA2B-6E0C7CCB031D}"/>
              </a:ext>
            </a:extLst>
          </p:cNvPr>
          <p:cNvSpPr>
            <a:spLocks xmlns:a="http://schemas.openxmlformats.org/drawingml/2006/main" noGrp="1"/>
          </p:cNvSpPr>
          <p:nvPr/>
        </p:nvSpPr>
        <p:spPr>
          <a:xfrm xmlns:a="http://schemas.openxmlformats.org/drawingml/2006/main">
            <a:off x="571500" y="4572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313D"/>
                </a:solidFill>
                <a:latin typeface="Helvetica Neue"/>
                <a:ea typeface="Helvetica Neue"/>
                <a:cs typeface="Helvetica Neue"/>
              </a:defRPr>
            </a:defPPr>
          </a:lstStyle>
          <a:p xmlns:a="http://schemas.openxmlformats.org/drawingml/2006/main">
            <a:pPr algn="l">
              <a:defRPr sz="3300" b="1">
                <a:solidFill>
                  <a:srgbClr val="17313D"/>
                </a:solidFill>
                <a:latin typeface="Helvetica Neue"/>
                <a:ea typeface="Helvetica Neue"/>
                <a:cs typeface="Helvetica Neue"/>
              </a:defRPr>
            </a:pPr>
            <a:r>
              <a:rPr sz="3300" b="1">
                <a:solidFill>
                  <a:srgbClr val="17313D"/>
                </a:solidFill>
                <a:latin typeface="Helvetica Neue"/>
                <a:ea typeface="Helvetica Neue"/>
                <a:cs typeface="Helvetica Neue"/>
              </a:rPr>
              <a:t>Results</a:t>
            </a:r>
          </a:p>
        </p:txBody>
      </p:sp>
      <p:sp>
        <p:nvSpPr>
          <p:cNvPr id="2" name="page-number">
            <a:extLst xmlns:a="http://schemas.openxmlformats.org/drawingml/2006/main">
              <a:ext uri="{FF2B5EF4-FFF2-40B4-BE49-F238E27FC236}">
                <a16:creationId xmlns:a16="http://schemas.microsoft.com/office/drawing/2014/main" id="{9EB64122-32C5-40CD-948D-52F72BBAF546}"/>
              </a:ext>
            </a:extLst>
          </p:cNvPr>
          <p:cNvSpPr>
            <a:spLocks xmlns:a="http://schemas.openxmlformats.org/drawingml/2006/main" noGrp="1"/>
          </p:cNvSpPr>
          <p:nvPr/>
        </p:nvSpPr>
        <p:spPr>
          <a:xfrm xmlns:a="http://schemas.openxmlformats.org/drawingml/2006/main">
            <a:off x="11049000" y="61341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36A73"/>
                </a:solidFill>
                <a:latin typeface="Helvetica Neue"/>
                <a:ea typeface="Helvetica Neue"/>
                <a:cs typeface="Helvetica Neue"/>
              </a:defRPr>
            </a:defPPr>
          </a:lstStyle>
          <a:p xmlns:a="http://schemas.openxmlformats.org/drawingml/2006/main">
            <a:pPr algn="r">
              <a:defRPr sz="1350" b="0">
                <a:solidFill>
                  <a:srgbClr val="536A73"/>
                </a:solidFill>
                <a:latin typeface="Helvetica Neue"/>
                <a:ea typeface="Helvetica Neue"/>
                <a:cs typeface="Helvetica Neue"/>
              </a:defRPr>
            </a:pPr>
            <a:r>
              <a:rPr sz="1350" b="0">
                <a:solidFill>
                  <a:srgbClr val="536A73"/>
                </a:solidFill>
                <a:latin typeface="Helvetica Neue"/>
                <a:ea typeface="Helvetica Neue"/>
                <a:cs typeface="Helvetica Neue"/>
              </a:rPr>
              <a:t>12</a:t>
            </a:r>
          </a:p>
        </p:txBody>
      </p:sp>
      <p:graphicFrame>
        <p:nvGraphicFramePr>
          <p:cNvPr id="3" name="Chart">
            <a:extLst xmlns:a="http://schemas.openxmlformats.org/drawingml/2006/main">
              <a:ext uri="{FF2B5EF4-FFF2-40B4-BE49-F238E27FC236}">
                <a16:creationId xmlns:a16="http://schemas.microsoft.com/office/drawing/2014/main" id="{09A72C3F-CA97-4FA4-B672-612D3EE80EF8}"/>
              </a:ext>
            </a:extLst>
          </p:cNvPr>
          <p:cNvGraphicFramePr/>
          <p:nvPr/>
        </p:nvGraphicFramePr>
        <p:xfrm>
          <a:off xmlns:a="http://schemas.openxmlformats.org/drawingml/2006/main" x="571500" y="1714500"/>
          <a:ext xmlns:a="http://schemas.openxmlformats.org/drawingml/2006/main" cx="7143750" cy="3619500"/>
        </p:xfrm>
        <a:graphic xmlns:a="http://schemas.openxmlformats.org/drawingml/2006/main">
          <a:graphicData uri="http://schemas.openxmlformats.org/drawingml/2006/chart">
            <c:chart xmlns:r="http://schemas.openxmlformats.org/officeDocument/2006/relationships" xmlns:c="http://schemas.openxmlformats.org/drawingml/2006/chart" r:id="R132ffebd43d24b89"/>
          </a:graphicData>
        </a:graphic>
      </p:graphicFrame>
      <p:sp>
        <p:nvSpPr>
          <p:cNvPr id="4" name="55/100">
            <a:extLst xmlns:a="http://schemas.openxmlformats.org/drawingml/2006/main">
              <a:ext uri="{FF2B5EF4-FFF2-40B4-BE49-F238E27FC236}">
                <a16:creationId xmlns:a16="http://schemas.microsoft.com/office/drawing/2014/main" id="{FEEFAEA0-BD24-43AE-83CD-D57EC396738D}"/>
              </a:ext>
            </a:extLst>
          </p:cNvPr>
          <p:cNvSpPr>
            <a:spLocks xmlns:a="http://schemas.openxmlformats.org/drawingml/2006/main" noGrp="1"/>
          </p:cNvSpPr>
          <p:nvPr/>
        </p:nvSpPr>
        <p:spPr>
          <a:xfrm xmlns:a="http://schemas.openxmlformats.org/drawingml/2006/main">
            <a:off x="8382000" y="1857375"/>
            <a:ext cx="3190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5700" b="1">
                <a:solidFill>
                  <a:srgbClr val="087D82"/>
                </a:solidFill>
                <a:latin typeface="Helvetica Neue"/>
                <a:ea typeface="Helvetica Neue"/>
                <a:cs typeface="Helvetica Neue"/>
              </a:defRPr>
            </a:defPPr>
          </a:lstStyle>
          <a:p xmlns:a="http://schemas.openxmlformats.org/drawingml/2006/main">
            <a:pPr algn="l">
              <a:defRPr sz="5700" b="1">
                <a:solidFill>
                  <a:srgbClr val="087D82"/>
                </a:solidFill>
                <a:latin typeface="Helvetica Neue"/>
                <a:ea typeface="Helvetica Neue"/>
                <a:cs typeface="Helvetica Neue"/>
              </a:defRPr>
            </a:pPr>
            <a:r>
              <a:rPr sz="5700" b="1">
                <a:solidFill>
                  <a:srgbClr val="087D82"/>
                </a:solidFill>
                <a:latin typeface="Helvetica Neue"/>
                <a:ea typeface="Helvetica Neue"/>
                <a:cs typeface="Helvetica Neue"/>
              </a:rPr>
              <a:t>55/100</a:t>
            </a:r>
          </a:p>
        </p:txBody>
      </p:sp>
      <p:sp>
        <p:nvSpPr>
          <p:cNvPr id="5" name="Weak">
            <a:extLst xmlns:a="http://schemas.openxmlformats.org/drawingml/2006/main">
              <a:ext uri="{FF2B5EF4-FFF2-40B4-BE49-F238E27FC236}">
                <a16:creationId xmlns:a16="http://schemas.microsoft.com/office/drawing/2014/main" id="{2F26D915-C606-4F73-B965-629F7D2AACE8}"/>
              </a:ext>
            </a:extLst>
          </p:cNvPr>
          <p:cNvSpPr>
            <a:spLocks xmlns:a="http://schemas.openxmlformats.org/drawingml/2006/main" noGrp="1"/>
          </p:cNvSpPr>
          <p:nvPr/>
        </p:nvSpPr>
        <p:spPr>
          <a:xfrm xmlns:a="http://schemas.openxmlformats.org/drawingml/2006/main">
            <a:off x="8382000" y="3048000"/>
            <a:ext cx="319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1">
                <a:solidFill>
                  <a:srgbClr val="17313D"/>
                </a:solidFill>
                <a:latin typeface="Helvetica Neue"/>
                <a:ea typeface="Helvetica Neue"/>
                <a:cs typeface="Helvetica Neue"/>
              </a:defRPr>
            </a:defPPr>
          </a:lstStyle>
          <a:p xmlns:a="http://schemas.openxmlformats.org/drawingml/2006/main">
            <a:pPr algn="l">
              <a:defRPr sz="2850" b="1">
                <a:solidFill>
                  <a:srgbClr val="17313D"/>
                </a:solidFill>
                <a:latin typeface="Helvetica Neue"/>
                <a:ea typeface="Helvetica Neue"/>
                <a:cs typeface="Helvetica Neue"/>
              </a:defRPr>
            </a:pPr>
            <a:r>
              <a:rPr sz="2850" b="1">
                <a:solidFill>
                  <a:srgbClr val="17313D"/>
                </a:solidFill>
                <a:latin typeface="Helvetica Neue"/>
                <a:ea typeface="Helvetica Neue"/>
                <a:cs typeface="Helvetica Neue"/>
              </a:rPr>
              <a:t>Weak</a:t>
            </a:r>
          </a:p>
        </p:txBody>
      </p:sp>
      <p:sp>
        <p:nvSpPr>
          <p:cNvPr id="6" name="Completed campaign">
            <a:extLst xmlns:a="http://schemas.openxmlformats.org/drawingml/2006/main">
              <a:ext uri="{FF2B5EF4-FFF2-40B4-BE49-F238E27FC236}">
                <a16:creationId xmlns:a16="http://schemas.microsoft.com/office/drawing/2014/main" id="{772E341F-530B-49A8-BF0F-22A1499E3310}"/>
              </a:ext>
            </a:extLst>
          </p:cNvPr>
          <p:cNvSpPr>
            <a:spLocks xmlns:a="http://schemas.openxmlformats.org/drawingml/2006/main" noGrp="1"/>
          </p:cNvSpPr>
          <p:nvPr/>
        </p:nvSpPr>
        <p:spPr>
          <a:xfrm xmlns:a="http://schemas.openxmlformats.org/drawingml/2006/main">
            <a:off x="8382000" y="3857625"/>
            <a:ext cx="319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536A73"/>
                </a:solidFill>
                <a:latin typeface="Helvetica Neue"/>
                <a:ea typeface="Helvetica Neue"/>
                <a:cs typeface="Helvetica Neue"/>
              </a:defRPr>
            </a:defPPr>
          </a:lstStyle>
          <a:p xmlns:a="http://schemas.openxmlformats.org/drawingml/2006/main">
            <a:pPr algn="l">
              <a:defRPr sz="1950" b="0">
                <a:solidFill>
                  <a:srgbClr val="536A73"/>
                </a:solidFill>
                <a:latin typeface="Helvetica Neue"/>
                <a:ea typeface="Helvetica Neue"/>
                <a:cs typeface="Helvetica Neue"/>
              </a:defRPr>
            </a:pPr>
            <a:r>
              <a:rPr sz="1950" b="0">
                <a:solidFill>
                  <a:srgbClr val="536A73"/>
                </a:solidFill>
                <a:latin typeface="Helvetica Neue"/>
                <a:ea typeface="Helvetica Neue"/>
                <a:cs typeface="Helvetica Neue"/>
              </a:rPr>
              <a:t>Completed campaign</a:t>
            </a:r>
          </a:p>
        </p:txBody>
      </p:sp>
      <p:sp>
        <p:nvSpPr>
          <p:cNvPr id="7" name="Latest Redis: 52&#10;Interrupted, recovery unproven">
            <a:extLst xmlns:a="http://schemas.openxmlformats.org/drawingml/2006/main">
              <a:ext uri="{FF2B5EF4-FFF2-40B4-BE49-F238E27FC236}">
                <a16:creationId xmlns:a16="http://schemas.microsoft.com/office/drawing/2014/main" id="{DAFA9825-4743-4976-8C56-09D22585B760}"/>
              </a:ext>
            </a:extLst>
          </p:cNvPr>
          <p:cNvSpPr>
            <a:spLocks xmlns:a="http://schemas.openxmlformats.org/drawingml/2006/main" noGrp="1"/>
          </p:cNvSpPr>
          <p:nvPr/>
        </p:nvSpPr>
        <p:spPr>
          <a:xfrm xmlns:a="http://schemas.openxmlformats.org/drawingml/2006/main">
            <a:off x="8382000" y="4600575"/>
            <a:ext cx="319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AF3347"/>
                </a:solidFill>
                <a:latin typeface="Helvetica Neue"/>
                <a:ea typeface="Helvetica Neue"/>
                <a:cs typeface="Helvetica Neue"/>
              </a:defRPr>
            </a:defPPr>
          </a:lstStyle>
          <a:p xmlns:a="http://schemas.openxmlformats.org/drawingml/2006/main">
            <a:pPr algn="l">
              <a:defRPr sz="2025" b="0">
                <a:solidFill>
                  <a:srgbClr val="AF3347"/>
                </a:solidFill>
                <a:latin typeface="Helvetica Neue"/>
                <a:ea typeface="Helvetica Neue"/>
                <a:cs typeface="Helvetica Neue"/>
              </a:defRPr>
            </a:pPr>
            <a:r>
              <a:rPr sz="2025" b="0">
                <a:solidFill>
                  <a:srgbClr val="AF3347"/>
                </a:solidFill>
                <a:latin typeface="Helvetica Neue"/>
                <a:ea typeface="Helvetica Neue"/>
                <a:cs typeface="Helvetica Neue"/>
              </a:rPr>
              <a:t>Latest Redis: 52</a:t>
            </a:r>
          </a:p>
          <a:p xmlns:a="http://schemas.openxmlformats.org/drawingml/2006/main">
            <a:pPr algn="l">
              <a:defRPr sz="2025" b="0">
                <a:solidFill>
                  <a:srgbClr val="AF3347"/>
                </a:solidFill>
                <a:latin typeface="Helvetica Neue"/>
                <a:ea typeface="Helvetica Neue"/>
                <a:cs typeface="Helvetica Neue"/>
              </a:defRPr>
            </a:pPr>
            <a:r>
              <a:rPr sz="2025" b="0">
                <a:solidFill>
                  <a:srgbClr val="AF3347"/>
                </a:solidFill>
                <a:latin typeface="Helvetica Neue"/>
                <a:ea typeface="Helvetica Neue"/>
                <a:cs typeface="Helvetica Neue"/>
              </a:rPr>
              <a:t>Interrupted, recovery unproven</a:t>
            </a:r>
          </a:p>
        </p:txBody>
      </p:sp>
      <p:sp>
        <p:nvSpPr>
          <p:cNvPr id="8" name="Recorded: 657 unit tests   3 integration tests">
            <a:extLst xmlns:a="http://schemas.openxmlformats.org/drawingml/2006/main">
              <a:ext uri="{FF2B5EF4-FFF2-40B4-BE49-F238E27FC236}">
                <a16:creationId xmlns:a16="http://schemas.microsoft.com/office/drawing/2014/main" id="{83C618C8-C1B9-4C73-99DA-A5EE2A715906}"/>
              </a:ext>
            </a:extLst>
          </p:cNvPr>
          <p:cNvSpPr>
            <a:spLocks xmlns:a="http://schemas.openxmlformats.org/drawingml/2006/main" noGrp="1"/>
          </p:cNvSpPr>
          <p:nvPr/>
        </p:nvSpPr>
        <p:spPr>
          <a:xfrm xmlns:a="http://schemas.openxmlformats.org/drawingml/2006/main">
            <a:off x="571500" y="57626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536A73"/>
                </a:solidFill>
                <a:latin typeface="Helvetica Neue"/>
                <a:ea typeface="Helvetica Neue"/>
                <a:cs typeface="Helvetica Neue"/>
              </a:defRPr>
            </a:defPPr>
          </a:lstStyle>
          <a:p xmlns:a="http://schemas.openxmlformats.org/drawingml/2006/main">
            <a:pPr algn="l">
              <a:defRPr sz="2025" b="0">
                <a:solidFill>
                  <a:srgbClr val="536A73"/>
                </a:solidFill>
                <a:latin typeface="Helvetica Neue"/>
                <a:ea typeface="Helvetica Neue"/>
                <a:cs typeface="Helvetica Neue"/>
              </a:defRPr>
            </a:pPr>
            <a:r>
              <a:rPr sz="2025" b="0">
                <a:solidFill>
                  <a:srgbClr val="536A73"/>
                </a:solidFill>
                <a:latin typeface="Helvetica Neue"/>
                <a:ea typeface="Helvetica Neue"/>
                <a:cs typeface="Helvetica Neue"/>
              </a:rPr>
              <a:t>Recorded: 657 unit tests   3 integration tests</a:t>
            </a:r>
          </a:p>
        </p:txBody>
      </p:sp>
    </p:spTree>
    <p:extLst>
      <p:ext uri="{BB962C8B-B14F-4D97-AF65-F5344CB8AC3E}">
        <p14:creationId xmlns:p14="http://schemas.microsoft.com/office/powerpoint/2010/main" val="953977852"/>
      </p:ext>
    </p:extLst>
  </p:cSld>
</p:sld>
</file>

<file path=ppt/slides/slide13.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7C012F75-E84A-4023-894D-87D707AA9AED}"/>
              </a:ext>
            </a:extLst>
          </p:cNvPr>
          <p:cNvSpPr>
            <a:spLocks xmlns:a="http://schemas.openxmlformats.org/drawingml/2006/main" noGrp="1"/>
          </p:cNvSpPr>
          <p:nvPr/>
        </p:nvSpPr>
        <p:spPr>
          <a:xfrm xmlns:a="http://schemas.openxmlformats.org/drawingml/2006/main">
            <a:off x="571500" y="4572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313D"/>
                </a:solidFill>
                <a:latin typeface="Helvetica Neue"/>
                <a:ea typeface="Helvetica Neue"/>
                <a:cs typeface="Helvetica Neue"/>
              </a:defRPr>
            </a:defPPr>
          </a:lstStyle>
          <a:p xmlns:a="http://schemas.openxmlformats.org/drawingml/2006/main">
            <a:pPr algn="l">
              <a:defRPr sz="3300" b="1">
                <a:solidFill>
                  <a:srgbClr val="17313D"/>
                </a:solidFill>
                <a:latin typeface="Helvetica Neue"/>
                <a:ea typeface="Helvetica Neue"/>
                <a:cs typeface="Helvetica Neue"/>
              </a:defRPr>
            </a:pPr>
            <a:r>
              <a:rPr sz="3300" b="1">
                <a:solidFill>
                  <a:srgbClr val="17313D"/>
                </a:solidFill>
                <a:latin typeface="Helvetica Neue"/>
                <a:ea typeface="Helvetica Neue"/>
                <a:cs typeface="Helvetica Neue"/>
              </a:rPr>
              <a:t>Key findings and recommended fixes</a:t>
            </a:r>
          </a:p>
        </p:txBody>
      </p:sp>
      <p:sp>
        <p:nvSpPr>
          <p:cNvPr id="2" name="page-number">
            <a:extLst xmlns:a="http://schemas.openxmlformats.org/drawingml/2006/main">
              <a:ext uri="{FF2B5EF4-FFF2-40B4-BE49-F238E27FC236}">
                <a16:creationId xmlns:a16="http://schemas.microsoft.com/office/drawing/2014/main" id="{6F5E6601-DF04-4395-A8CD-36AC233546DB}"/>
              </a:ext>
            </a:extLst>
          </p:cNvPr>
          <p:cNvSpPr>
            <a:spLocks xmlns:a="http://schemas.openxmlformats.org/drawingml/2006/main" noGrp="1"/>
          </p:cNvSpPr>
          <p:nvPr/>
        </p:nvSpPr>
        <p:spPr>
          <a:xfrm xmlns:a="http://schemas.openxmlformats.org/drawingml/2006/main">
            <a:off x="11049000" y="61341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36A73"/>
                </a:solidFill>
                <a:latin typeface="Helvetica Neue"/>
                <a:ea typeface="Helvetica Neue"/>
                <a:cs typeface="Helvetica Neue"/>
              </a:defRPr>
            </a:defPPr>
          </a:lstStyle>
          <a:p xmlns:a="http://schemas.openxmlformats.org/drawingml/2006/main">
            <a:pPr algn="r">
              <a:defRPr sz="1350" b="0">
                <a:solidFill>
                  <a:srgbClr val="536A73"/>
                </a:solidFill>
                <a:latin typeface="Helvetica Neue"/>
                <a:ea typeface="Helvetica Neue"/>
                <a:cs typeface="Helvetica Neue"/>
              </a:defRPr>
            </a:pPr>
            <a:r>
              <a:rPr sz="1350" b="0">
                <a:solidFill>
                  <a:srgbClr val="536A73"/>
                </a:solidFill>
                <a:latin typeface="Helvetica Neue"/>
                <a:ea typeface="Helvetica Neue"/>
                <a:cs typeface="Helvetica Neue"/>
              </a:rPr>
              <a:t>13</a:t>
            </a:r>
          </a:p>
        </p:txBody>
      </p:sp>
      <p:graphicFrame>
        <p:nvGraphicFramePr>
          <p:cNvPr id="3" name="">
            <a:extLst xmlns:a="http://schemas.openxmlformats.org/drawingml/2006/main">
              <a:ext uri="{FF2B5EF4-FFF2-40B4-BE49-F238E27FC236}">
                <a16:creationId xmlns:a16="http://schemas.microsoft.com/office/drawing/2014/main" id="{FCE1F357-7B21-4EC5-BB49-3295F1566CE1}"/>
              </a:ext>
            </a:extLst>
          </p:cNvPr>
          <p:cNvGraphicFramePr/>
          <p:nvPr/>
        </p:nvGraphicFramePr>
        <p:xfrm>
          <a:off xmlns:a="http://schemas.openxmlformats.org/drawingml/2006/main" x="571500" y="1809750"/>
          <a:ext xmlns:a="http://schemas.openxmlformats.org/drawingml/2006/main" cx="11049000" cy="3333750"/>
        </p:xfrm>
        <a:graphic xmlns:a="http://schemas.openxmlformats.org/drawingml/2006/main">
          <a:graphicData uri="http://schemas.openxmlformats.org/drawingml/2006/table">
            <a:tbl>
              <a:tblPr/>
              <a:tblGrid>
                <a:gridCol w="5143500"/>
                <a:gridCol w="5905500"/>
              </a:tblGrid>
              <a:tr h="666750">
                <a:tc>
                  <a:txBody>
                    <a:bodyPr/>
                    <a:lstStyle/>
                    <a:p>
                      <a:r>
                        <a:rPr sz="2100" b="1">
                          <a:solidFill>
                            <a:srgbClr val="FFFFFF"/>
                          </a:solidFill>
                          <a:latin typeface="Helvetica Neue"/>
                          <a:ea typeface="Helvetica Neue"/>
                          <a:cs typeface="Helvetica Neue"/>
                        </a:rPr>
                        <a:t>Severity / observation</a:t>
                      </a:r>
                    </a:p>
                  </a:txBody>
                  <a:tcPr marL="133350" marR="95250" marT="95250" marB="95250" anchor="ctr">
                    <a:solidFill>
                      <a:srgbClr val="102A35"/>
                    </a:solidFill>
                  </a:tcPr>
                </a:tc>
                <a:tc>
                  <a:txBody>
                    <a:bodyPr/>
                    <a:lstStyle/>
                    <a:p>
                      <a:r>
                        <a:rPr sz="2100" b="1">
                          <a:solidFill>
                            <a:srgbClr val="FFFFFF"/>
                          </a:solidFill>
                          <a:latin typeface="Helvetica Neue"/>
                          <a:ea typeface="Helvetica Neue"/>
                          <a:cs typeface="Helvetica Neue"/>
                        </a:rPr>
                        <a:t>Recommended fix</a:t>
                      </a:r>
                    </a:p>
                  </a:txBody>
                  <a:tcPr marL="133350" marR="95250" marT="95250" marB="95250" anchor="ctr">
                    <a:solidFill>
                      <a:srgbClr val="102A35"/>
                    </a:solidFill>
                  </a:tcPr>
                </a:tc>
              </a:tr>
              <a:tr h="666750">
                <a:tc>
                  <a:txBody>
                    <a:bodyPr/>
                    <a:lstStyle/>
                    <a:p>
                      <a:r>
                        <a:rPr sz="2100" b="0">
                          <a:solidFill>
                            <a:srgbClr val="17313D"/>
                          </a:solidFill>
                          <a:latin typeface="Helvetica Neue"/>
                          <a:ea typeface="Helvetica Neue"/>
                          <a:cs typeface="Helvetica Neue"/>
                        </a:rPr>
                        <a:t>Critical: Postgres pause</a:t>
                      </a:r>
                    </a:p>
                  </a:txBody>
                  <a:tcPr marL="133350" marR="95250" marT="95250" marB="95250" anchor="ctr">
                    <a:solidFill>
                      <a:srgbClr val="FAFCFC"/>
                    </a:solidFill>
                  </a:tcPr>
                </a:tc>
                <a:tc>
                  <a:txBody>
                    <a:bodyPr/>
                    <a:lstStyle/>
                    <a:p>
                      <a:r>
                        <a:rPr sz="2100" b="0">
                          <a:solidFill>
                            <a:srgbClr val="17313D"/>
                          </a:solidFill>
                          <a:latin typeface="Helvetica Neue"/>
                          <a:ea typeface="Helvetica Neue"/>
                          <a:cs typeface="Helvetica Neue"/>
                        </a:rPr>
                        <a:t>Deadlines, circuit breaker</a:t>
                      </a:r>
                    </a:p>
                  </a:txBody>
                  <a:tcPr marL="133350" marR="95250" marT="95250" marB="95250" anchor="ctr">
                    <a:solidFill>
                      <a:srgbClr val="FAFCFC"/>
                    </a:solidFill>
                  </a:tcPr>
                </a:tc>
              </a:tr>
              <a:tr h="666750">
                <a:tc>
                  <a:txBody>
                    <a:bodyPr/>
                    <a:lstStyle/>
                    <a:p>
                      <a:r>
                        <a:rPr sz="2100" b="0">
                          <a:solidFill>
                            <a:srgbClr val="17313D"/>
                          </a:solidFill>
                          <a:latin typeface="Helvetica Neue"/>
                          <a:ea typeface="Helvetica Neue"/>
                          <a:cs typeface="Helvetica Neue"/>
                        </a:rPr>
                        <a:t>Critical: Postgres stop</a:t>
                      </a:r>
                    </a:p>
                  </a:txBody>
                  <a:tcPr marL="133350" marR="95250" marT="95250" marB="95250" anchor="ctr">
                    <a:solidFill>
                      <a:srgbClr val="EFF3F4"/>
                    </a:solidFill>
                  </a:tcPr>
                </a:tc>
                <a:tc>
                  <a:txBody>
                    <a:bodyPr/>
                    <a:lstStyle/>
                    <a:p>
                      <a:r>
                        <a:rPr sz="2100" b="0">
                          <a:solidFill>
                            <a:srgbClr val="17313D"/>
                          </a:solidFill>
                          <a:latin typeface="Helvetica Neue"/>
                          <a:ea typeface="Helvetica Neue"/>
                          <a:cs typeface="Helvetica Neue"/>
                        </a:rPr>
                        <a:t>Deadlines, backoff</a:t>
                      </a:r>
                    </a:p>
                  </a:txBody>
                  <a:tcPr marL="133350" marR="95250" marT="95250" marB="95250" anchor="ctr">
                    <a:solidFill>
                      <a:srgbClr val="EFF3F4"/>
                    </a:solidFill>
                  </a:tcPr>
                </a:tc>
              </a:tr>
              <a:tr h="666750">
                <a:tc>
                  <a:txBody>
                    <a:bodyPr/>
                    <a:lstStyle/>
                    <a:p>
                      <a:r>
                        <a:rPr sz="2100" b="0">
                          <a:solidFill>
                            <a:srgbClr val="17313D"/>
                          </a:solidFill>
                          <a:latin typeface="Helvetica Neue"/>
                          <a:ea typeface="Helvetica Neue"/>
                          <a:cs typeface="Helvetica Neue"/>
                        </a:rPr>
                        <a:t>High: Auth kill</a:t>
                      </a:r>
                    </a:p>
                  </a:txBody>
                  <a:tcPr marL="133350" marR="95250" marT="95250" marB="95250" anchor="ctr">
                    <a:solidFill>
                      <a:srgbClr val="FAFCFC"/>
                    </a:solidFill>
                  </a:tcPr>
                </a:tc>
                <a:tc>
                  <a:txBody>
                    <a:bodyPr/>
                    <a:lstStyle/>
                    <a:p>
                      <a:r>
                        <a:rPr sz="2100" b="0">
                          <a:solidFill>
                            <a:srgbClr val="17313D"/>
                          </a:solidFill>
                          <a:latin typeface="Helvetica Neue"/>
                          <a:ea typeface="Helvetica Neue"/>
                          <a:cs typeface="Helvetica Neue"/>
                        </a:rPr>
                        <a:t>Healthchecks, redundancy</a:t>
                      </a:r>
                    </a:p>
                  </a:txBody>
                  <a:tcPr marL="133350" marR="95250" marT="95250" marB="95250" anchor="ctr">
                    <a:solidFill>
                      <a:srgbClr val="FAFCFC"/>
                    </a:solidFill>
                  </a:tcPr>
                </a:tc>
              </a:tr>
              <a:tr h="666750">
                <a:tc>
                  <a:txBody>
                    <a:bodyPr/>
                    <a:lstStyle/>
                    <a:p>
                      <a:r>
                        <a:rPr sz="2100" b="0">
                          <a:solidFill>
                            <a:srgbClr val="17313D"/>
                          </a:solidFill>
                          <a:latin typeface="Helvetica Neue"/>
                          <a:ea typeface="Helvetica Neue"/>
                          <a:cs typeface="Helvetica Neue"/>
                        </a:rPr>
                        <a:t>High: Redis interruption</a:t>
                      </a:r>
                    </a:p>
                  </a:txBody>
                  <a:tcPr marL="133350" marR="95250" marT="95250" marB="95250" anchor="ctr">
                    <a:solidFill>
                      <a:srgbClr val="EFF3F4"/>
                    </a:solidFill>
                  </a:tcPr>
                </a:tc>
                <a:tc>
                  <a:txBody>
                    <a:bodyPr/>
                    <a:lstStyle/>
                    <a:p>
                      <a:r>
                        <a:rPr sz="2100" b="0">
                          <a:solidFill>
                            <a:srgbClr val="17313D"/>
                          </a:solidFill>
                          <a:latin typeface="Helvetica Neue"/>
                          <a:ea typeface="Helvetica Neue"/>
                          <a:cs typeface="Helvetica Neue"/>
                        </a:rPr>
                        <a:t>Cache deadlines, DB fallback</a:t>
                      </a:r>
                    </a:p>
                  </a:txBody>
                  <a:tcPr marL="133350" marR="95250" marT="95250" marB="95250" anchor="ctr">
                    <a:solidFill>
                      <a:srgbClr val="EFF3F4"/>
                    </a:solidFill>
                  </a:tcPr>
                </a:tc>
              </a:tr>
            </a:tbl>
          </a:graphicData>
        </a:graphic>
      </p:graphicFrame>
      <p:sp>
        <p:nvSpPr>
          <p:cNvPr id="4" name="Causality unproven. Sparse statistics remain des">
            <a:extLst xmlns:a="http://schemas.openxmlformats.org/drawingml/2006/main">
              <a:ext uri="{FF2B5EF4-FFF2-40B4-BE49-F238E27FC236}">
                <a16:creationId xmlns:a16="http://schemas.microsoft.com/office/drawing/2014/main" id="{E23AA5BD-3DAB-46C3-9EA2-402769698D3F}"/>
              </a:ext>
            </a:extLst>
          </p:cNvPr>
          <p:cNvSpPr>
            <a:spLocks xmlns:a="http://schemas.openxmlformats.org/drawingml/2006/main" noGrp="1"/>
          </p:cNvSpPr>
          <p:nvPr/>
        </p:nvSpPr>
        <p:spPr>
          <a:xfrm xmlns:a="http://schemas.openxmlformats.org/drawingml/2006/main">
            <a:off x="571500" y="55911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536A73"/>
                </a:solidFill>
                <a:latin typeface="Helvetica Neue"/>
                <a:ea typeface="Helvetica Neue"/>
                <a:cs typeface="Helvetica Neue"/>
              </a:defRPr>
            </a:defPPr>
          </a:lstStyle>
          <a:p xmlns:a="http://schemas.openxmlformats.org/drawingml/2006/main">
            <a:pPr algn="l">
              <a:defRPr sz="2175" b="0">
                <a:solidFill>
                  <a:srgbClr val="536A73"/>
                </a:solidFill>
                <a:latin typeface="Helvetica Neue"/>
                <a:ea typeface="Helvetica Neue"/>
                <a:cs typeface="Helvetica Neue"/>
              </a:defRPr>
            </a:pPr>
            <a:r>
              <a:rPr sz="2175" b="0">
                <a:solidFill>
                  <a:srgbClr val="536A73"/>
                </a:solidFill>
                <a:latin typeface="Helvetica Neue"/>
                <a:ea typeface="Helvetica Neue"/>
                <a:cs typeface="Helvetica Neue"/>
              </a:rPr>
              <a:t>Causality unproven. Sparse statistics remain descriptive.</a:t>
            </a:r>
          </a:p>
        </p:txBody>
      </p:sp>
    </p:spTree>
    <p:extLst>
      <p:ext uri="{BB962C8B-B14F-4D97-AF65-F5344CB8AC3E}">
        <p14:creationId xmlns:p14="http://schemas.microsoft.com/office/powerpoint/2010/main" val="605811822"/>
      </p:ext>
    </p:extLst>
  </p:cSld>
</p:sld>
</file>

<file path=ppt/slides/slide14.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D6650580-B2A6-4D10-A5C5-5EBB994A13CA}"/>
              </a:ext>
            </a:extLst>
          </p:cNvPr>
          <p:cNvSpPr>
            <a:spLocks xmlns:a="http://schemas.openxmlformats.org/drawingml/2006/main" noGrp="1"/>
          </p:cNvSpPr>
          <p:nvPr/>
        </p:nvSpPr>
        <p:spPr>
          <a:xfrm xmlns:a="http://schemas.openxmlformats.org/drawingml/2006/main">
            <a:off x="571500" y="4572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313D"/>
                </a:solidFill>
                <a:latin typeface="Helvetica Neue"/>
                <a:ea typeface="Helvetica Neue"/>
                <a:cs typeface="Helvetica Neue"/>
              </a:defRPr>
            </a:defPPr>
          </a:lstStyle>
          <a:p xmlns:a="http://schemas.openxmlformats.org/drawingml/2006/main">
            <a:pPr algn="l">
              <a:defRPr sz="3300" b="1">
                <a:solidFill>
                  <a:srgbClr val="17313D"/>
                </a:solidFill>
                <a:latin typeface="Helvetica Neue"/>
                <a:ea typeface="Helvetica Neue"/>
                <a:cs typeface="Helvetica Neue"/>
              </a:defRPr>
            </a:pPr>
            <a:r>
              <a:rPr sz="3300" b="1">
                <a:solidFill>
                  <a:srgbClr val="17313D"/>
                </a:solidFill>
                <a:latin typeface="Helvetica Neue"/>
                <a:ea typeface="Helvetica Neue"/>
                <a:cs typeface="Helvetica Neue"/>
              </a:rPr>
              <a:t>Demo walkthrough</a:t>
            </a:r>
          </a:p>
        </p:txBody>
      </p:sp>
      <p:sp>
        <p:nvSpPr>
          <p:cNvPr id="2" name="page-number">
            <a:extLst xmlns:a="http://schemas.openxmlformats.org/drawingml/2006/main">
              <a:ext uri="{FF2B5EF4-FFF2-40B4-BE49-F238E27FC236}">
                <a16:creationId xmlns:a16="http://schemas.microsoft.com/office/drawing/2014/main" id="{FEA92A67-1376-441A-9832-C9673DAF3C50}"/>
              </a:ext>
            </a:extLst>
          </p:cNvPr>
          <p:cNvSpPr>
            <a:spLocks xmlns:a="http://schemas.openxmlformats.org/drawingml/2006/main" noGrp="1"/>
          </p:cNvSpPr>
          <p:nvPr/>
        </p:nvSpPr>
        <p:spPr>
          <a:xfrm xmlns:a="http://schemas.openxmlformats.org/drawingml/2006/main">
            <a:off x="11049000" y="61341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36A73"/>
                </a:solidFill>
                <a:latin typeface="Helvetica Neue"/>
                <a:ea typeface="Helvetica Neue"/>
                <a:cs typeface="Helvetica Neue"/>
              </a:defRPr>
            </a:defPPr>
          </a:lstStyle>
          <a:p xmlns:a="http://schemas.openxmlformats.org/drawingml/2006/main">
            <a:pPr algn="r">
              <a:defRPr sz="1350" b="0">
                <a:solidFill>
                  <a:srgbClr val="536A73"/>
                </a:solidFill>
                <a:latin typeface="Helvetica Neue"/>
                <a:ea typeface="Helvetica Neue"/>
                <a:cs typeface="Helvetica Neue"/>
              </a:defRPr>
            </a:pPr>
            <a:r>
              <a:rPr sz="1350" b="0">
                <a:solidFill>
                  <a:srgbClr val="536A73"/>
                </a:solidFill>
                <a:latin typeface="Helvetica Neue"/>
                <a:ea typeface="Helvetica Neue"/>
                <a:cs typeface="Helvetica Neue"/>
              </a:rPr>
              <a:t>14</a:t>
            </a:r>
          </a:p>
        </p:txBody>
      </p:sp>
      <p:sp>
        <p:nvSpPr>
          <p:cNvPr id="3" name="1  Approval">
            <a:extLst xmlns:a="http://schemas.openxmlformats.org/drawingml/2006/main">
              <a:ext uri="{FF2B5EF4-FFF2-40B4-BE49-F238E27FC236}">
                <a16:creationId xmlns:a16="http://schemas.microsoft.com/office/drawing/2014/main" id="{C41B335E-287D-4C8B-B8D4-B34540A985F8}"/>
              </a:ext>
            </a:extLst>
          </p:cNvPr>
          <p:cNvSpPr>
            <a:spLocks xmlns:a="http://schemas.openxmlformats.org/drawingml/2006/main" noGrp="1"/>
          </p:cNvSpPr>
          <p:nvPr/>
        </p:nvSpPr>
        <p:spPr>
          <a:xfrm xmlns:a="http://schemas.openxmlformats.org/drawingml/2006/main">
            <a:off x="571500" y="147637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17313D"/>
                </a:solidFill>
                <a:latin typeface="Helvetica Neue"/>
                <a:ea typeface="Helvetica Neue"/>
                <a:cs typeface="Helvetica Neue"/>
              </a:defRPr>
            </a:defPPr>
          </a:lstStyle>
          <a:p xmlns:a="http://schemas.openxmlformats.org/drawingml/2006/main">
            <a:pPr algn="l">
              <a:defRPr sz="2250" b="1">
                <a:solidFill>
                  <a:srgbClr val="17313D"/>
                </a:solidFill>
                <a:latin typeface="Helvetica Neue"/>
                <a:ea typeface="Helvetica Neue"/>
                <a:cs typeface="Helvetica Neue"/>
              </a:defRPr>
            </a:pPr>
            <a:r>
              <a:rPr sz="2250" b="1">
                <a:solidFill>
                  <a:srgbClr val="17313D"/>
                </a:solidFill>
                <a:latin typeface="Helvetica Neue"/>
                <a:ea typeface="Helvetica Neue"/>
                <a:cs typeface="Helvetica Neue"/>
              </a:rPr>
              <a:t>1  Approval</a:t>
            </a:r>
          </a:p>
        </p:txBody>
      </p:sp>
      <p:sp>
        <p:nvSpPr>
          <p:cNvPr id="4" name="[[FILL: approval prompt screenshot]]">
            <a:extLst xmlns:a="http://schemas.openxmlformats.org/drawingml/2006/main">
              <a:ext uri="{FF2B5EF4-FFF2-40B4-BE49-F238E27FC236}">
                <a16:creationId xmlns:a16="http://schemas.microsoft.com/office/drawing/2014/main" id="{D493090E-B80A-401B-AC37-EBD205E5EE1F}"/>
              </a:ext>
            </a:extLst>
          </p:cNvPr>
          <p:cNvSpPr>
            <a:spLocks xmlns:a="http://schemas.openxmlformats.org/drawingml/2006/main" noGrp="1"/>
          </p:cNvSpPr>
          <p:nvPr/>
        </p:nvSpPr>
        <p:spPr>
          <a:xfrm xmlns:a="http://schemas.openxmlformats.org/drawingml/2006/main">
            <a:off x="571500" y="2143125"/>
            <a:ext cx="5048250" cy="3286125"/>
          </a:xfrm>
          <a:prstGeom xmlns:a="http://schemas.openxmlformats.org/drawingml/2006/main" prst="rect">
            <a:avLst/>
          </a:prstGeom>
          <a:solidFill xmlns:a="http://schemas.openxmlformats.org/drawingml/2006/main">
            <a:srgbClr val="EFF3F4"/>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0">
                <a:solidFill>
                  <a:srgbClr val="536A73"/>
                </a:solidFill>
                <a:latin typeface="Helvetica Neue"/>
                <a:ea typeface="Helvetica Neue"/>
                <a:cs typeface="Helvetica Neue"/>
              </a:defRPr>
            </a:defPPr>
          </a:lstStyle>
          <a:p xmlns:a="http://schemas.openxmlformats.org/drawingml/2006/main">
            <a:pPr algn="ctr">
              <a:defRPr sz="2100" b="0">
                <a:solidFill>
                  <a:srgbClr val="536A73"/>
                </a:solidFill>
                <a:latin typeface="Helvetica Neue"/>
                <a:ea typeface="Helvetica Neue"/>
                <a:cs typeface="Helvetica Neue"/>
              </a:defRPr>
            </a:pPr>
            <a:r>
              <a:rPr sz="2100" b="0">
                <a:solidFill>
                  <a:srgbClr val="536A73"/>
                </a:solidFill>
                <a:latin typeface="Helvetica Neue"/>
                <a:ea typeface="Helvetica Neue"/>
                <a:cs typeface="Helvetica Neue"/>
              </a:rPr>
              <a:t>[[FILL: approval prompt screenshot]]</a:t>
            </a:r>
          </a:p>
        </p:txBody>
      </p:sp>
      <p:sp>
        <p:nvSpPr>
          <p:cNvPr id="5" name="2  Watchdog abort">
            <a:extLst xmlns:a="http://schemas.openxmlformats.org/drawingml/2006/main">
              <a:ext uri="{FF2B5EF4-FFF2-40B4-BE49-F238E27FC236}">
                <a16:creationId xmlns:a16="http://schemas.microsoft.com/office/drawing/2014/main" id="{D1F33A44-DF08-45CA-834F-C35D9DBC8495}"/>
              </a:ext>
            </a:extLst>
          </p:cNvPr>
          <p:cNvSpPr>
            <a:spLocks xmlns:a="http://schemas.openxmlformats.org/drawingml/2006/main" noGrp="1"/>
          </p:cNvSpPr>
          <p:nvPr/>
        </p:nvSpPr>
        <p:spPr>
          <a:xfrm xmlns:a="http://schemas.openxmlformats.org/drawingml/2006/main">
            <a:off x="6429375" y="1476375"/>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17313D"/>
                </a:solidFill>
                <a:latin typeface="Helvetica Neue"/>
                <a:ea typeface="Helvetica Neue"/>
                <a:cs typeface="Helvetica Neue"/>
              </a:defRPr>
            </a:defPPr>
          </a:lstStyle>
          <a:p xmlns:a="http://schemas.openxmlformats.org/drawingml/2006/main">
            <a:pPr algn="l">
              <a:defRPr sz="2250" b="1">
                <a:solidFill>
                  <a:srgbClr val="17313D"/>
                </a:solidFill>
                <a:latin typeface="Helvetica Neue"/>
                <a:ea typeface="Helvetica Neue"/>
                <a:cs typeface="Helvetica Neue"/>
              </a:defRPr>
            </a:pPr>
            <a:r>
              <a:rPr sz="2250" b="1">
                <a:solidFill>
                  <a:srgbClr val="17313D"/>
                </a:solidFill>
                <a:latin typeface="Helvetica Neue"/>
                <a:ea typeface="Helvetica Neue"/>
                <a:cs typeface="Helvetica Neue"/>
              </a:rPr>
              <a:t>2  Watchdog abort</a:t>
            </a:r>
          </a:p>
        </p:txBody>
      </p:sp>
      <p:pic>
        <p:nvPicPr>
          <p:cNvPr id="6" name="">
            <a:extLst xmlns:a="http://schemas.openxmlformats.org/drawingml/2006/main">
              <a:ext uri="{FF2B5EF4-FFF2-40B4-BE49-F238E27FC236}">
                <a16:creationId xmlns:a16="http://schemas.microsoft.com/office/drawing/2014/main" id="{CBDC6998-8531-48D5-8E9C-48341A36618F}"/>
              </a:ext>
            </a:extLst>
          </p:cNvPr>
          <p:cNvPicPr>
            <a:picLocks xmlns:a="http://schemas.openxmlformats.org/drawingml/2006/main" noChangeAspect="1"/>
          </p:cNvPicPr>
          <p:nvPr/>
        </p:nvPicPr>
        <p:blipFill>
          <a:blip xmlns:r="http://schemas.openxmlformats.org/officeDocument/2006/relationships" xmlns:a="http://schemas.openxmlformats.org/drawingml/2006/main" r:embed="R4f79b7b06f2a4941"/>
          <a:stretch xmlns:a="http://schemas.openxmlformats.org/drawingml/2006/main"/>
        </p:blipFill>
        <p:spPr>
          <a:xfrm xmlns:a="http://schemas.openxmlformats.org/drawingml/2006/main">
            <a:off x="6568788" y="2047875"/>
            <a:ext cx="4817048" cy="1666875"/>
          </a:xfrm>
          <a:prstGeom xmlns:a="http://schemas.openxmlformats.org/drawingml/2006/main" prst="rect">
            <a:avLst/>
          </a:prstGeom>
        </p:spPr>
      </p:pic>
      <p:sp>
        <p:nvSpPr>
          <p:cNvPr id="7" name="3  Findings report">
            <a:extLst xmlns:a="http://schemas.openxmlformats.org/drawingml/2006/main">
              <a:ext uri="{FF2B5EF4-FFF2-40B4-BE49-F238E27FC236}">
                <a16:creationId xmlns:a16="http://schemas.microsoft.com/office/drawing/2014/main" id="{13BD75FB-9BDC-4107-A15F-C2B91516FE8E}"/>
              </a:ext>
            </a:extLst>
          </p:cNvPr>
          <p:cNvSpPr>
            <a:spLocks xmlns:a="http://schemas.openxmlformats.org/drawingml/2006/main" noGrp="1"/>
          </p:cNvSpPr>
          <p:nvPr/>
        </p:nvSpPr>
        <p:spPr>
          <a:xfrm xmlns:a="http://schemas.openxmlformats.org/drawingml/2006/main">
            <a:off x="6429375" y="381000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17313D"/>
                </a:solidFill>
                <a:latin typeface="Helvetica Neue"/>
                <a:ea typeface="Helvetica Neue"/>
                <a:cs typeface="Helvetica Neue"/>
              </a:defRPr>
            </a:defPPr>
          </a:lstStyle>
          <a:p xmlns:a="http://schemas.openxmlformats.org/drawingml/2006/main">
            <a:pPr algn="l">
              <a:defRPr sz="2250" b="1">
                <a:solidFill>
                  <a:srgbClr val="17313D"/>
                </a:solidFill>
                <a:latin typeface="Helvetica Neue"/>
                <a:ea typeface="Helvetica Neue"/>
                <a:cs typeface="Helvetica Neue"/>
              </a:defRPr>
            </a:pPr>
            <a:r>
              <a:rPr sz="2250" b="1">
                <a:solidFill>
                  <a:srgbClr val="17313D"/>
                </a:solidFill>
                <a:latin typeface="Helvetica Neue"/>
                <a:ea typeface="Helvetica Neue"/>
                <a:cs typeface="Helvetica Neue"/>
              </a:rPr>
              <a:t>3  Findings report</a:t>
            </a:r>
          </a:p>
        </p:txBody>
      </p:sp>
      <p:pic>
        <p:nvPicPr>
          <p:cNvPr id="8" name="">
            <a:extLst xmlns:a="http://schemas.openxmlformats.org/drawingml/2006/main">
              <a:ext uri="{FF2B5EF4-FFF2-40B4-BE49-F238E27FC236}">
                <a16:creationId xmlns:a16="http://schemas.microsoft.com/office/drawing/2014/main" id="{65B9A5F8-881E-451B-8FF7-FF29C4865883}"/>
              </a:ext>
            </a:extLst>
          </p:cNvPr>
          <p:cNvPicPr>
            <a:picLocks xmlns:a="http://schemas.openxmlformats.org/drawingml/2006/main" noChangeAspect="1"/>
          </p:cNvPicPr>
          <p:nvPr/>
        </p:nvPicPr>
        <p:blipFill>
          <a:blip xmlns:r="http://schemas.openxmlformats.org/officeDocument/2006/relationships" xmlns:a="http://schemas.openxmlformats.org/drawingml/2006/main" r:embed="R40992d5b4d324095"/>
          <a:stretch xmlns:a="http://schemas.openxmlformats.org/drawingml/2006/main"/>
        </p:blipFill>
        <p:spPr>
          <a:xfrm xmlns:a="http://schemas.openxmlformats.org/drawingml/2006/main">
            <a:off x="6429375" y="4506516"/>
            <a:ext cx="5095875" cy="1273969"/>
          </a:xfrm>
          <a:prstGeom xmlns:a="http://schemas.openxmlformats.org/drawingml/2006/main" prst="rect">
            <a:avLst/>
          </a:prstGeom>
        </p:spPr>
      </p:pic>
      <p:sp>
        <p:nvSpPr>
          <p:cNvPr id="9" name="Saved report evidence from the completed measure">
            <a:extLst xmlns:a="http://schemas.openxmlformats.org/drawingml/2006/main">
              <a:ext uri="{FF2B5EF4-FFF2-40B4-BE49-F238E27FC236}">
                <a16:creationId xmlns:a16="http://schemas.microsoft.com/office/drawing/2014/main" id="{96BB68D1-408F-4D2B-B00B-A77CD7835205}"/>
              </a:ext>
            </a:extLst>
          </p:cNvPr>
          <p:cNvSpPr>
            <a:spLocks xmlns:a="http://schemas.openxmlformats.org/drawingml/2006/main" noGrp="1"/>
          </p:cNvSpPr>
          <p:nvPr/>
        </p:nvSpPr>
        <p:spPr>
          <a:xfrm xmlns:a="http://schemas.openxmlformats.org/drawingml/2006/main">
            <a:off x="571500" y="60007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36A73"/>
                </a:solidFill>
                <a:latin typeface="Helvetica Neue"/>
                <a:ea typeface="Helvetica Neue"/>
                <a:cs typeface="Helvetica Neue"/>
              </a:defRPr>
            </a:defPPr>
          </a:lstStyle>
          <a:p xmlns:a="http://schemas.openxmlformats.org/drawingml/2006/main">
            <a:pPr algn="l">
              <a:defRPr sz="1800" b="0">
                <a:solidFill>
                  <a:srgbClr val="536A73"/>
                </a:solidFill>
                <a:latin typeface="Helvetica Neue"/>
                <a:ea typeface="Helvetica Neue"/>
                <a:cs typeface="Helvetica Neue"/>
              </a:defRPr>
            </a:pPr>
            <a:r>
              <a:rPr sz="1800" b="0">
                <a:solidFill>
                  <a:srgbClr val="536A73"/>
                </a:solidFill>
                <a:latin typeface="Helvetica Neue"/>
                <a:ea typeface="Helvetica Neue"/>
                <a:cs typeface="Helvetica Neue"/>
              </a:rPr>
              <a:t>Saved report evidence from the completed measured campaign</a:t>
            </a:r>
          </a:p>
        </p:txBody>
      </p:sp>
    </p:spTree>
    <p:extLst>
      <p:ext uri="{BB962C8B-B14F-4D97-AF65-F5344CB8AC3E}">
        <p14:creationId xmlns:p14="http://schemas.microsoft.com/office/powerpoint/2010/main" val="183271468"/>
      </p:ext>
    </p:extLst>
  </p:cSld>
</p:sld>
</file>

<file path=ppt/slides/slide15.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37823622-A34F-4F38-A68C-D162AE98FBCC}"/>
              </a:ext>
            </a:extLst>
          </p:cNvPr>
          <p:cNvSpPr>
            <a:spLocks xmlns:a="http://schemas.openxmlformats.org/drawingml/2006/main" noGrp="1"/>
          </p:cNvSpPr>
          <p:nvPr/>
        </p:nvSpPr>
        <p:spPr>
          <a:xfrm xmlns:a="http://schemas.openxmlformats.org/drawingml/2006/main">
            <a:off x="571500" y="4572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313D"/>
                </a:solidFill>
                <a:latin typeface="Helvetica Neue"/>
                <a:ea typeface="Helvetica Neue"/>
                <a:cs typeface="Helvetica Neue"/>
              </a:defRPr>
            </a:defPPr>
          </a:lstStyle>
          <a:p xmlns:a="http://schemas.openxmlformats.org/drawingml/2006/main">
            <a:pPr algn="l">
              <a:defRPr sz="3300" b="1">
                <a:solidFill>
                  <a:srgbClr val="17313D"/>
                </a:solidFill>
                <a:latin typeface="Helvetica Neue"/>
                <a:ea typeface="Helvetica Neue"/>
                <a:cs typeface="Helvetica Neue"/>
              </a:defRPr>
            </a:pPr>
            <a:r>
              <a:rPr sz="3300" b="1">
                <a:solidFill>
                  <a:srgbClr val="17313D"/>
                </a:solidFill>
                <a:latin typeface="Helvetica Neue"/>
                <a:ea typeface="Helvetica Neue"/>
                <a:cs typeface="Helvetica Neue"/>
              </a:rPr>
              <a:t>Engineering quality</a:t>
            </a:r>
          </a:p>
        </p:txBody>
      </p:sp>
      <p:sp>
        <p:nvSpPr>
          <p:cNvPr id="2" name="page-number">
            <a:extLst xmlns:a="http://schemas.openxmlformats.org/drawingml/2006/main">
              <a:ext uri="{FF2B5EF4-FFF2-40B4-BE49-F238E27FC236}">
                <a16:creationId xmlns:a16="http://schemas.microsoft.com/office/drawing/2014/main" id="{ABA1F5D8-0515-4832-9E61-960410AD4AC5}"/>
              </a:ext>
            </a:extLst>
          </p:cNvPr>
          <p:cNvSpPr>
            <a:spLocks xmlns:a="http://schemas.openxmlformats.org/drawingml/2006/main" noGrp="1"/>
          </p:cNvSpPr>
          <p:nvPr/>
        </p:nvSpPr>
        <p:spPr>
          <a:xfrm xmlns:a="http://schemas.openxmlformats.org/drawingml/2006/main">
            <a:off x="11049000" y="61341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36A73"/>
                </a:solidFill>
                <a:latin typeface="Helvetica Neue"/>
                <a:ea typeface="Helvetica Neue"/>
                <a:cs typeface="Helvetica Neue"/>
              </a:defRPr>
            </a:defPPr>
          </a:lstStyle>
          <a:p xmlns:a="http://schemas.openxmlformats.org/drawingml/2006/main">
            <a:pPr algn="r">
              <a:defRPr sz="1350" b="0">
                <a:solidFill>
                  <a:srgbClr val="536A73"/>
                </a:solidFill>
                <a:latin typeface="Helvetica Neue"/>
                <a:ea typeface="Helvetica Neue"/>
                <a:cs typeface="Helvetica Neue"/>
              </a:defRPr>
            </a:pPr>
            <a:r>
              <a:rPr sz="1350" b="0">
                <a:solidFill>
                  <a:srgbClr val="536A73"/>
                </a:solidFill>
                <a:latin typeface="Helvetica Neue"/>
                <a:ea typeface="Helvetica Neue"/>
                <a:cs typeface="Helvetica Neue"/>
              </a:rPr>
              <a:t>15</a:t>
            </a:r>
          </a:p>
        </p:txBody>
      </p:sp>
      <p:sp>
        <p:nvSpPr>
          <p:cNvPr id="3" name="Recorded verification">
            <a:extLst xmlns:a="http://schemas.openxmlformats.org/drawingml/2006/main">
              <a:ext uri="{FF2B5EF4-FFF2-40B4-BE49-F238E27FC236}">
                <a16:creationId xmlns:a16="http://schemas.microsoft.com/office/drawing/2014/main" id="{9B24CEC8-653F-447F-9D8E-26524221CA9E}"/>
              </a:ext>
            </a:extLst>
          </p:cNvPr>
          <p:cNvSpPr>
            <a:spLocks xmlns:a="http://schemas.openxmlformats.org/drawingml/2006/main" noGrp="1"/>
          </p:cNvSpPr>
          <p:nvPr/>
        </p:nvSpPr>
        <p:spPr>
          <a:xfrm xmlns:a="http://schemas.openxmlformats.org/drawingml/2006/main">
            <a:off x="571500" y="157162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36A73"/>
                </a:solidFill>
                <a:latin typeface="Helvetica Neue"/>
                <a:ea typeface="Helvetica Neue"/>
                <a:cs typeface="Helvetica Neue"/>
              </a:defRPr>
            </a:defPPr>
          </a:lstStyle>
          <a:p xmlns:a="http://schemas.openxmlformats.org/drawingml/2006/main">
            <a:pPr algn="l">
              <a:defRPr sz="1800" b="0">
                <a:solidFill>
                  <a:srgbClr val="536A73"/>
                </a:solidFill>
                <a:latin typeface="Helvetica Neue"/>
                <a:ea typeface="Helvetica Neue"/>
                <a:cs typeface="Helvetica Neue"/>
              </a:defRPr>
            </a:pPr>
            <a:r>
              <a:rPr sz="1800" b="0">
                <a:solidFill>
                  <a:srgbClr val="536A73"/>
                </a:solidFill>
                <a:latin typeface="Helvetica Neue"/>
                <a:ea typeface="Helvetica Neue"/>
                <a:cs typeface="Helvetica Neue"/>
              </a:rPr>
              <a:t>Recorded verification</a:t>
            </a:r>
          </a:p>
        </p:txBody>
      </p:sp>
      <p:sp>
        <p:nvSpPr>
          <p:cNvPr id="4" name="657 unit tests   3 integration tests">
            <a:extLst xmlns:a="http://schemas.openxmlformats.org/drawingml/2006/main">
              <a:ext uri="{FF2B5EF4-FFF2-40B4-BE49-F238E27FC236}">
                <a16:creationId xmlns:a16="http://schemas.microsoft.com/office/drawing/2014/main" id="{6E98F3A9-BF92-4A86-A203-AC35E01D8C8E}"/>
              </a:ext>
            </a:extLst>
          </p:cNvPr>
          <p:cNvSpPr>
            <a:spLocks xmlns:a="http://schemas.openxmlformats.org/drawingml/2006/main" noGrp="1"/>
          </p:cNvSpPr>
          <p:nvPr/>
        </p:nvSpPr>
        <p:spPr>
          <a:xfrm xmlns:a="http://schemas.openxmlformats.org/drawingml/2006/main">
            <a:off x="571500" y="19050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900" b="1">
                <a:solidFill>
                  <a:srgbClr val="087D82"/>
                </a:solidFill>
                <a:latin typeface="Helvetica Neue"/>
                <a:ea typeface="Helvetica Neue"/>
                <a:cs typeface="Helvetica Neue"/>
              </a:defRPr>
            </a:defPPr>
          </a:lstStyle>
          <a:p xmlns:a="http://schemas.openxmlformats.org/drawingml/2006/main">
            <a:pPr algn="l">
              <a:defRPr sz="3900" b="1">
                <a:solidFill>
                  <a:srgbClr val="087D82"/>
                </a:solidFill>
                <a:latin typeface="Helvetica Neue"/>
                <a:ea typeface="Helvetica Neue"/>
                <a:cs typeface="Helvetica Neue"/>
              </a:defRPr>
            </a:pPr>
            <a:r>
              <a:rPr sz="3900" b="1">
                <a:solidFill>
                  <a:srgbClr val="087D82"/>
                </a:solidFill>
                <a:latin typeface="Helvetica Neue"/>
                <a:ea typeface="Helvetica Neue"/>
                <a:cs typeface="Helvetica Neue"/>
              </a:rPr>
              <a:t>657 unit tests   3 integration tests</a:t>
            </a:r>
          </a:p>
        </p:txBody>
      </p:sp>
      <p:sp>
        <p:nvSpPr>
          <p:cNvPr id="5" name="Offline fixtures&#10;Cache-only replay&#10;Clean-run scr">
            <a:extLst xmlns:a="http://schemas.openxmlformats.org/drawingml/2006/main">
              <a:ext uri="{FF2B5EF4-FFF2-40B4-BE49-F238E27FC236}">
                <a16:creationId xmlns:a16="http://schemas.microsoft.com/office/drawing/2014/main" id="{26A363DA-297A-4573-8665-4C084AF1B5C2}"/>
              </a:ext>
            </a:extLst>
          </p:cNvPr>
          <p:cNvSpPr>
            <a:spLocks xmlns:a="http://schemas.openxmlformats.org/drawingml/2006/main" noGrp="1"/>
          </p:cNvSpPr>
          <p:nvPr/>
        </p:nvSpPr>
        <p:spPr>
          <a:xfrm xmlns:a="http://schemas.openxmlformats.org/drawingml/2006/main">
            <a:off x="571500" y="3095625"/>
            <a:ext cx="52387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0">
                <a:solidFill>
                  <a:srgbClr val="17313D"/>
                </a:solidFill>
                <a:latin typeface="Helvetica Neue"/>
                <a:ea typeface="Helvetica Neue"/>
                <a:cs typeface="Helvetica Neue"/>
              </a:defRPr>
            </a:defPPr>
          </a:lstStyle>
          <a:p xmlns:a="http://schemas.openxmlformats.org/drawingml/2006/main">
            <a:pPr algn="l">
              <a:defRPr sz="2625" b="0">
                <a:solidFill>
                  <a:srgbClr val="17313D"/>
                </a:solidFill>
                <a:latin typeface="Helvetica Neue"/>
                <a:ea typeface="Helvetica Neue"/>
                <a:cs typeface="Helvetica Neue"/>
              </a:defRPr>
            </a:pPr>
            <a:r>
              <a:rPr sz="2625" b="0">
                <a:solidFill>
                  <a:srgbClr val="17313D"/>
                </a:solidFill>
                <a:latin typeface="Helvetica Neue"/>
                <a:ea typeface="Helvetica Neue"/>
                <a:cs typeface="Helvetica Neue"/>
              </a:rPr>
              <a:t>Offline fixtures</a:t>
            </a:r>
          </a:p>
          <a:p xmlns:a="http://schemas.openxmlformats.org/drawingml/2006/main">
            <a:pPr algn="l">
              <a:defRPr sz="2625" b="0">
                <a:solidFill>
                  <a:srgbClr val="17313D"/>
                </a:solidFill>
                <a:latin typeface="Helvetica Neue"/>
                <a:ea typeface="Helvetica Neue"/>
                <a:cs typeface="Helvetica Neue"/>
              </a:defRPr>
            </a:pPr>
            <a:r>
              <a:rPr sz="2625" b="0">
                <a:solidFill>
                  <a:srgbClr val="17313D"/>
                </a:solidFill>
                <a:latin typeface="Helvetica Neue"/>
                <a:ea typeface="Helvetica Neue"/>
                <a:cs typeface="Helvetica Neue"/>
              </a:rPr>
              <a:t>Cache-only replay</a:t>
            </a:r>
          </a:p>
          <a:p xmlns:a="http://schemas.openxmlformats.org/drawingml/2006/main">
            <a:pPr algn="l">
              <a:defRPr sz="2625" b="0">
                <a:solidFill>
                  <a:srgbClr val="17313D"/>
                </a:solidFill>
                <a:latin typeface="Helvetica Neue"/>
                <a:ea typeface="Helvetica Neue"/>
                <a:cs typeface="Helvetica Neue"/>
              </a:defRPr>
            </a:pPr>
            <a:r>
              <a:rPr sz="2625" b="0">
                <a:solidFill>
                  <a:srgbClr val="17313D"/>
                </a:solidFill>
                <a:latin typeface="Helvetica Neue"/>
                <a:ea typeface="Helvetica Neue"/>
                <a:cs typeface="Helvetica Neue"/>
              </a:rPr>
              <a:t>Clean-run script</a:t>
            </a:r>
          </a:p>
        </p:txBody>
      </p:sp>
      <p:sp>
        <p:nvSpPr>
          <p:cNvPr id="6" name="Runtime model resolution&#10;Validated JSON&#10;Determin">
            <a:extLst xmlns:a="http://schemas.openxmlformats.org/drawingml/2006/main">
              <a:ext uri="{FF2B5EF4-FFF2-40B4-BE49-F238E27FC236}">
                <a16:creationId xmlns:a16="http://schemas.microsoft.com/office/drawing/2014/main" id="{7B58796A-849E-49CC-B432-17B4FA8E2D79}"/>
              </a:ext>
            </a:extLst>
          </p:cNvPr>
          <p:cNvSpPr>
            <a:spLocks xmlns:a="http://schemas.openxmlformats.org/drawingml/2006/main" noGrp="1"/>
          </p:cNvSpPr>
          <p:nvPr/>
        </p:nvSpPr>
        <p:spPr>
          <a:xfrm xmlns:a="http://schemas.openxmlformats.org/drawingml/2006/main">
            <a:off x="6715125" y="3095625"/>
            <a:ext cx="48577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0">
                <a:solidFill>
                  <a:srgbClr val="17313D"/>
                </a:solidFill>
                <a:latin typeface="Helvetica Neue"/>
                <a:ea typeface="Helvetica Neue"/>
                <a:cs typeface="Helvetica Neue"/>
              </a:defRPr>
            </a:defPPr>
          </a:lstStyle>
          <a:p xmlns:a="http://schemas.openxmlformats.org/drawingml/2006/main">
            <a:pPr algn="l">
              <a:defRPr sz="2625" b="0">
                <a:solidFill>
                  <a:srgbClr val="17313D"/>
                </a:solidFill>
                <a:latin typeface="Helvetica Neue"/>
                <a:ea typeface="Helvetica Neue"/>
                <a:cs typeface="Helvetica Neue"/>
              </a:defRPr>
            </a:pPr>
            <a:r>
              <a:rPr sz="2625" b="0">
                <a:solidFill>
                  <a:srgbClr val="17313D"/>
                </a:solidFill>
                <a:latin typeface="Helvetica Neue"/>
                <a:ea typeface="Helvetica Neue"/>
                <a:cs typeface="Helvetica Neue"/>
              </a:rPr>
              <a:t>Runtime model resolution</a:t>
            </a:r>
          </a:p>
          <a:p xmlns:a="http://schemas.openxmlformats.org/drawingml/2006/main">
            <a:pPr algn="l">
              <a:defRPr sz="2625" b="0">
                <a:solidFill>
                  <a:srgbClr val="17313D"/>
                </a:solidFill>
                <a:latin typeface="Helvetica Neue"/>
                <a:ea typeface="Helvetica Neue"/>
                <a:cs typeface="Helvetica Neue"/>
              </a:defRPr>
            </a:pPr>
            <a:r>
              <a:rPr sz="2625" b="0">
                <a:solidFill>
                  <a:srgbClr val="17313D"/>
                </a:solidFill>
                <a:latin typeface="Helvetica Neue"/>
                <a:ea typeface="Helvetica Neue"/>
                <a:cs typeface="Helvetica Neue"/>
              </a:rPr>
              <a:t>Validated JSON</a:t>
            </a:r>
          </a:p>
          <a:p xmlns:a="http://schemas.openxmlformats.org/drawingml/2006/main">
            <a:pPr algn="l">
              <a:defRPr sz="2625" b="0">
                <a:solidFill>
                  <a:srgbClr val="17313D"/>
                </a:solidFill>
                <a:latin typeface="Helvetica Neue"/>
                <a:ea typeface="Helvetica Neue"/>
                <a:cs typeface="Helvetica Neue"/>
              </a:defRPr>
            </a:pPr>
            <a:r>
              <a:rPr sz="2625" b="0">
                <a:solidFill>
                  <a:srgbClr val="17313D"/>
                </a:solidFill>
                <a:latin typeface="Helvetica Neue"/>
                <a:ea typeface="Helvetica Neue"/>
                <a:cs typeface="Helvetica Neue"/>
              </a:rPr>
              <a:t>Deterministic fallbacks</a:t>
            </a:r>
          </a:p>
        </p:txBody>
      </p:sp>
    </p:spTree>
    <p:extLst>
      <p:ext uri="{BB962C8B-B14F-4D97-AF65-F5344CB8AC3E}">
        <p14:creationId xmlns:p14="http://schemas.microsoft.com/office/powerpoint/2010/main" val="1785799304"/>
      </p:ext>
    </p:extLst>
  </p:cSld>
</p:sld>
</file>

<file path=ppt/slides/slide16.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D51888D-1A20-4781-A6BE-793DB1FC4449}"/>
              </a:ext>
            </a:extLst>
          </p:cNvPr>
          <p:cNvSpPr>
            <a:spLocks xmlns:a="http://schemas.openxmlformats.org/drawingml/2006/main" noGrp="1"/>
          </p:cNvSpPr>
          <p:nvPr/>
        </p:nvSpPr>
        <p:spPr>
          <a:xfrm xmlns:a="http://schemas.openxmlformats.org/drawingml/2006/main">
            <a:off x="571500" y="4572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313D"/>
                </a:solidFill>
                <a:latin typeface="Helvetica Neue"/>
                <a:ea typeface="Helvetica Neue"/>
                <a:cs typeface="Helvetica Neue"/>
              </a:defRPr>
            </a:defPPr>
          </a:lstStyle>
          <a:p xmlns:a="http://schemas.openxmlformats.org/drawingml/2006/main">
            <a:pPr algn="l">
              <a:defRPr sz="3300" b="1">
                <a:solidFill>
                  <a:srgbClr val="17313D"/>
                </a:solidFill>
                <a:latin typeface="Helvetica Neue"/>
                <a:ea typeface="Helvetica Neue"/>
                <a:cs typeface="Helvetica Neue"/>
              </a:defRPr>
            </a:pPr>
            <a:r>
              <a:rPr sz="3300" b="1">
                <a:solidFill>
                  <a:srgbClr val="17313D"/>
                </a:solidFill>
                <a:latin typeface="Helvetica Neue"/>
                <a:ea typeface="Helvetica Neue"/>
                <a:cs typeface="Helvetica Neue"/>
              </a:rPr>
              <a:t>Limitations and next steps</a:t>
            </a:r>
          </a:p>
        </p:txBody>
      </p:sp>
      <p:sp>
        <p:nvSpPr>
          <p:cNvPr id="2" name="page-number">
            <a:extLst xmlns:a="http://schemas.openxmlformats.org/drawingml/2006/main">
              <a:ext uri="{FF2B5EF4-FFF2-40B4-BE49-F238E27FC236}">
                <a16:creationId xmlns:a16="http://schemas.microsoft.com/office/drawing/2014/main" id="{69645355-C6CD-4C44-B2C0-49067BD66DE6}"/>
              </a:ext>
            </a:extLst>
          </p:cNvPr>
          <p:cNvSpPr>
            <a:spLocks xmlns:a="http://schemas.openxmlformats.org/drawingml/2006/main" noGrp="1"/>
          </p:cNvSpPr>
          <p:nvPr/>
        </p:nvSpPr>
        <p:spPr>
          <a:xfrm xmlns:a="http://schemas.openxmlformats.org/drawingml/2006/main">
            <a:off x="11049000" y="61341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36A73"/>
                </a:solidFill>
                <a:latin typeface="Helvetica Neue"/>
                <a:ea typeface="Helvetica Neue"/>
                <a:cs typeface="Helvetica Neue"/>
              </a:defRPr>
            </a:defPPr>
          </a:lstStyle>
          <a:p xmlns:a="http://schemas.openxmlformats.org/drawingml/2006/main">
            <a:pPr algn="r">
              <a:defRPr sz="1350" b="0">
                <a:solidFill>
                  <a:srgbClr val="536A73"/>
                </a:solidFill>
                <a:latin typeface="Helvetica Neue"/>
                <a:ea typeface="Helvetica Neue"/>
                <a:cs typeface="Helvetica Neue"/>
              </a:defRPr>
            </a:pPr>
            <a:r>
              <a:rPr sz="1350" b="0">
                <a:solidFill>
                  <a:srgbClr val="536A73"/>
                </a:solidFill>
                <a:latin typeface="Helvetica Neue"/>
                <a:ea typeface="Helvetica Neue"/>
                <a:cs typeface="Helvetica Neue"/>
              </a:rPr>
              <a:t>16</a:t>
            </a:r>
          </a:p>
        </p:txBody>
      </p:sp>
      <p:sp>
        <p:nvSpPr>
          <p:cNvPr id="3" name="Limitations">
            <a:extLst xmlns:a="http://schemas.openxmlformats.org/drawingml/2006/main">
              <a:ext uri="{FF2B5EF4-FFF2-40B4-BE49-F238E27FC236}">
                <a16:creationId xmlns:a16="http://schemas.microsoft.com/office/drawing/2014/main" id="{6E966732-5527-4F64-820B-5CEE369CD5FE}"/>
              </a:ext>
            </a:extLst>
          </p:cNvPr>
          <p:cNvSpPr>
            <a:spLocks xmlns:a="http://schemas.openxmlformats.org/drawingml/2006/main" noGrp="1"/>
          </p:cNvSpPr>
          <p:nvPr/>
        </p:nvSpPr>
        <p:spPr>
          <a:xfrm xmlns:a="http://schemas.openxmlformats.org/drawingml/2006/main">
            <a:off x="571500" y="17621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1">
                <a:solidFill>
                  <a:srgbClr val="AF3347"/>
                </a:solidFill>
                <a:latin typeface="Helvetica Neue"/>
                <a:ea typeface="Helvetica Neue"/>
                <a:cs typeface="Helvetica Neue"/>
              </a:defRPr>
            </a:defPPr>
          </a:lstStyle>
          <a:p xmlns:a="http://schemas.openxmlformats.org/drawingml/2006/main">
            <a:pPr algn="l">
              <a:defRPr sz="2550" b="1">
                <a:solidFill>
                  <a:srgbClr val="AF3347"/>
                </a:solidFill>
                <a:latin typeface="Helvetica Neue"/>
                <a:ea typeface="Helvetica Neue"/>
                <a:cs typeface="Helvetica Neue"/>
              </a:defRPr>
            </a:pPr>
            <a:r>
              <a:rPr sz="2550" b="1">
                <a:solidFill>
                  <a:srgbClr val="AF3347"/>
                </a:solidFill>
                <a:latin typeface="Helvetica Neue"/>
                <a:ea typeface="Helvetica Neue"/>
                <a:cs typeface="Helvetica Neue"/>
              </a:rPr>
              <a:t>Limitations</a:t>
            </a:r>
          </a:p>
        </p:txBody>
      </p:sp>
      <p:sp>
        <p:nvSpPr>
          <p:cNvPr id="4" name="Sparse samples&#10;Intermittent queue metrics&#10;CPU re">
            <a:extLst xmlns:a="http://schemas.openxmlformats.org/drawingml/2006/main">
              <a:ext uri="{FF2B5EF4-FFF2-40B4-BE49-F238E27FC236}">
                <a16:creationId xmlns:a16="http://schemas.microsoft.com/office/drawing/2014/main" id="{A66DE032-6CFE-42A1-8300-5A74E2DDCA13}"/>
              </a:ext>
            </a:extLst>
          </p:cNvPr>
          <p:cNvSpPr>
            <a:spLocks xmlns:a="http://schemas.openxmlformats.org/drawingml/2006/main" noGrp="1"/>
          </p:cNvSpPr>
          <p:nvPr/>
        </p:nvSpPr>
        <p:spPr>
          <a:xfrm xmlns:a="http://schemas.openxmlformats.org/drawingml/2006/main">
            <a:off x="571500" y="2809875"/>
            <a:ext cx="52387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0">
                <a:solidFill>
                  <a:srgbClr val="17313D"/>
                </a:solidFill>
                <a:latin typeface="Helvetica Neue"/>
                <a:ea typeface="Helvetica Neue"/>
                <a:cs typeface="Helvetica Neue"/>
              </a:defRPr>
            </a:defPPr>
          </a:lstStyle>
          <a:p xmlns:a="http://schemas.openxmlformats.org/drawingml/2006/main">
            <a:pPr algn="l">
              <a:defRPr sz="2400" b="0">
                <a:solidFill>
                  <a:srgbClr val="17313D"/>
                </a:solidFill>
                <a:latin typeface="Helvetica Neue"/>
                <a:ea typeface="Helvetica Neue"/>
                <a:cs typeface="Helvetica Neue"/>
              </a:defRPr>
            </a:pPr>
            <a:r>
              <a:rPr sz="2400" b="0">
                <a:solidFill>
                  <a:srgbClr val="17313D"/>
                </a:solidFill>
                <a:latin typeface="Helvetica Neue"/>
                <a:ea typeface="Helvetica Neue"/>
                <a:cs typeface="Helvetica Neue"/>
              </a:rPr>
              <a:t>Sparse samples</a:t>
            </a:r>
          </a:p>
          <a:p xmlns:a="http://schemas.openxmlformats.org/drawingml/2006/main">
            <a:pPr algn="l">
              <a:defRPr sz="2400" b="0">
                <a:solidFill>
                  <a:srgbClr val="17313D"/>
                </a:solidFill>
                <a:latin typeface="Helvetica Neue"/>
                <a:ea typeface="Helvetica Neue"/>
                <a:cs typeface="Helvetica Neue"/>
              </a:defRPr>
            </a:pPr>
            <a:r>
              <a:rPr sz="2400" b="0">
                <a:solidFill>
                  <a:srgbClr val="17313D"/>
                </a:solidFill>
                <a:latin typeface="Helvetica Neue"/>
                <a:ea typeface="Helvetica Neue"/>
                <a:cs typeface="Helvetica Neue"/>
              </a:rPr>
              <a:t>Intermittent queue metrics</a:t>
            </a:r>
          </a:p>
          <a:p xmlns:a="http://schemas.openxmlformats.org/drawingml/2006/main">
            <a:pPr algn="l">
              <a:defRPr sz="2400" b="0">
                <a:solidFill>
                  <a:srgbClr val="17313D"/>
                </a:solidFill>
                <a:latin typeface="Helvetica Neue"/>
                <a:ea typeface="Helvetica Neue"/>
                <a:cs typeface="Helvetica Neue"/>
              </a:defRPr>
            </a:pPr>
            <a:r>
              <a:rPr sz="2400" b="0">
                <a:solidFill>
                  <a:srgbClr val="17313D"/>
                </a:solidFill>
                <a:latin typeface="Helvetica Neue"/>
                <a:ea typeface="Helvetica Neue"/>
                <a:cs typeface="Helvetica Neue"/>
              </a:rPr>
              <a:t>CPU restoration constraints</a:t>
            </a:r>
          </a:p>
          <a:p xmlns:a="http://schemas.openxmlformats.org/drawingml/2006/main">
            <a:pPr algn="l">
              <a:defRPr sz="2400" b="0">
                <a:solidFill>
                  <a:srgbClr val="17313D"/>
                </a:solidFill>
                <a:latin typeface="Helvetica Neue"/>
                <a:ea typeface="Helvetica Neue"/>
                <a:cs typeface="Helvetica Neue"/>
              </a:defRPr>
            </a:pPr>
            <a:r>
              <a:rPr sz="2400" b="0">
                <a:solidFill>
                  <a:srgbClr val="17313D"/>
                </a:solidFill>
                <a:latin typeface="Helvetica Neue"/>
                <a:ea typeface="Helvetica Neue"/>
                <a:cs typeface="Helvetica Neue"/>
              </a:rPr>
              <a:t>Local Compose scope</a:t>
            </a:r>
          </a:p>
        </p:txBody>
      </p:sp>
      <p:sp>
        <p:nvSpPr>
          <p:cNvPr id="5" name="Next steps">
            <a:extLst xmlns:a="http://schemas.openxmlformats.org/drawingml/2006/main">
              <a:ext uri="{FF2B5EF4-FFF2-40B4-BE49-F238E27FC236}">
                <a16:creationId xmlns:a16="http://schemas.microsoft.com/office/drawing/2014/main" id="{C0D8FFBD-0073-433B-8FAF-1AB4CFAA6F71}"/>
              </a:ext>
            </a:extLst>
          </p:cNvPr>
          <p:cNvSpPr>
            <a:spLocks xmlns:a="http://schemas.openxmlformats.org/drawingml/2006/main" noGrp="1"/>
          </p:cNvSpPr>
          <p:nvPr/>
        </p:nvSpPr>
        <p:spPr>
          <a:xfrm xmlns:a="http://schemas.openxmlformats.org/drawingml/2006/main">
            <a:off x="6715125" y="176212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1">
                <a:solidFill>
                  <a:srgbClr val="087D82"/>
                </a:solidFill>
                <a:latin typeface="Helvetica Neue"/>
                <a:ea typeface="Helvetica Neue"/>
                <a:cs typeface="Helvetica Neue"/>
              </a:defRPr>
            </a:defPPr>
          </a:lstStyle>
          <a:p xmlns:a="http://schemas.openxmlformats.org/drawingml/2006/main">
            <a:pPr algn="l">
              <a:defRPr sz="2550" b="1">
                <a:solidFill>
                  <a:srgbClr val="087D82"/>
                </a:solidFill>
                <a:latin typeface="Helvetica Neue"/>
                <a:ea typeface="Helvetica Neue"/>
                <a:cs typeface="Helvetica Neue"/>
              </a:defRPr>
            </a:pPr>
            <a:r>
              <a:rPr sz="2550" b="1">
                <a:solidFill>
                  <a:srgbClr val="087D82"/>
                </a:solidFill>
                <a:latin typeface="Helvetica Neue"/>
                <a:ea typeface="Helvetica Neue"/>
                <a:cs typeface="Helvetica Neue"/>
              </a:rPr>
              <a:t>Next steps</a:t>
            </a:r>
          </a:p>
        </p:txBody>
      </p:sp>
      <p:sp>
        <p:nvSpPr>
          <p:cNvPr id="6" name="Validate proposed fixes&#10;Expand measured coverage">
            <a:extLst xmlns:a="http://schemas.openxmlformats.org/drawingml/2006/main">
              <a:ext uri="{FF2B5EF4-FFF2-40B4-BE49-F238E27FC236}">
                <a16:creationId xmlns:a16="http://schemas.microsoft.com/office/drawing/2014/main" id="{B4879DAD-F309-44A6-9DAC-E2DBC15C5B50}"/>
              </a:ext>
            </a:extLst>
          </p:cNvPr>
          <p:cNvSpPr>
            <a:spLocks xmlns:a="http://schemas.openxmlformats.org/drawingml/2006/main" noGrp="1"/>
          </p:cNvSpPr>
          <p:nvPr/>
        </p:nvSpPr>
        <p:spPr>
          <a:xfrm xmlns:a="http://schemas.openxmlformats.org/drawingml/2006/main">
            <a:off x="6715125" y="2809875"/>
            <a:ext cx="48577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0">
                <a:solidFill>
                  <a:srgbClr val="17313D"/>
                </a:solidFill>
                <a:latin typeface="Helvetica Neue"/>
                <a:ea typeface="Helvetica Neue"/>
                <a:cs typeface="Helvetica Neue"/>
              </a:defRPr>
            </a:defPPr>
          </a:lstStyle>
          <a:p xmlns:a="http://schemas.openxmlformats.org/drawingml/2006/main">
            <a:pPr algn="l">
              <a:defRPr sz="2400" b="0">
                <a:solidFill>
                  <a:srgbClr val="17313D"/>
                </a:solidFill>
                <a:latin typeface="Helvetica Neue"/>
                <a:ea typeface="Helvetica Neue"/>
                <a:cs typeface="Helvetica Neue"/>
              </a:defRPr>
            </a:pPr>
            <a:r>
              <a:rPr sz="2400" b="0">
                <a:solidFill>
                  <a:srgbClr val="17313D"/>
                </a:solidFill>
                <a:latin typeface="Helvetica Neue"/>
                <a:ea typeface="Helvetica Neue"/>
                <a:cs typeface="Helvetica Neue"/>
              </a:rPr>
              <a:t>Validate proposed fixes</a:t>
            </a:r>
          </a:p>
          <a:p xmlns:a="http://schemas.openxmlformats.org/drawingml/2006/main">
            <a:pPr algn="l">
              <a:defRPr sz="2400" b="0">
                <a:solidFill>
                  <a:srgbClr val="17313D"/>
                </a:solidFill>
                <a:latin typeface="Helvetica Neue"/>
                <a:ea typeface="Helvetica Neue"/>
                <a:cs typeface="Helvetica Neue"/>
              </a:defRPr>
            </a:pPr>
            <a:r>
              <a:rPr sz="2400" b="0">
                <a:solidFill>
                  <a:srgbClr val="17313D"/>
                </a:solidFill>
                <a:latin typeface="Helvetica Neue"/>
                <a:ea typeface="Helvetica Neue"/>
                <a:cs typeface="Helvetica Neue"/>
              </a:rPr>
              <a:t>Expand measured coverage</a:t>
            </a:r>
          </a:p>
          <a:p xmlns:a="http://schemas.openxmlformats.org/drawingml/2006/main">
            <a:pPr algn="l">
              <a:defRPr sz="2400" b="0">
                <a:solidFill>
                  <a:srgbClr val="17313D"/>
                </a:solidFill>
                <a:latin typeface="Helvetica Neue"/>
                <a:ea typeface="Helvetica Neue"/>
                <a:cs typeface="Helvetica Neue"/>
              </a:defRPr>
            </a:pPr>
            <a:r>
              <a:rPr sz="2400" b="0">
                <a:solidFill>
                  <a:srgbClr val="17313D"/>
                </a:solidFill>
                <a:latin typeface="Helvetica Neue"/>
                <a:ea typeface="Helvetica Neue"/>
                <a:cs typeface="Helvetica Neue"/>
              </a:rPr>
              <a:t>Consider netem and replanning</a:t>
            </a:r>
          </a:p>
        </p:txBody>
      </p:sp>
    </p:spTree>
    <p:extLst>
      <p:ext uri="{BB962C8B-B14F-4D97-AF65-F5344CB8AC3E}">
        <p14:creationId xmlns:p14="http://schemas.microsoft.com/office/powerpoint/2010/main" val="575306373"/>
      </p:ext>
    </p:extLst>
  </p:cSld>
</p:sld>
</file>

<file path=ppt/slides/slide17.xml><?xml version="1.0" encoding="utf-8"?>
<p:sld xmlns:p="http://schemas.openxmlformats.org/presentationml/2006/main">
  <p:cSld>
    <p:bg>
      <p:bgPr>
        <a:solidFill xmlns:a="http://schemas.openxmlformats.org/drawingml/2006/main">
          <a:srgbClr val="102A35"/>
        </a:solidFill>
      </p:bgPr>
    </p:bg>
    <p:spTree>
      <p:nvGrpSpPr>
        <p:cNvPr id="1" name=""/>
        <p:cNvGrpSpPr/>
        <p:nvPr/>
      </p:nvGrpSpPr>
      <p:grpSpPr>
        <a:xfrm xmlns:a="http://schemas.openxmlformats.org/drawingml/2006/main"/>
      </p:grpSpPr>
      <p:sp>
        <p:nvSpPr>
          <p:cNvPr id="5" name="page-number">
            <a:extLst xmlns:a="http://schemas.openxmlformats.org/drawingml/2006/main">
              <a:ext uri="{FF2B5EF4-FFF2-40B4-BE49-F238E27FC236}">
                <a16:creationId xmlns:a16="http://schemas.microsoft.com/office/drawing/2014/main" id="{1091DB0A-6CE1-4BD7-BA16-CAAB05381A7E}"/>
              </a:ext>
            </a:extLst>
          </p:cNvPr>
          <p:cNvSpPr>
            <a:spLocks xmlns:a="http://schemas.openxmlformats.org/drawingml/2006/main" noGrp="1"/>
          </p:cNvSpPr>
          <p:nvPr/>
        </p:nvSpPr>
        <p:spPr>
          <a:xfrm xmlns:a="http://schemas.openxmlformats.org/drawingml/2006/main">
            <a:off x="11049000" y="61341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C2D8DD"/>
                </a:solidFill>
                <a:latin typeface="Helvetica Neue"/>
                <a:ea typeface="Helvetica Neue"/>
                <a:cs typeface="Helvetica Neue"/>
              </a:defRPr>
            </a:defPPr>
          </a:lstStyle>
          <a:p xmlns:a="http://schemas.openxmlformats.org/drawingml/2006/main">
            <a:pPr algn="r">
              <a:defRPr sz="1350" b="0">
                <a:solidFill>
                  <a:srgbClr val="C2D8DD"/>
                </a:solidFill>
                <a:latin typeface="Helvetica Neue"/>
                <a:ea typeface="Helvetica Neue"/>
                <a:cs typeface="Helvetica Neue"/>
              </a:defRPr>
            </a:pPr>
            <a:r>
              <a:rPr sz="1350" b="0">
                <a:solidFill>
                  <a:srgbClr val="C2D8DD"/>
                </a:solidFill>
                <a:latin typeface="Helvetica Neue"/>
                <a:ea typeface="Helvetica Neue"/>
                <a:cs typeface="Helvetica Neue"/>
              </a:rPr>
              <a:t>17</a:t>
            </a:r>
          </a:p>
        </p:txBody>
      </p:sp>
      <p:sp>
        <p:nvSpPr>
          <p:cNvPr id="2" name="Thank you">
            <a:extLst xmlns:a="http://schemas.openxmlformats.org/drawingml/2006/main">
              <a:ext uri="{FF2B5EF4-FFF2-40B4-BE49-F238E27FC236}">
                <a16:creationId xmlns:a16="http://schemas.microsoft.com/office/drawing/2014/main" id="{0A10D4F0-8266-446A-B4D3-CE3F23B426A9}"/>
              </a:ext>
            </a:extLst>
          </p:cNvPr>
          <p:cNvSpPr>
            <a:spLocks xmlns:a="http://schemas.openxmlformats.org/drawingml/2006/main" noGrp="1"/>
          </p:cNvSpPr>
          <p:nvPr/>
        </p:nvSpPr>
        <p:spPr>
          <a:xfrm xmlns:a="http://schemas.openxmlformats.org/drawingml/2006/main">
            <a:off x="571500" y="1952625"/>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6150" b="1">
                <a:solidFill>
                  <a:srgbClr val="FFFFFF"/>
                </a:solidFill>
                <a:latin typeface="Helvetica Neue"/>
                <a:ea typeface="Helvetica Neue"/>
                <a:cs typeface="Helvetica Neue"/>
              </a:defRPr>
            </a:defPPr>
          </a:lstStyle>
          <a:p xmlns:a="http://schemas.openxmlformats.org/drawingml/2006/main">
            <a:pPr algn="l">
              <a:defRPr sz="6150" b="1">
                <a:solidFill>
                  <a:srgbClr val="FFFFFF"/>
                </a:solidFill>
                <a:latin typeface="Helvetica Neue"/>
                <a:ea typeface="Helvetica Neue"/>
                <a:cs typeface="Helvetica Neue"/>
              </a:defRPr>
            </a:pPr>
            <a:r>
              <a:rPr sz="6150" b="1">
                <a:solidFill>
                  <a:srgbClr val="FFFFFF"/>
                </a:solidFill>
                <a:latin typeface="Helvetica Neue"/>
                <a:ea typeface="Helvetica Neue"/>
                <a:cs typeface="Helvetica Neue"/>
              </a:rPr>
              <a:t>Thank you</a:t>
            </a:r>
          </a:p>
        </p:txBody>
      </p:sp>
      <p:sp>
        <p:nvSpPr>
          <p:cNvPr id="3" name="Harsh">
            <a:extLst xmlns:a="http://schemas.openxmlformats.org/drawingml/2006/main">
              <a:ext uri="{FF2B5EF4-FFF2-40B4-BE49-F238E27FC236}">
                <a16:creationId xmlns:a16="http://schemas.microsoft.com/office/drawing/2014/main" id="{1D871BA5-B1FF-48C4-9AE1-3310BA0DA11F}"/>
              </a:ext>
            </a:extLst>
          </p:cNvPr>
          <p:cNvSpPr>
            <a:spLocks xmlns:a="http://schemas.openxmlformats.org/drawingml/2006/main" noGrp="1"/>
          </p:cNvSpPr>
          <p:nvPr/>
        </p:nvSpPr>
        <p:spPr>
          <a:xfrm xmlns:a="http://schemas.openxmlformats.org/drawingml/2006/main">
            <a:off x="609600" y="34766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0">
                <a:solidFill>
                  <a:srgbClr val="C8E5E5"/>
                </a:solidFill>
                <a:latin typeface="Helvetica Neue"/>
                <a:ea typeface="Helvetica Neue"/>
                <a:cs typeface="Helvetica Neue"/>
              </a:defRPr>
            </a:defPPr>
          </a:lstStyle>
          <a:p xmlns:a="http://schemas.openxmlformats.org/drawingml/2006/main">
            <a:pPr algn="l">
              <a:defRPr sz="2625" b="0">
                <a:solidFill>
                  <a:srgbClr val="C8E5E5"/>
                </a:solidFill>
                <a:latin typeface="Helvetica Neue"/>
                <a:ea typeface="Helvetica Neue"/>
                <a:cs typeface="Helvetica Neue"/>
              </a:defRPr>
            </a:pPr>
            <a:r>
              <a:rPr sz="2625" b="0">
                <a:solidFill>
                  <a:srgbClr val="C8E5E5"/>
                </a:solidFill>
                <a:latin typeface="Helvetica Neue"/>
                <a:ea typeface="Helvetica Neue"/>
                <a:cs typeface="Helvetica Neue"/>
              </a:rPr>
              <a:t>Harsh</a:t>
            </a:r>
          </a:p>
        </p:txBody>
      </p:sp>
      <p:sp>
        <p:nvSpPr>
          <p:cNvPr id="4" name="https://github.com/harshgmrn04-byte/chaos-ai">
            <a:extLst xmlns:a="http://schemas.openxmlformats.org/drawingml/2006/main">
              <a:ext uri="{FF2B5EF4-FFF2-40B4-BE49-F238E27FC236}">
                <a16:creationId xmlns:a16="http://schemas.microsoft.com/office/drawing/2014/main" id="{8ED24EF0-7C45-463E-BD11-6A0E0528233A}"/>
              </a:ext>
            </a:extLst>
          </p:cNvPr>
          <p:cNvSpPr>
            <a:spLocks xmlns:a="http://schemas.openxmlformats.org/drawingml/2006/main" noGrp="1"/>
          </p:cNvSpPr>
          <p:nvPr/>
        </p:nvSpPr>
        <p:spPr>
          <a:xfrm xmlns:a="http://schemas.openxmlformats.org/drawingml/2006/main">
            <a:off x="609600" y="47148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0">
                <a:solidFill>
                  <a:srgbClr val="FFFFFF"/>
                </a:solidFill>
                <a:latin typeface="Helvetica Neue"/>
                <a:ea typeface="Helvetica Neue"/>
                <a:cs typeface="Helvetica Neue"/>
              </a:defRPr>
            </a:defPPr>
          </a:lstStyle>
          <a:p xmlns:a="http://schemas.openxmlformats.org/drawingml/2006/main">
            <a:pPr algn="l">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hlinkClick xmlns:r="http://schemas.openxmlformats.org/officeDocument/2006/relationships" r:id="R4fdd49f3b162405f"/>
              </a:rPr>
              <a:t>https://github.com/harshgmrn04-byte/chaos-ai</a:t>
            </a:r>
          </a:p>
        </p:txBody>
      </p:sp>
    </p:spTree>
    <p:extLst>
      <p:ext uri="{BB962C8B-B14F-4D97-AF65-F5344CB8AC3E}">
        <p14:creationId xmlns:p14="http://schemas.microsoft.com/office/powerpoint/2010/main" val="10421608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2026-10-11T04:37:35.5690000Z</dcterms:created>
  <dcterms:modified xsi:type="dcterms:W3CDTF">2026-10-11T04:37:35.5690000Z</dcterms:modified>
</coreProperties>
</file>